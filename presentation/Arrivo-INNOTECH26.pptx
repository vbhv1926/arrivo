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cept &amp; originality" id="{93ea96af-1e41-53e4-1402-128611844478}">
          <p14:sldIdLst>
            <p14:sldId id="256"/>
            <p14:sldId id="257"/>
            <p14:sldId id="258"/>
            <p14:sldId id="259"/>
            <p14:sldId id="260"/>
          </p14:sldIdLst>
        </p14:section>
        <p14:section name="Working prototype" id="{81782cf4-b995-996a-4cab-3e729e696495}">
          <p14:sldIdLst>
            <p14:sldId id="261"/>
            <p14:sldId id="262"/>
            <p14:sldId id="263"/>
            <p14:sldId id="264"/>
            <p14:sldId id="265"/>
            <p14:sldId id="266"/>
            <p14:sldId id="267"/>
            <p14:sldId id="268"/>
          </p14:sldIdLst>
        </p14:section>
        <p14:section name="Impact" id="{50100962-408c-8652-ba82-793a6aa2558d}">
          <p14:sldIdLst>
            <p14:sldId id="269"/>
            <p14:sldId id="270"/>
          </p14:sldIdLst>
        </p14:section>
        <p14:section name="Team &amp; questions" id="{e9e76dec-c94f-d820-be2d-d6cc4c68081f}">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Arrivo. This is Arrivo: you book a parking bay before you leave, the way you pick a seat for a film. The card on the left is the KIET main lot, rows A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the problem. Studies of city traffic find about 30% of drivers in busy centres are just looking for parking (Shoup, 2006). INRIX measured 17 hours a year per driver. On our own campus there is no way to see a free bay before you drive in, so everyone circles.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root causes: drivers can't see free bays, they can't book one, the people running the lot have no data, and all of that turns into circling, which wastes time and fuel.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Originality. Everybody already understands seat maps from booking films. We asked: why not a seat map for parking bays? A cinema hall becomes a parking lot. That one idea is the whole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problem, side by side. Left is today, right is Arrivo. The last row matters: the person running the lot finally gets data. What's new: booking an exact bay, on a plan of the real lot, live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Point at step four: the hold is what makes it different from just showing free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made-up layout. We took the satellite photo, marked the five rows in yellow, measured 50 metres on its scale bar and placed every bay on those pixels. That's why the map on our site lines up with the real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read the lot. The lens: hold it and drag, and every bay under it lights up as free, booked, ending soon or reserved, with the bay's details in a card. The 3D view lifts the buildings. And there's a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right is one bay's day: grey hours are taken, yellow is the window you're picking, and a window that clashes with someone else can't be picked. Below is the pass you get, with the code you show at the gate. If two people try the same slot, the second one is refused, which we'll show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for the live demo. Vaibhav: tap a free bay, book it, get the pass. Kritika: pick up the lens and drag it, then switch to 3D. Prisha: try booking the same bay from a second (private) window to show it gets refused. If the server is off, start it with: cd backend, python server.py.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and build quality. The frontend is plain HTML, CSS and JavaScript, with React only for the live map and the booking panel. The backend is one Python file using only the standard library: no pip install, it just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booking, start to end. The phone sends the booking to our Python server. The server checks for a clash and saves it in SQLite in one locked step. Then it pushes the change to every open page over Server-Sent Events, so a friend's screen updates without refreshing.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engineering decisions. One: double booking is impossible, checked twice, in the code and in the database. Two: a bay's status is computed from time, so it's always right. Three: Server-Sent Events push changes to every screen. Four: no accounts, and other people's number plates are masked.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Three SDGs: 11, 13 and 9. The number at the bottom is an illustration, not a measurement: if 100 drivers a day each save five minutes of circling, that's 500 minutes of engines not idling, on just one lot. Step-free bays are also marked, so people who need them can book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to inspire change. The method works for any lot: trace it once and it's bookable. It can pay for itself with a small commission and operator plans. Next is UPI and QR check-in; later, sensors and demand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says one line about their part. This is where the judges see that everyone can explain a piece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and open for questions. If they ask for a demo, switch to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Q&amp;A round. Don't present it; jump here if a question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4F1"/>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121214"/>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9A9AA1"/>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C9C9C4"/>
            </a:solidFill>
            <a:prstDash val="solid"/>
          </a:ln>
        </p:spPr>
      </p:sp>
      <p:sp>
        <p:nvSpPr>
          <p:cNvPr id="6" name="Shape 3"/>
          <p:cNvSpPr/>
          <p:nvPr/>
        </p:nvSpPr>
        <p:spPr>
          <a:xfrm>
            <a:off x="762000" y="6565900"/>
            <a:ext cx="0" cy="76200"/>
          </a:xfrm>
          <a:prstGeom prst="line">
            <a:avLst/>
          </a:prstGeom>
          <a:noFill/>
          <a:ln w="9525">
            <a:solidFill>
              <a:srgbClr val="C9C9C4"/>
            </a:solidFill>
            <a:prstDash val="solid"/>
          </a:ln>
        </p:spPr>
      </p:sp>
      <p:sp>
        <p:nvSpPr>
          <p:cNvPr id="7" name="Shape 4"/>
          <p:cNvSpPr/>
          <p:nvPr/>
        </p:nvSpPr>
        <p:spPr>
          <a:xfrm>
            <a:off x="1524000" y="6565900"/>
            <a:ext cx="0" cy="76200"/>
          </a:xfrm>
          <a:prstGeom prst="line">
            <a:avLst/>
          </a:prstGeom>
          <a:noFill/>
          <a:ln w="9525">
            <a:solidFill>
              <a:srgbClr val="C9C9C4"/>
            </a:solidFill>
            <a:prstDash val="solid"/>
          </a:ln>
        </p:spPr>
      </p:sp>
      <p:sp>
        <p:nvSpPr>
          <p:cNvPr id="8" name="Shape 5"/>
          <p:cNvSpPr/>
          <p:nvPr/>
        </p:nvSpPr>
        <p:spPr>
          <a:xfrm>
            <a:off x="2286000" y="6565900"/>
            <a:ext cx="0" cy="76200"/>
          </a:xfrm>
          <a:prstGeom prst="line">
            <a:avLst/>
          </a:prstGeom>
          <a:noFill/>
          <a:ln w="9525">
            <a:solidFill>
              <a:srgbClr val="C9C9C4"/>
            </a:solidFill>
            <a:prstDash val="solid"/>
          </a:ln>
        </p:spPr>
      </p:sp>
      <p:sp>
        <p:nvSpPr>
          <p:cNvPr id="9" name="Shape 6"/>
          <p:cNvSpPr/>
          <p:nvPr/>
        </p:nvSpPr>
        <p:spPr>
          <a:xfrm>
            <a:off x="3048000" y="6565900"/>
            <a:ext cx="0" cy="76200"/>
          </a:xfrm>
          <a:prstGeom prst="line">
            <a:avLst/>
          </a:prstGeom>
          <a:noFill/>
          <a:ln w="9525">
            <a:solidFill>
              <a:srgbClr val="C9C9C4"/>
            </a:solidFill>
            <a:prstDash val="solid"/>
          </a:ln>
        </p:spPr>
      </p:sp>
      <p:sp>
        <p:nvSpPr>
          <p:cNvPr id="10" name="Shape 7"/>
          <p:cNvSpPr/>
          <p:nvPr/>
        </p:nvSpPr>
        <p:spPr>
          <a:xfrm>
            <a:off x="3810000" y="6565900"/>
            <a:ext cx="0" cy="76200"/>
          </a:xfrm>
          <a:prstGeom prst="line">
            <a:avLst/>
          </a:prstGeom>
          <a:noFill/>
          <a:ln w="9525">
            <a:solidFill>
              <a:srgbClr val="C9C9C4"/>
            </a:solidFill>
            <a:prstDash val="solid"/>
          </a:ln>
        </p:spPr>
      </p:sp>
      <p:sp>
        <p:nvSpPr>
          <p:cNvPr id="11" name="Shape 8"/>
          <p:cNvSpPr/>
          <p:nvPr/>
        </p:nvSpPr>
        <p:spPr>
          <a:xfrm>
            <a:off x="4572000" y="6565900"/>
            <a:ext cx="0" cy="76200"/>
          </a:xfrm>
          <a:prstGeom prst="line">
            <a:avLst/>
          </a:prstGeom>
          <a:noFill/>
          <a:ln w="9525">
            <a:solidFill>
              <a:srgbClr val="C9C9C4"/>
            </a:solidFill>
            <a:prstDash val="solid"/>
          </a:ln>
        </p:spPr>
      </p:sp>
      <p:sp>
        <p:nvSpPr>
          <p:cNvPr id="12" name="Shape 9"/>
          <p:cNvSpPr/>
          <p:nvPr/>
        </p:nvSpPr>
        <p:spPr>
          <a:xfrm>
            <a:off x="5334000" y="6565900"/>
            <a:ext cx="0" cy="76200"/>
          </a:xfrm>
          <a:prstGeom prst="line">
            <a:avLst/>
          </a:prstGeom>
          <a:noFill/>
          <a:ln w="9525">
            <a:solidFill>
              <a:srgbClr val="C9C9C4"/>
            </a:solidFill>
            <a:prstDash val="solid"/>
          </a:ln>
        </p:spPr>
      </p:sp>
      <p:sp>
        <p:nvSpPr>
          <p:cNvPr id="13" name="Shape 10"/>
          <p:cNvSpPr/>
          <p:nvPr/>
        </p:nvSpPr>
        <p:spPr>
          <a:xfrm>
            <a:off x="6096000" y="6565900"/>
            <a:ext cx="0" cy="76200"/>
          </a:xfrm>
          <a:prstGeom prst="line">
            <a:avLst/>
          </a:prstGeom>
          <a:noFill/>
          <a:ln w="9525">
            <a:solidFill>
              <a:srgbClr val="C9C9C4"/>
            </a:solidFill>
            <a:prstDash val="solid"/>
          </a:ln>
        </p:spPr>
      </p:sp>
      <p:sp>
        <p:nvSpPr>
          <p:cNvPr id="14" name="Shape 11"/>
          <p:cNvSpPr/>
          <p:nvPr/>
        </p:nvSpPr>
        <p:spPr>
          <a:xfrm>
            <a:off x="6858000" y="6565900"/>
            <a:ext cx="0" cy="76200"/>
          </a:xfrm>
          <a:prstGeom prst="line">
            <a:avLst/>
          </a:prstGeom>
          <a:noFill/>
          <a:ln w="9525">
            <a:solidFill>
              <a:srgbClr val="C9C9C4"/>
            </a:solidFill>
            <a:prstDash val="solid"/>
          </a:ln>
        </p:spPr>
      </p:sp>
      <p:sp>
        <p:nvSpPr>
          <p:cNvPr id="15" name="Shape 12"/>
          <p:cNvSpPr/>
          <p:nvPr/>
        </p:nvSpPr>
        <p:spPr>
          <a:xfrm>
            <a:off x="7620000" y="6565900"/>
            <a:ext cx="0" cy="76200"/>
          </a:xfrm>
          <a:prstGeom prst="line">
            <a:avLst/>
          </a:prstGeom>
          <a:noFill/>
          <a:ln w="9525">
            <a:solidFill>
              <a:srgbClr val="C9C9C4"/>
            </a:solidFill>
            <a:prstDash val="solid"/>
          </a:ln>
        </p:spPr>
      </p:sp>
      <p:sp>
        <p:nvSpPr>
          <p:cNvPr id="16" name="Shape 13"/>
          <p:cNvSpPr/>
          <p:nvPr/>
        </p:nvSpPr>
        <p:spPr>
          <a:xfrm>
            <a:off x="8382000" y="6565900"/>
            <a:ext cx="0" cy="76200"/>
          </a:xfrm>
          <a:prstGeom prst="line">
            <a:avLst/>
          </a:prstGeom>
          <a:noFill/>
          <a:ln w="9525">
            <a:solidFill>
              <a:srgbClr val="C9C9C4"/>
            </a:solidFill>
            <a:prstDash val="solid"/>
          </a:ln>
        </p:spPr>
      </p:sp>
      <p:sp>
        <p:nvSpPr>
          <p:cNvPr id="17" name="Shape 14"/>
          <p:cNvSpPr/>
          <p:nvPr/>
        </p:nvSpPr>
        <p:spPr>
          <a:xfrm>
            <a:off x="9144000" y="6565900"/>
            <a:ext cx="0" cy="76200"/>
          </a:xfrm>
          <a:prstGeom prst="line">
            <a:avLst/>
          </a:prstGeom>
          <a:noFill/>
          <a:ln w="9525">
            <a:solidFill>
              <a:srgbClr val="C9C9C4"/>
            </a:solidFill>
            <a:prstDash val="solid"/>
          </a:ln>
        </p:spPr>
      </p:sp>
      <p:sp>
        <p:nvSpPr>
          <p:cNvPr id="18" name="Shape 15"/>
          <p:cNvSpPr/>
          <p:nvPr/>
        </p:nvSpPr>
        <p:spPr>
          <a:xfrm>
            <a:off x="9906000" y="6565900"/>
            <a:ext cx="0" cy="76200"/>
          </a:xfrm>
          <a:prstGeom prst="line">
            <a:avLst/>
          </a:prstGeom>
          <a:noFill/>
          <a:ln w="9525">
            <a:solidFill>
              <a:srgbClr val="C9C9C4"/>
            </a:solidFill>
            <a:prstDash val="solid"/>
          </a:ln>
        </p:spPr>
      </p:sp>
      <p:sp>
        <p:nvSpPr>
          <p:cNvPr id="19" name="Shape 16"/>
          <p:cNvSpPr/>
          <p:nvPr/>
        </p:nvSpPr>
        <p:spPr>
          <a:xfrm>
            <a:off x="10668000" y="6565900"/>
            <a:ext cx="0" cy="76200"/>
          </a:xfrm>
          <a:prstGeom prst="line">
            <a:avLst/>
          </a:prstGeom>
          <a:noFill/>
          <a:ln w="9525">
            <a:solidFill>
              <a:srgbClr val="C9C9C4"/>
            </a:solidFill>
            <a:prstDash val="solid"/>
          </a:ln>
        </p:spPr>
      </p:sp>
      <p:sp>
        <p:nvSpPr>
          <p:cNvPr id="20" name="Shape 17"/>
          <p:cNvSpPr/>
          <p:nvPr/>
        </p:nvSpPr>
        <p:spPr>
          <a:xfrm>
            <a:off x="11430000" y="6565900"/>
            <a:ext cx="0" cy="76200"/>
          </a:xfrm>
          <a:prstGeom prst="line">
            <a:avLst/>
          </a:prstGeom>
          <a:noFill/>
          <a:ln w="9525">
            <a:solidFill>
              <a:srgbClr val="C9C9C4"/>
            </a:solidFill>
            <a:prstDash val="solid"/>
          </a:ln>
        </p:spPr>
      </p:sp>
      <p:sp>
        <p:nvSpPr>
          <p:cNvPr id="21" name="Text 18"/>
          <p:cNvSpPr/>
          <p:nvPr>
            <p:ph idx="119" type="body" hasCustomPrompt="1"/>
          </p:nvPr>
        </p:nvSpPr>
        <p:spPr>
          <a:xfrm>
            <a:off x="762000" y="952500"/>
            <a:ext cx="7620000" cy="254000"/>
          </a:xfrm>
          <a:prstGeom prst="rect">
            <a:avLst/>
          </a:prstGeom>
          <a:noFill/>
          <a:ln/>
        </p:spPr>
        <p:txBody>
          <a:bodyPr wrap="square" rtlCol="0"/>
          <a:lstStyle>
            <a:lvl1pPr algn="l" indent="0" marL="0">
              <a:buNone/>
              <a:defRPr lang="en-US" sz="1100" dirty="0">
                <a:solidFill>
                  <a:srgbClr val="62626A"/>
                </a:solidFill>
                <a:latin typeface="Consolas" pitchFamily="34" charset="0"/>
                <a:ea typeface="Consolas" pitchFamily="34" charset="-122"/>
                <a:cs typeface="Consolas" pitchFamily="34" charset="-120"/>
              </a:defRPr>
            </a:lvl1pPr>
          </a:lstStyle>
          <a:p>
            <a:pPr algn="l" indent="0" marL="0">
              <a:buNone/>
            </a:pPr>
            <a:endParaRPr lang="en-US" sz="1100" dirty="0"/>
          </a:p>
        </p:txBody>
      </p:sp>
      <p:sp>
        <p:nvSpPr>
          <p:cNvPr id="22" name="Text 18"/>
          <p:cNvSpPr/>
          <p:nvPr>
            <p:ph idx="120" type="title" hasCustomPrompt="1"/>
          </p:nvPr>
        </p:nvSpPr>
        <p:spPr>
          <a:xfrm>
            <a:off x="762000" y="1295400"/>
            <a:ext cx="10668000" cy="1460500"/>
          </a:xfrm>
          <a:prstGeom prst="rect">
            <a:avLst/>
          </a:prstGeom>
          <a:noFill/>
          <a:ln/>
        </p:spPr>
        <p:txBody>
          <a:bodyPr wrap="square" rtlCol="0"/>
          <a:lstStyle>
            <a:lvl1pPr algn="l" indent="0" marL="0">
              <a:lnSpc>
                <a:spcPct val="92000"/>
              </a:lnSpc>
              <a:buNone/>
              <a:defRPr lang="en-US" sz="4400" spc="-160" kern="0" dirty="0">
                <a:solidFill>
                  <a:srgbClr val="121214"/>
                </a:solidFill>
                <a:latin typeface="Segoe UI Semibold" pitchFamily="34" charset="0"/>
                <a:ea typeface="Segoe UI Semibold" pitchFamily="34" charset="-122"/>
                <a:cs typeface="Segoe UI Semibold" pitchFamily="34" charset="-120"/>
              </a:defRPr>
            </a:lvl1pPr>
          </a:lstStyle>
          <a:p>
            <a:pPr algn="l" indent="0" marL="0">
              <a:lnSpc>
                <a:spcPct val="92000"/>
              </a:lnSpc>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HALF">
    <p:bg>
      <p:bgPr>
        <a:solidFill>
          <a:srgbClr val="F4F4F1"/>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121214"/>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9A9AA1"/>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C9C9C4"/>
            </a:solidFill>
            <a:prstDash val="solid"/>
          </a:ln>
        </p:spPr>
      </p:sp>
      <p:sp>
        <p:nvSpPr>
          <p:cNvPr id="6" name="Shape 3"/>
          <p:cNvSpPr/>
          <p:nvPr/>
        </p:nvSpPr>
        <p:spPr>
          <a:xfrm>
            <a:off x="762000" y="6565900"/>
            <a:ext cx="0" cy="76200"/>
          </a:xfrm>
          <a:prstGeom prst="line">
            <a:avLst/>
          </a:prstGeom>
          <a:noFill/>
          <a:ln w="9525">
            <a:solidFill>
              <a:srgbClr val="C9C9C4"/>
            </a:solidFill>
            <a:prstDash val="solid"/>
          </a:ln>
        </p:spPr>
      </p:sp>
      <p:sp>
        <p:nvSpPr>
          <p:cNvPr id="7" name="Shape 4"/>
          <p:cNvSpPr/>
          <p:nvPr/>
        </p:nvSpPr>
        <p:spPr>
          <a:xfrm>
            <a:off x="1524000" y="6565900"/>
            <a:ext cx="0" cy="76200"/>
          </a:xfrm>
          <a:prstGeom prst="line">
            <a:avLst/>
          </a:prstGeom>
          <a:noFill/>
          <a:ln w="9525">
            <a:solidFill>
              <a:srgbClr val="C9C9C4"/>
            </a:solidFill>
            <a:prstDash val="solid"/>
          </a:ln>
        </p:spPr>
      </p:sp>
      <p:sp>
        <p:nvSpPr>
          <p:cNvPr id="8" name="Shape 5"/>
          <p:cNvSpPr/>
          <p:nvPr/>
        </p:nvSpPr>
        <p:spPr>
          <a:xfrm>
            <a:off x="2286000" y="6565900"/>
            <a:ext cx="0" cy="76200"/>
          </a:xfrm>
          <a:prstGeom prst="line">
            <a:avLst/>
          </a:prstGeom>
          <a:noFill/>
          <a:ln w="9525">
            <a:solidFill>
              <a:srgbClr val="C9C9C4"/>
            </a:solidFill>
            <a:prstDash val="solid"/>
          </a:ln>
        </p:spPr>
      </p:sp>
      <p:sp>
        <p:nvSpPr>
          <p:cNvPr id="9" name="Shape 6"/>
          <p:cNvSpPr/>
          <p:nvPr/>
        </p:nvSpPr>
        <p:spPr>
          <a:xfrm>
            <a:off x="3048000" y="6565900"/>
            <a:ext cx="0" cy="76200"/>
          </a:xfrm>
          <a:prstGeom prst="line">
            <a:avLst/>
          </a:prstGeom>
          <a:noFill/>
          <a:ln w="9525">
            <a:solidFill>
              <a:srgbClr val="C9C9C4"/>
            </a:solidFill>
            <a:prstDash val="solid"/>
          </a:ln>
        </p:spPr>
      </p:sp>
      <p:sp>
        <p:nvSpPr>
          <p:cNvPr id="10" name="Shape 7"/>
          <p:cNvSpPr/>
          <p:nvPr/>
        </p:nvSpPr>
        <p:spPr>
          <a:xfrm>
            <a:off x="3810000" y="6565900"/>
            <a:ext cx="0" cy="76200"/>
          </a:xfrm>
          <a:prstGeom prst="line">
            <a:avLst/>
          </a:prstGeom>
          <a:noFill/>
          <a:ln w="9525">
            <a:solidFill>
              <a:srgbClr val="C9C9C4"/>
            </a:solidFill>
            <a:prstDash val="solid"/>
          </a:ln>
        </p:spPr>
      </p:sp>
      <p:sp>
        <p:nvSpPr>
          <p:cNvPr id="11" name="Shape 8"/>
          <p:cNvSpPr/>
          <p:nvPr/>
        </p:nvSpPr>
        <p:spPr>
          <a:xfrm>
            <a:off x="4572000" y="6565900"/>
            <a:ext cx="0" cy="76200"/>
          </a:xfrm>
          <a:prstGeom prst="line">
            <a:avLst/>
          </a:prstGeom>
          <a:noFill/>
          <a:ln w="9525">
            <a:solidFill>
              <a:srgbClr val="C9C9C4"/>
            </a:solidFill>
            <a:prstDash val="solid"/>
          </a:ln>
        </p:spPr>
      </p:sp>
      <p:sp>
        <p:nvSpPr>
          <p:cNvPr id="12" name="Shape 9"/>
          <p:cNvSpPr/>
          <p:nvPr/>
        </p:nvSpPr>
        <p:spPr>
          <a:xfrm>
            <a:off x="5334000" y="6565900"/>
            <a:ext cx="0" cy="76200"/>
          </a:xfrm>
          <a:prstGeom prst="line">
            <a:avLst/>
          </a:prstGeom>
          <a:noFill/>
          <a:ln w="9525">
            <a:solidFill>
              <a:srgbClr val="C9C9C4"/>
            </a:solidFill>
            <a:prstDash val="solid"/>
          </a:ln>
        </p:spPr>
      </p:sp>
      <p:sp>
        <p:nvSpPr>
          <p:cNvPr id="13" name="Shape 10"/>
          <p:cNvSpPr/>
          <p:nvPr/>
        </p:nvSpPr>
        <p:spPr>
          <a:xfrm>
            <a:off x="6096000" y="6565900"/>
            <a:ext cx="0" cy="76200"/>
          </a:xfrm>
          <a:prstGeom prst="line">
            <a:avLst/>
          </a:prstGeom>
          <a:noFill/>
          <a:ln w="9525">
            <a:solidFill>
              <a:srgbClr val="C9C9C4"/>
            </a:solidFill>
            <a:prstDash val="solid"/>
          </a:ln>
        </p:spPr>
      </p:sp>
      <p:sp>
        <p:nvSpPr>
          <p:cNvPr id="14" name="Shape 11"/>
          <p:cNvSpPr/>
          <p:nvPr/>
        </p:nvSpPr>
        <p:spPr>
          <a:xfrm>
            <a:off x="6858000" y="6565900"/>
            <a:ext cx="0" cy="76200"/>
          </a:xfrm>
          <a:prstGeom prst="line">
            <a:avLst/>
          </a:prstGeom>
          <a:noFill/>
          <a:ln w="9525">
            <a:solidFill>
              <a:srgbClr val="C9C9C4"/>
            </a:solidFill>
            <a:prstDash val="solid"/>
          </a:ln>
        </p:spPr>
      </p:sp>
      <p:sp>
        <p:nvSpPr>
          <p:cNvPr id="15" name="Shape 12"/>
          <p:cNvSpPr/>
          <p:nvPr/>
        </p:nvSpPr>
        <p:spPr>
          <a:xfrm>
            <a:off x="7620000" y="6565900"/>
            <a:ext cx="0" cy="76200"/>
          </a:xfrm>
          <a:prstGeom prst="line">
            <a:avLst/>
          </a:prstGeom>
          <a:noFill/>
          <a:ln w="9525">
            <a:solidFill>
              <a:srgbClr val="C9C9C4"/>
            </a:solidFill>
            <a:prstDash val="solid"/>
          </a:ln>
        </p:spPr>
      </p:sp>
      <p:sp>
        <p:nvSpPr>
          <p:cNvPr id="16" name="Shape 13"/>
          <p:cNvSpPr/>
          <p:nvPr/>
        </p:nvSpPr>
        <p:spPr>
          <a:xfrm>
            <a:off x="8382000" y="6565900"/>
            <a:ext cx="0" cy="76200"/>
          </a:xfrm>
          <a:prstGeom prst="line">
            <a:avLst/>
          </a:prstGeom>
          <a:noFill/>
          <a:ln w="9525">
            <a:solidFill>
              <a:srgbClr val="C9C9C4"/>
            </a:solidFill>
            <a:prstDash val="solid"/>
          </a:ln>
        </p:spPr>
      </p:sp>
      <p:sp>
        <p:nvSpPr>
          <p:cNvPr id="17" name="Shape 14"/>
          <p:cNvSpPr/>
          <p:nvPr/>
        </p:nvSpPr>
        <p:spPr>
          <a:xfrm>
            <a:off x="9144000" y="6565900"/>
            <a:ext cx="0" cy="76200"/>
          </a:xfrm>
          <a:prstGeom prst="line">
            <a:avLst/>
          </a:prstGeom>
          <a:noFill/>
          <a:ln w="9525">
            <a:solidFill>
              <a:srgbClr val="C9C9C4"/>
            </a:solidFill>
            <a:prstDash val="solid"/>
          </a:ln>
        </p:spPr>
      </p:sp>
      <p:sp>
        <p:nvSpPr>
          <p:cNvPr id="18" name="Shape 15"/>
          <p:cNvSpPr/>
          <p:nvPr/>
        </p:nvSpPr>
        <p:spPr>
          <a:xfrm>
            <a:off x="9906000" y="6565900"/>
            <a:ext cx="0" cy="76200"/>
          </a:xfrm>
          <a:prstGeom prst="line">
            <a:avLst/>
          </a:prstGeom>
          <a:noFill/>
          <a:ln w="9525">
            <a:solidFill>
              <a:srgbClr val="C9C9C4"/>
            </a:solidFill>
            <a:prstDash val="solid"/>
          </a:ln>
        </p:spPr>
      </p:sp>
      <p:sp>
        <p:nvSpPr>
          <p:cNvPr id="19" name="Shape 16"/>
          <p:cNvSpPr/>
          <p:nvPr/>
        </p:nvSpPr>
        <p:spPr>
          <a:xfrm>
            <a:off x="10668000" y="6565900"/>
            <a:ext cx="0" cy="76200"/>
          </a:xfrm>
          <a:prstGeom prst="line">
            <a:avLst/>
          </a:prstGeom>
          <a:noFill/>
          <a:ln w="9525">
            <a:solidFill>
              <a:srgbClr val="C9C9C4"/>
            </a:solidFill>
            <a:prstDash val="solid"/>
          </a:ln>
        </p:spPr>
      </p:sp>
      <p:sp>
        <p:nvSpPr>
          <p:cNvPr id="20" name="Shape 17"/>
          <p:cNvSpPr/>
          <p:nvPr/>
        </p:nvSpPr>
        <p:spPr>
          <a:xfrm>
            <a:off x="11430000" y="6565900"/>
            <a:ext cx="0" cy="76200"/>
          </a:xfrm>
          <a:prstGeom prst="line">
            <a:avLst/>
          </a:prstGeom>
          <a:noFill/>
          <a:ln w="9525">
            <a:solidFill>
              <a:srgbClr val="C9C9C4"/>
            </a:solidFill>
            <a:prstDash val="solid"/>
          </a:ln>
        </p:spPr>
      </p:sp>
      <p:sp>
        <p:nvSpPr>
          <p:cNvPr id="21" name="Text 18"/>
          <p:cNvSpPr/>
          <p:nvPr>
            <p:ph idx="119" type="body" hasCustomPrompt="1"/>
          </p:nvPr>
        </p:nvSpPr>
        <p:spPr>
          <a:xfrm>
            <a:off x="762000" y="952500"/>
            <a:ext cx="7620000" cy="254000"/>
          </a:xfrm>
          <a:prstGeom prst="rect">
            <a:avLst/>
          </a:prstGeom>
          <a:noFill/>
          <a:ln/>
        </p:spPr>
        <p:txBody>
          <a:bodyPr wrap="square" rtlCol="0"/>
          <a:lstStyle>
            <a:lvl1pPr algn="l" indent="0" marL="0">
              <a:buNone/>
              <a:defRPr lang="en-US" sz="1100" dirty="0">
                <a:solidFill>
                  <a:srgbClr val="62626A"/>
                </a:solidFill>
                <a:latin typeface="Consolas" pitchFamily="34" charset="0"/>
                <a:ea typeface="Consolas" pitchFamily="34" charset="-122"/>
                <a:cs typeface="Consolas" pitchFamily="34" charset="-120"/>
              </a:defRPr>
            </a:lvl1pPr>
          </a:lstStyle>
          <a:p>
            <a:pPr algn="l" indent="0" marL="0">
              <a:buNone/>
            </a:pPr>
            <a:endParaRPr lang="en-US" sz="1100" dirty="0"/>
          </a:p>
        </p:txBody>
      </p:sp>
      <p:sp>
        <p:nvSpPr>
          <p:cNvPr id="22" name="Text 18"/>
          <p:cNvSpPr/>
          <p:nvPr>
            <p:ph idx="120" type="title" hasCustomPrompt="1"/>
          </p:nvPr>
        </p:nvSpPr>
        <p:spPr>
          <a:xfrm>
            <a:off x="762000" y="1295400"/>
            <a:ext cx="5842000" cy="1460500"/>
          </a:xfrm>
          <a:prstGeom prst="rect">
            <a:avLst/>
          </a:prstGeom>
          <a:noFill/>
          <a:ln/>
        </p:spPr>
        <p:txBody>
          <a:bodyPr wrap="square" rtlCol="0"/>
          <a:lstStyle>
            <a:lvl1pPr algn="l" indent="0" marL="0">
              <a:lnSpc>
                <a:spcPct val="92000"/>
              </a:lnSpc>
              <a:buNone/>
              <a:defRPr lang="en-US" sz="4400" spc="-160" kern="0" dirty="0">
                <a:solidFill>
                  <a:srgbClr val="121214"/>
                </a:solidFill>
                <a:latin typeface="Segoe UI Semibold" pitchFamily="34" charset="0"/>
                <a:ea typeface="Segoe UI Semibold" pitchFamily="34" charset="-122"/>
                <a:cs typeface="Segoe UI Semibold" pitchFamily="34" charset="-120"/>
              </a:defRPr>
            </a:lvl1pPr>
          </a:lstStyle>
          <a:p>
            <a:pPr algn="l" indent="0" marL="0">
              <a:lnSpc>
                <a:spcPct val="92000"/>
              </a:lnSpc>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60608"/>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F0F0F3"/>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5E5E67"/>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3A3A42"/>
            </a:solidFill>
            <a:prstDash val="solid"/>
          </a:ln>
        </p:spPr>
      </p:sp>
      <p:sp>
        <p:nvSpPr>
          <p:cNvPr id="6" name="Shape 3"/>
          <p:cNvSpPr/>
          <p:nvPr/>
        </p:nvSpPr>
        <p:spPr>
          <a:xfrm>
            <a:off x="762000" y="6565900"/>
            <a:ext cx="0" cy="76200"/>
          </a:xfrm>
          <a:prstGeom prst="line">
            <a:avLst/>
          </a:prstGeom>
          <a:noFill/>
          <a:ln w="9525">
            <a:solidFill>
              <a:srgbClr val="3A3A42"/>
            </a:solidFill>
            <a:prstDash val="solid"/>
          </a:ln>
        </p:spPr>
      </p:sp>
      <p:sp>
        <p:nvSpPr>
          <p:cNvPr id="7" name="Shape 4"/>
          <p:cNvSpPr/>
          <p:nvPr/>
        </p:nvSpPr>
        <p:spPr>
          <a:xfrm>
            <a:off x="1524000" y="6565900"/>
            <a:ext cx="0" cy="76200"/>
          </a:xfrm>
          <a:prstGeom prst="line">
            <a:avLst/>
          </a:prstGeom>
          <a:noFill/>
          <a:ln w="9525">
            <a:solidFill>
              <a:srgbClr val="3A3A42"/>
            </a:solidFill>
            <a:prstDash val="solid"/>
          </a:ln>
        </p:spPr>
      </p:sp>
      <p:sp>
        <p:nvSpPr>
          <p:cNvPr id="8" name="Shape 5"/>
          <p:cNvSpPr/>
          <p:nvPr/>
        </p:nvSpPr>
        <p:spPr>
          <a:xfrm>
            <a:off x="2286000" y="6565900"/>
            <a:ext cx="0" cy="76200"/>
          </a:xfrm>
          <a:prstGeom prst="line">
            <a:avLst/>
          </a:prstGeom>
          <a:noFill/>
          <a:ln w="9525">
            <a:solidFill>
              <a:srgbClr val="3A3A42"/>
            </a:solidFill>
            <a:prstDash val="solid"/>
          </a:ln>
        </p:spPr>
      </p:sp>
      <p:sp>
        <p:nvSpPr>
          <p:cNvPr id="9" name="Shape 6"/>
          <p:cNvSpPr/>
          <p:nvPr/>
        </p:nvSpPr>
        <p:spPr>
          <a:xfrm>
            <a:off x="3048000" y="6565900"/>
            <a:ext cx="0" cy="76200"/>
          </a:xfrm>
          <a:prstGeom prst="line">
            <a:avLst/>
          </a:prstGeom>
          <a:noFill/>
          <a:ln w="9525">
            <a:solidFill>
              <a:srgbClr val="3A3A42"/>
            </a:solidFill>
            <a:prstDash val="solid"/>
          </a:ln>
        </p:spPr>
      </p:sp>
      <p:sp>
        <p:nvSpPr>
          <p:cNvPr id="10" name="Shape 7"/>
          <p:cNvSpPr/>
          <p:nvPr/>
        </p:nvSpPr>
        <p:spPr>
          <a:xfrm>
            <a:off x="3810000" y="6565900"/>
            <a:ext cx="0" cy="76200"/>
          </a:xfrm>
          <a:prstGeom prst="line">
            <a:avLst/>
          </a:prstGeom>
          <a:noFill/>
          <a:ln w="9525">
            <a:solidFill>
              <a:srgbClr val="3A3A42"/>
            </a:solidFill>
            <a:prstDash val="solid"/>
          </a:ln>
        </p:spPr>
      </p:sp>
      <p:sp>
        <p:nvSpPr>
          <p:cNvPr id="11" name="Shape 8"/>
          <p:cNvSpPr/>
          <p:nvPr/>
        </p:nvSpPr>
        <p:spPr>
          <a:xfrm>
            <a:off x="4572000" y="6565900"/>
            <a:ext cx="0" cy="76200"/>
          </a:xfrm>
          <a:prstGeom prst="line">
            <a:avLst/>
          </a:prstGeom>
          <a:noFill/>
          <a:ln w="9525">
            <a:solidFill>
              <a:srgbClr val="3A3A42"/>
            </a:solidFill>
            <a:prstDash val="solid"/>
          </a:ln>
        </p:spPr>
      </p:sp>
      <p:sp>
        <p:nvSpPr>
          <p:cNvPr id="12" name="Shape 9"/>
          <p:cNvSpPr/>
          <p:nvPr/>
        </p:nvSpPr>
        <p:spPr>
          <a:xfrm>
            <a:off x="5334000" y="6565900"/>
            <a:ext cx="0" cy="76200"/>
          </a:xfrm>
          <a:prstGeom prst="line">
            <a:avLst/>
          </a:prstGeom>
          <a:noFill/>
          <a:ln w="9525">
            <a:solidFill>
              <a:srgbClr val="3A3A42"/>
            </a:solidFill>
            <a:prstDash val="solid"/>
          </a:ln>
        </p:spPr>
      </p:sp>
      <p:sp>
        <p:nvSpPr>
          <p:cNvPr id="13" name="Shape 10"/>
          <p:cNvSpPr/>
          <p:nvPr/>
        </p:nvSpPr>
        <p:spPr>
          <a:xfrm>
            <a:off x="6096000" y="6565900"/>
            <a:ext cx="0" cy="76200"/>
          </a:xfrm>
          <a:prstGeom prst="line">
            <a:avLst/>
          </a:prstGeom>
          <a:noFill/>
          <a:ln w="9525">
            <a:solidFill>
              <a:srgbClr val="3A3A42"/>
            </a:solidFill>
            <a:prstDash val="solid"/>
          </a:ln>
        </p:spPr>
      </p:sp>
      <p:sp>
        <p:nvSpPr>
          <p:cNvPr id="14" name="Shape 11"/>
          <p:cNvSpPr/>
          <p:nvPr/>
        </p:nvSpPr>
        <p:spPr>
          <a:xfrm>
            <a:off x="6858000" y="6565900"/>
            <a:ext cx="0" cy="76200"/>
          </a:xfrm>
          <a:prstGeom prst="line">
            <a:avLst/>
          </a:prstGeom>
          <a:noFill/>
          <a:ln w="9525">
            <a:solidFill>
              <a:srgbClr val="3A3A42"/>
            </a:solidFill>
            <a:prstDash val="solid"/>
          </a:ln>
        </p:spPr>
      </p:sp>
      <p:sp>
        <p:nvSpPr>
          <p:cNvPr id="15" name="Shape 12"/>
          <p:cNvSpPr/>
          <p:nvPr/>
        </p:nvSpPr>
        <p:spPr>
          <a:xfrm>
            <a:off x="7620000" y="6565900"/>
            <a:ext cx="0" cy="76200"/>
          </a:xfrm>
          <a:prstGeom prst="line">
            <a:avLst/>
          </a:prstGeom>
          <a:noFill/>
          <a:ln w="9525">
            <a:solidFill>
              <a:srgbClr val="3A3A42"/>
            </a:solidFill>
            <a:prstDash val="solid"/>
          </a:ln>
        </p:spPr>
      </p:sp>
      <p:sp>
        <p:nvSpPr>
          <p:cNvPr id="16" name="Shape 13"/>
          <p:cNvSpPr/>
          <p:nvPr/>
        </p:nvSpPr>
        <p:spPr>
          <a:xfrm>
            <a:off x="8382000" y="6565900"/>
            <a:ext cx="0" cy="76200"/>
          </a:xfrm>
          <a:prstGeom prst="line">
            <a:avLst/>
          </a:prstGeom>
          <a:noFill/>
          <a:ln w="9525">
            <a:solidFill>
              <a:srgbClr val="3A3A42"/>
            </a:solidFill>
            <a:prstDash val="solid"/>
          </a:ln>
        </p:spPr>
      </p:sp>
      <p:sp>
        <p:nvSpPr>
          <p:cNvPr id="17" name="Shape 14"/>
          <p:cNvSpPr/>
          <p:nvPr/>
        </p:nvSpPr>
        <p:spPr>
          <a:xfrm>
            <a:off x="9144000" y="6565900"/>
            <a:ext cx="0" cy="76200"/>
          </a:xfrm>
          <a:prstGeom prst="line">
            <a:avLst/>
          </a:prstGeom>
          <a:noFill/>
          <a:ln w="9525">
            <a:solidFill>
              <a:srgbClr val="3A3A42"/>
            </a:solidFill>
            <a:prstDash val="solid"/>
          </a:ln>
        </p:spPr>
      </p:sp>
      <p:sp>
        <p:nvSpPr>
          <p:cNvPr id="18" name="Shape 15"/>
          <p:cNvSpPr/>
          <p:nvPr/>
        </p:nvSpPr>
        <p:spPr>
          <a:xfrm>
            <a:off x="9906000" y="6565900"/>
            <a:ext cx="0" cy="76200"/>
          </a:xfrm>
          <a:prstGeom prst="line">
            <a:avLst/>
          </a:prstGeom>
          <a:noFill/>
          <a:ln w="9525">
            <a:solidFill>
              <a:srgbClr val="3A3A42"/>
            </a:solidFill>
            <a:prstDash val="solid"/>
          </a:ln>
        </p:spPr>
      </p:sp>
      <p:sp>
        <p:nvSpPr>
          <p:cNvPr id="19" name="Shape 16"/>
          <p:cNvSpPr/>
          <p:nvPr/>
        </p:nvSpPr>
        <p:spPr>
          <a:xfrm>
            <a:off x="10668000" y="6565900"/>
            <a:ext cx="0" cy="76200"/>
          </a:xfrm>
          <a:prstGeom prst="line">
            <a:avLst/>
          </a:prstGeom>
          <a:noFill/>
          <a:ln w="9525">
            <a:solidFill>
              <a:srgbClr val="3A3A42"/>
            </a:solidFill>
            <a:prstDash val="solid"/>
          </a:ln>
        </p:spPr>
      </p:sp>
      <p:sp>
        <p:nvSpPr>
          <p:cNvPr id="20" name="Shape 17"/>
          <p:cNvSpPr/>
          <p:nvPr/>
        </p:nvSpPr>
        <p:spPr>
          <a:xfrm>
            <a:off x="11430000" y="6565900"/>
            <a:ext cx="0" cy="76200"/>
          </a:xfrm>
          <a:prstGeom prst="line">
            <a:avLst/>
          </a:prstGeom>
          <a:noFill/>
          <a:ln w="9525">
            <a:solidFill>
              <a:srgbClr val="3A3A42"/>
            </a:solidFill>
            <a:prstDash val="solid"/>
          </a:ln>
        </p:spPr>
      </p:sp>
      <p:sp>
        <p:nvSpPr>
          <p:cNvPr id="21" name="Text 18"/>
          <p:cNvSpPr/>
          <p:nvPr>
            <p:ph idx="119" type="body" hasCustomPrompt="1"/>
          </p:nvPr>
        </p:nvSpPr>
        <p:spPr>
          <a:xfrm>
            <a:off x="762000" y="952500"/>
            <a:ext cx="7620000" cy="254000"/>
          </a:xfrm>
          <a:prstGeom prst="rect">
            <a:avLst/>
          </a:prstGeom>
          <a:noFill/>
          <a:ln/>
        </p:spPr>
        <p:txBody>
          <a:bodyPr wrap="square" rtlCol="0"/>
          <a:lstStyle>
            <a:lvl1pPr algn="l" indent="0" marL="0">
              <a:buNone/>
              <a:defRPr lang="en-US" sz="1100" dirty="0">
                <a:solidFill>
                  <a:srgbClr val="8A8A94"/>
                </a:solidFill>
                <a:latin typeface="Consolas" pitchFamily="34" charset="0"/>
                <a:ea typeface="Consolas" pitchFamily="34" charset="-122"/>
                <a:cs typeface="Consolas" pitchFamily="34" charset="-120"/>
              </a:defRPr>
            </a:lvl1pPr>
          </a:lstStyle>
          <a:p>
            <a:pPr algn="l" indent="0" marL="0">
              <a:buNone/>
            </a:pPr>
            <a:endParaRPr lang="en-US" sz="1100" dirty="0"/>
          </a:p>
        </p:txBody>
      </p:sp>
      <p:sp>
        <p:nvSpPr>
          <p:cNvPr id="22" name="Text 18"/>
          <p:cNvSpPr/>
          <p:nvPr>
            <p:ph idx="120" type="title" hasCustomPrompt="1"/>
          </p:nvPr>
        </p:nvSpPr>
        <p:spPr>
          <a:xfrm>
            <a:off x="762000" y="1295400"/>
            <a:ext cx="10668000" cy="1460500"/>
          </a:xfrm>
          <a:prstGeom prst="rect">
            <a:avLst/>
          </a:prstGeom>
          <a:noFill/>
          <a:ln/>
        </p:spPr>
        <p:txBody>
          <a:bodyPr wrap="square" rtlCol="0"/>
          <a:lstStyle>
            <a:lvl1pPr algn="l" indent="0" marL="0">
              <a:lnSpc>
                <a:spcPct val="92000"/>
              </a:lnSpc>
              <a:buNone/>
              <a:defRPr lang="en-US" sz="4400" spc="-160" kern="0" dirty="0">
                <a:solidFill>
                  <a:srgbClr val="F0F0F3"/>
                </a:solidFill>
                <a:latin typeface="Segoe UI Semibold" pitchFamily="34" charset="0"/>
                <a:ea typeface="Segoe UI Semibold" pitchFamily="34" charset="-122"/>
                <a:cs typeface="Segoe UI Semibold" pitchFamily="34" charset="-120"/>
              </a:defRPr>
            </a:lvl1pPr>
          </a:lstStyle>
          <a:p>
            <a:pPr algn="l" indent="0" marL="0">
              <a:lnSpc>
                <a:spcPct val="92000"/>
              </a:lnSpc>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_LIGHT">
    <p:bg>
      <p:bgPr>
        <a:solidFill>
          <a:srgbClr val="F4F4F1"/>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121214"/>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9A9AA1"/>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C9C9C4"/>
            </a:solidFill>
            <a:prstDash val="solid"/>
          </a:ln>
        </p:spPr>
      </p:sp>
      <p:sp>
        <p:nvSpPr>
          <p:cNvPr id="6" name="Shape 3"/>
          <p:cNvSpPr/>
          <p:nvPr/>
        </p:nvSpPr>
        <p:spPr>
          <a:xfrm>
            <a:off x="762000" y="6565900"/>
            <a:ext cx="0" cy="76200"/>
          </a:xfrm>
          <a:prstGeom prst="line">
            <a:avLst/>
          </a:prstGeom>
          <a:noFill/>
          <a:ln w="9525">
            <a:solidFill>
              <a:srgbClr val="C9C9C4"/>
            </a:solidFill>
            <a:prstDash val="solid"/>
          </a:ln>
        </p:spPr>
      </p:sp>
      <p:sp>
        <p:nvSpPr>
          <p:cNvPr id="7" name="Shape 4"/>
          <p:cNvSpPr/>
          <p:nvPr/>
        </p:nvSpPr>
        <p:spPr>
          <a:xfrm>
            <a:off x="1524000" y="6565900"/>
            <a:ext cx="0" cy="76200"/>
          </a:xfrm>
          <a:prstGeom prst="line">
            <a:avLst/>
          </a:prstGeom>
          <a:noFill/>
          <a:ln w="9525">
            <a:solidFill>
              <a:srgbClr val="C9C9C4"/>
            </a:solidFill>
            <a:prstDash val="solid"/>
          </a:ln>
        </p:spPr>
      </p:sp>
      <p:sp>
        <p:nvSpPr>
          <p:cNvPr id="8" name="Shape 5"/>
          <p:cNvSpPr/>
          <p:nvPr/>
        </p:nvSpPr>
        <p:spPr>
          <a:xfrm>
            <a:off x="2286000" y="6565900"/>
            <a:ext cx="0" cy="76200"/>
          </a:xfrm>
          <a:prstGeom prst="line">
            <a:avLst/>
          </a:prstGeom>
          <a:noFill/>
          <a:ln w="9525">
            <a:solidFill>
              <a:srgbClr val="C9C9C4"/>
            </a:solidFill>
            <a:prstDash val="solid"/>
          </a:ln>
        </p:spPr>
      </p:sp>
      <p:sp>
        <p:nvSpPr>
          <p:cNvPr id="9" name="Shape 6"/>
          <p:cNvSpPr/>
          <p:nvPr/>
        </p:nvSpPr>
        <p:spPr>
          <a:xfrm>
            <a:off x="3048000" y="6565900"/>
            <a:ext cx="0" cy="76200"/>
          </a:xfrm>
          <a:prstGeom prst="line">
            <a:avLst/>
          </a:prstGeom>
          <a:noFill/>
          <a:ln w="9525">
            <a:solidFill>
              <a:srgbClr val="C9C9C4"/>
            </a:solidFill>
            <a:prstDash val="solid"/>
          </a:ln>
        </p:spPr>
      </p:sp>
      <p:sp>
        <p:nvSpPr>
          <p:cNvPr id="10" name="Shape 7"/>
          <p:cNvSpPr/>
          <p:nvPr/>
        </p:nvSpPr>
        <p:spPr>
          <a:xfrm>
            <a:off x="3810000" y="6565900"/>
            <a:ext cx="0" cy="76200"/>
          </a:xfrm>
          <a:prstGeom prst="line">
            <a:avLst/>
          </a:prstGeom>
          <a:noFill/>
          <a:ln w="9525">
            <a:solidFill>
              <a:srgbClr val="C9C9C4"/>
            </a:solidFill>
            <a:prstDash val="solid"/>
          </a:ln>
        </p:spPr>
      </p:sp>
      <p:sp>
        <p:nvSpPr>
          <p:cNvPr id="11" name="Shape 8"/>
          <p:cNvSpPr/>
          <p:nvPr/>
        </p:nvSpPr>
        <p:spPr>
          <a:xfrm>
            <a:off x="4572000" y="6565900"/>
            <a:ext cx="0" cy="76200"/>
          </a:xfrm>
          <a:prstGeom prst="line">
            <a:avLst/>
          </a:prstGeom>
          <a:noFill/>
          <a:ln w="9525">
            <a:solidFill>
              <a:srgbClr val="C9C9C4"/>
            </a:solidFill>
            <a:prstDash val="solid"/>
          </a:ln>
        </p:spPr>
      </p:sp>
      <p:sp>
        <p:nvSpPr>
          <p:cNvPr id="12" name="Shape 9"/>
          <p:cNvSpPr/>
          <p:nvPr/>
        </p:nvSpPr>
        <p:spPr>
          <a:xfrm>
            <a:off x="5334000" y="6565900"/>
            <a:ext cx="0" cy="76200"/>
          </a:xfrm>
          <a:prstGeom prst="line">
            <a:avLst/>
          </a:prstGeom>
          <a:noFill/>
          <a:ln w="9525">
            <a:solidFill>
              <a:srgbClr val="C9C9C4"/>
            </a:solidFill>
            <a:prstDash val="solid"/>
          </a:ln>
        </p:spPr>
      </p:sp>
      <p:sp>
        <p:nvSpPr>
          <p:cNvPr id="13" name="Shape 10"/>
          <p:cNvSpPr/>
          <p:nvPr/>
        </p:nvSpPr>
        <p:spPr>
          <a:xfrm>
            <a:off x="6096000" y="6565900"/>
            <a:ext cx="0" cy="76200"/>
          </a:xfrm>
          <a:prstGeom prst="line">
            <a:avLst/>
          </a:prstGeom>
          <a:noFill/>
          <a:ln w="9525">
            <a:solidFill>
              <a:srgbClr val="C9C9C4"/>
            </a:solidFill>
            <a:prstDash val="solid"/>
          </a:ln>
        </p:spPr>
      </p:sp>
      <p:sp>
        <p:nvSpPr>
          <p:cNvPr id="14" name="Shape 11"/>
          <p:cNvSpPr/>
          <p:nvPr/>
        </p:nvSpPr>
        <p:spPr>
          <a:xfrm>
            <a:off x="6858000" y="6565900"/>
            <a:ext cx="0" cy="76200"/>
          </a:xfrm>
          <a:prstGeom prst="line">
            <a:avLst/>
          </a:prstGeom>
          <a:noFill/>
          <a:ln w="9525">
            <a:solidFill>
              <a:srgbClr val="C9C9C4"/>
            </a:solidFill>
            <a:prstDash val="solid"/>
          </a:ln>
        </p:spPr>
      </p:sp>
      <p:sp>
        <p:nvSpPr>
          <p:cNvPr id="15" name="Shape 12"/>
          <p:cNvSpPr/>
          <p:nvPr/>
        </p:nvSpPr>
        <p:spPr>
          <a:xfrm>
            <a:off x="7620000" y="6565900"/>
            <a:ext cx="0" cy="76200"/>
          </a:xfrm>
          <a:prstGeom prst="line">
            <a:avLst/>
          </a:prstGeom>
          <a:noFill/>
          <a:ln w="9525">
            <a:solidFill>
              <a:srgbClr val="C9C9C4"/>
            </a:solidFill>
            <a:prstDash val="solid"/>
          </a:ln>
        </p:spPr>
      </p:sp>
      <p:sp>
        <p:nvSpPr>
          <p:cNvPr id="16" name="Shape 13"/>
          <p:cNvSpPr/>
          <p:nvPr/>
        </p:nvSpPr>
        <p:spPr>
          <a:xfrm>
            <a:off x="8382000" y="6565900"/>
            <a:ext cx="0" cy="76200"/>
          </a:xfrm>
          <a:prstGeom prst="line">
            <a:avLst/>
          </a:prstGeom>
          <a:noFill/>
          <a:ln w="9525">
            <a:solidFill>
              <a:srgbClr val="C9C9C4"/>
            </a:solidFill>
            <a:prstDash val="solid"/>
          </a:ln>
        </p:spPr>
      </p:sp>
      <p:sp>
        <p:nvSpPr>
          <p:cNvPr id="17" name="Shape 14"/>
          <p:cNvSpPr/>
          <p:nvPr/>
        </p:nvSpPr>
        <p:spPr>
          <a:xfrm>
            <a:off x="9144000" y="6565900"/>
            <a:ext cx="0" cy="76200"/>
          </a:xfrm>
          <a:prstGeom prst="line">
            <a:avLst/>
          </a:prstGeom>
          <a:noFill/>
          <a:ln w="9525">
            <a:solidFill>
              <a:srgbClr val="C9C9C4"/>
            </a:solidFill>
            <a:prstDash val="solid"/>
          </a:ln>
        </p:spPr>
      </p:sp>
      <p:sp>
        <p:nvSpPr>
          <p:cNvPr id="18" name="Shape 15"/>
          <p:cNvSpPr/>
          <p:nvPr/>
        </p:nvSpPr>
        <p:spPr>
          <a:xfrm>
            <a:off x="9906000" y="6565900"/>
            <a:ext cx="0" cy="76200"/>
          </a:xfrm>
          <a:prstGeom prst="line">
            <a:avLst/>
          </a:prstGeom>
          <a:noFill/>
          <a:ln w="9525">
            <a:solidFill>
              <a:srgbClr val="C9C9C4"/>
            </a:solidFill>
            <a:prstDash val="solid"/>
          </a:ln>
        </p:spPr>
      </p:sp>
      <p:sp>
        <p:nvSpPr>
          <p:cNvPr id="19" name="Shape 16"/>
          <p:cNvSpPr/>
          <p:nvPr/>
        </p:nvSpPr>
        <p:spPr>
          <a:xfrm>
            <a:off x="10668000" y="6565900"/>
            <a:ext cx="0" cy="76200"/>
          </a:xfrm>
          <a:prstGeom prst="line">
            <a:avLst/>
          </a:prstGeom>
          <a:noFill/>
          <a:ln w="9525">
            <a:solidFill>
              <a:srgbClr val="C9C9C4"/>
            </a:solidFill>
            <a:prstDash val="solid"/>
          </a:ln>
        </p:spPr>
      </p:sp>
      <p:sp>
        <p:nvSpPr>
          <p:cNvPr id="20" name="Shape 17"/>
          <p:cNvSpPr/>
          <p:nvPr/>
        </p:nvSpPr>
        <p:spPr>
          <a:xfrm>
            <a:off x="11430000" y="6565900"/>
            <a:ext cx="0" cy="76200"/>
          </a:xfrm>
          <a:prstGeom prst="line">
            <a:avLst/>
          </a:prstGeom>
          <a:noFill/>
          <a:ln w="9525">
            <a:solidFill>
              <a:srgbClr val="C9C9C4"/>
            </a:solidFill>
            <a:prstDash val="solid"/>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060608"/>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F0F0F3"/>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5E5E67"/>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3A3A42"/>
            </a:solidFill>
            <a:prstDash val="solid"/>
          </a:ln>
        </p:spPr>
      </p:sp>
      <p:sp>
        <p:nvSpPr>
          <p:cNvPr id="6" name="Shape 3"/>
          <p:cNvSpPr/>
          <p:nvPr/>
        </p:nvSpPr>
        <p:spPr>
          <a:xfrm>
            <a:off x="762000" y="6565900"/>
            <a:ext cx="0" cy="76200"/>
          </a:xfrm>
          <a:prstGeom prst="line">
            <a:avLst/>
          </a:prstGeom>
          <a:noFill/>
          <a:ln w="9525">
            <a:solidFill>
              <a:srgbClr val="3A3A42"/>
            </a:solidFill>
            <a:prstDash val="solid"/>
          </a:ln>
        </p:spPr>
      </p:sp>
      <p:sp>
        <p:nvSpPr>
          <p:cNvPr id="7" name="Shape 4"/>
          <p:cNvSpPr/>
          <p:nvPr/>
        </p:nvSpPr>
        <p:spPr>
          <a:xfrm>
            <a:off x="1524000" y="6565900"/>
            <a:ext cx="0" cy="76200"/>
          </a:xfrm>
          <a:prstGeom prst="line">
            <a:avLst/>
          </a:prstGeom>
          <a:noFill/>
          <a:ln w="9525">
            <a:solidFill>
              <a:srgbClr val="3A3A42"/>
            </a:solidFill>
            <a:prstDash val="solid"/>
          </a:ln>
        </p:spPr>
      </p:sp>
      <p:sp>
        <p:nvSpPr>
          <p:cNvPr id="8" name="Shape 5"/>
          <p:cNvSpPr/>
          <p:nvPr/>
        </p:nvSpPr>
        <p:spPr>
          <a:xfrm>
            <a:off x="2286000" y="6565900"/>
            <a:ext cx="0" cy="76200"/>
          </a:xfrm>
          <a:prstGeom prst="line">
            <a:avLst/>
          </a:prstGeom>
          <a:noFill/>
          <a:ln w="9525">
            <a:solidFill>
              <a:srgbClr val="3A3A42"/>
            </a:solidFill>
            <a:prstDash val="solid"/>
          </a:ln>
        </p:spPr>
      </p:sp>
      <p:sp>
        <p:nvSpPr>
          <p:cNvPr id="9" name="Shape 6"/>
          <p:cNvSpPr/>
          <p:nvPr/>
        </p:nvSpPr>
        <p:spPr>
          <a:xfrm>
            <a:off x="3048000" y="6565900"/>
            <a:ext cx="0" cy="76200"/>
          </a:xfrm>
          <a:prstGeom prst="line">
            <a:avLst/>
          </a:prstGeom>
          <a:noFill/>
          <a:ln w="9525">
            <a:solidFill>
              <a:srgbClr val="3A3A42"/>
            </a:solidFill>
            <a:prstDash val="solid"/>
          </a:ln>
        </p:spPr>
      </p:sp>
      <p:sp>
        <p:nvSpPr>
          <p:cNvPr id="10" name="Shape 7"/>
          <p:cNvSpPr/>
          <p:nvPr/>
        </p:nvSpPr>
        <p:spPr>
          <a:xfrm>
            <a:off x="3810000" y="6565900"/>
            <a:ext cx="0" cy="76200"/>
          </a:xfrm>
          <a:prstGeom prst="line">
            <a:avLst/>
          </a:prstGeom>
          <a:noFill/>
          <a:ln w="9525">
            <a:solidFill>
              <a:srgbClr val="3A3A42"/>
            </a:solidFill>
            <a:prstDash val="solid"/>
          </a:ln>
        </p:spPr>
      </p:sp>
      <p:sp>
        <p:nvSpPr>
          <p:cNvPr id="11" name="Shape 8"/>
          <p:cNvSpPr/>
          <p:nvPr/>
        </p:nvSpPr>
        <p:spPr>
          <a:xfrm>
            <a:off x="4572000" y="6565900"/>
            <a:ext cx="0" cy="76200"/>
          </a:xfrm>
          <a:prstGeom prst="line">
            <a:avLst/>
          </a:prstGeom>
          <a:noFill/>
          <a:ln w="9525">
            <a:solidFill>
              <a:srgbClr val="3A3A42"/>
            </a:solidFill>
            <a:prstDash val="solid"/>
          </a:ln>
        </p:spPr>
      </p:sp>
      <p:sp>
        <p:nvSpPr>
          <p:cNvPr id="12" name="Shape 9"/>
          <p:cNvSpPr/>
          <p:nvPr/>
        </p:nvSpPr>
        <p:spPr>
          <a:xfrm>
            <a:off x="5334000" y="6565900"/>
            <a:ext cx="0" cy="76200"/>
          </a:xfrm>
          <a:prstGeom prst="line">
            <a:avLst/>
          </a:prstGeom>
          <a:noFill/>
          <a:ln w="9525">
            <a:solidFill>
              <a:srgbClr val="3A3A42"/>
            </a:solidFill>
            <a:prstDash val="solid"/>
          </a:ln>
        </p:spPr>
      </p:sp>
      <p:sp>
        <p:nvSpPr>
          <p:cNvPr id="13" name="Shape 10"/>
          <p:cNvSpPr/>
          <p:nvPr/>
        </p:nvSpPr>
        <p:spPr>
          <a:xfrm>
            <a:off x="6096000" y="6565900"/>
            <a:ext cx="0" cy="76200"/>
          </a:xfrm>
          <a:prstGeom prst="line">
            <a:avLst/>
          </a:prstGeom>
          <a:noFill/>
          <a:ln w="9525">
            <a:solidFill>
              <a:srgbClr val="3A3A42"/>
            </a:solidFill>
            <a:prstDash val="solid"/>
          </a:ln>
        </p:spPr>
      </p:sp>
      <p:sp>
        <p:nvSpPr>
          <p:cNvPr id="14" name="Shape 11"/>
          <p:cNvSpPr/>
          <p:nvPr/>
        </p:nvSpPr>
        <p:spPr>
          <a:xfrm>
            <a:off x="6858000" y="6565900"/>
            <a:ext cx="0" cy="76200"/>
          </a:xfrm>
          <a:prstGeom prst="line">
            <a:avLst/>
          </a:prstGeom>
          <a:noFill/>
          <a:ln w="9525">
            <a:solidFill>
              <a:srgbClr val="3A3A42"/>
            </a:solidFill>
            <a:prstDash val="solid"/>
          </a:ln>
        </p:spPr>
      </p:sp>
      <p:sp>
        <p:nvSpPr>
          <p:cNvPr id="15" name="Shape 12"/>
          <p:cNvSpPr/>
          <p:nvPr/>
        </p:nvSpPr>
        <p:spPr>
          <a:xfrm>
            <a:off x="7620000" y="6565900"/>
            <a:ext cx="0" cy="76200"/>
          </a:xfrm>
          <a:prstGeom prst="line">
            <a:avLst/>
          </a:prstGeom>
          <a:noFill/>
          <a:ln w="9525">
            <a:solidFill>
              <a:srgbClr val="3A3A42"/>
            </a:solidFill>
            <a:prstDash val="solid"/>
          </a:ln>
        </p:spPr>
      </p:sp>
      <p:sp>
        <p:nvSpPr>
          <p:cNvPr id="16" name="Shape 13"/>
          <p:cNvSpPr/>
          <p:nvPr/>
        </p:nvSpPr>
        <p:spPr>
          <a:xfrm>
            <a:off x="8382000" y="6565900"/>
            <a:ext cx="0" cy="76200"/>
          </a:xfrm>
          <a:prstGeom prst="line">
            <a:avLst/>
          </a:prstGeom>
          <a:noFill/>
          <a:ln w="9525">
            <a:solidFill>
              <a:srgbClr val="3A3A42"/>
            </a:solidFill>
            <a:prstDash val="solid"/>
          </a:ln>
        </p:spPr>
      </p:sp>
      <p:sp>
        <p:nvSpPr>
          <p:cNvPr id="17" name="Shape 14"/>
          <p:cNvSpPr/>
          <p:nvPr/>
        </p:nvSpPr>
        <p:spPr>
          <a:xfrm>
            <a:off x="9144000" y="6565900"/>
            <a:ext cx="0" cy="76200"/>
          </a:xfrm>
          <a:prstGeom prst="line">
            <a:avLst/>
          </a:prstGeom>
          <a:noFill/>
          <a:ln w="9525">
            <a:solidFill>
              <a:srgbClr val="3A3A42"/>
            </a:solidFill>
            <a:prstDash val="solid"/>
          </a:ln>
        </p:spPr>
      </p:sp>
      <p:sp>
        <p:nvSpPr>
          <p:cNvPr id="18" name="Shape 15"/>
          <p:cNvSpPr/>
          <p:nvPr/>
        </p:nvSpPr>
        <p:spPr>
          <a:xfrm>
            <a:off x="9906000" y="6565900"/>
            <a:ext cx="0" cy="76200"/>
          </a:xfrm>
          <a:prstGeom prst="line">
            <a:avLst/>
          </a:prstGeom>
          <a:noFill/>
          <a:ln w="9525">
            <a:solidFill>
              <a:srgbClr val="3A3A42"/>
            </a:solidFill>
            <a:prstDash val="solid"/>
          </a:ln>
        </p:spPr>
      </p:sp>
      <p:sp>
        <p:nvSpPr>
          <p:cNvPr id="19" name="Shape 16"/>
          <p:cNvSpPr/>
          <p:nvPr/>
        </p:nvSpPr>
        <p:spPr>
          <a:xfrm>
            <a:off x="10668000" y="6565900"/>
            <a:ext cx="0" cy="76200"/>
          </a:xfrm>
          <a:prstGeom prst="line">
            <a:avLst/>
          </a:prstGeom>
          <a:noFill/>
          <a:ln w="9525">
            <a:solidFill>
              <a:srgbClr val="3A3A42"/>
            </a:solidFill>
            <a:prstDash val="solid"/>
          </a:ln>
        </p:spPr>
      </p:sp>
      <p:sp>
        <p:nvSpPr>
          <p:cNvPr id="20" name="Shape 17"/>
          <p:cNvSpPr/>
          <p:nvPr/>
        </p:nvSpPr>
        <p:spPr>
          <a:xfrm>
            <a:off x="11430000" y="6565900"/>
            <a:ext cx="0" cy="76200"/>
          </a:xfrm>
          <a:prstGeom prst="line">
            <a:avLst/>
          </a:prstGeom>
          <a:noFill/>
          <a:ln w="9525">
            <a:solidFill>
              <a:srgbClr val="3A3A42"/>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6.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01</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450850" y="6546850"/>
            <a:ext cx="114300" cy="114300"/>
          </a:xfrm>
          <a:prstGeom prst="ellipse">
            <a:avLst/>
          </a:prstGeom>
          <a:solidFill>
            <a:srgbClr val="D9A91A"/>
          </a:solidFill>
          <a:ln w="38100">
            <a:solidFill>
              <a:srgbClr val="FFD75A"/>
            </a:solidFill>
            <a:prstDash val="solid"/>
          </a:ln>
        </p:spPr>
      </p:sp>
      <p:pic>
        <p:nvPicPr>
          <p:cNvPr id="4" name="Image 0" descr="C:\Users\vansh\Downloads\Vishu 2\presentation-build\pieces\seatmap.png">    </p:cNvPr>
          <p:cNvPicPr>
            <a:picLocks noChangeAspect="1"/>
          </p:cNvPicPr>
          <p:nvPr/>
        </p:nvPicPr>
        <p:blipFill>
          <a:blip r:embed="rId1"/>
          <a:stretch>
            <a:fillRect/>
          </a:stretch>
        </p:blipFill>
        <p:spPr>
          <a:xfrm>
            <a:off x="762000" y="1016000"/>
            <a:ext cx="5207000" cy="2012950"/>
          </a:xfrm>
          <a:prstGeom prst="rect">
            <a:avLst/>
          </a:prstGeom>
        </p:spPr>
      </p:pic>
      <p:sp>
        <p:nvSpPr>
          <p:cNvPr id="5" name="Text 2"/>
          <p:cNvSpPr txBox="1"/>
          <p:nvPr/>
        </p:nvSpPr>
        <p:spPr>
          <a:xfrm>
            <a:off x="7493000" y="1155700"/>
            <a:ext cx="406400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INNOTECH'26  ·  30 October 2026</a:t>
            </a:r>
            <a:endParaRPr lang="en-US" sz="1100" dirty="0"/>
          </a:p>
        </p:txBody>
      </p:sp>
      <p:sp>
        <p:nvSpPr>
          <p:cNvPr id="6" name="Text 3"/>
          <p:cNvSpPr txBox="1"/>
          <p:nvPr/>
        </p:nvSpPr>
        <p:spPr>
          <a:xfrm>
            <a:off x="7493000" y="1447800"/>
            <a:ext cx="4064000" cy="889000"/>
          </a:xfrm>
          <a:prstGeom prst="rect">
            <a:avLst/>
          </a:prstGeom>
          <a:noFill/>
          <a:ln/>
        </p:spPr>
        <p:txBody>
          <a:bodyPr wrap="square" lIns="0" tIns="0" rIns="0" bIns="0" rtlCol="0" anchor="t"/>
          <a:lstStyle/>
          <a:p>
            <a:pPr algn="l" indent="0" marL="0">
              <a:lnSpc>
                <a:spcPct val="100000"/>
              </a:lnSpc>
              <a:buNone/>
            </a:pPr>
            <a:r>
              <a:rPr lang="en-US" sz="2600" spc="-80" kern="0" dirty="0">
                <a:solidFill>
                  <a:srgbClr val="121214"/>
                </a:solidFill>
                <a:latin typeface="Segoe UI Semibold" pitchFamily="34" charset="0"/>
                <a:ea typeface="Segoe UI Semibold" pitchFamily="34" charset="-122"/>
                <a:cs typeface="Segoe UI Semibold" pitchFamily="34" charset="-120"/>
              </a:rPr>
              <a:t>Category 6 · Gen Z Budding Project Solutions</a:t>
            </a:r>
            <a:endParaRPr lang="en-US" sz="2600" dirty="0"/>
          </a:p>
        </p:txBody>
      </p:sp>
      <p:sp>
        <p:nvSpPr>
          <p:cNvPr id="7" name="Text 4"/>
          <p:cNvSpPr txBox="1"/>
          <p:nvPr/>
        </p:nvSpPr>
        <p:spPr>
          <a:xfrm>
            <a:off x="7493000" y="2362200"/>
            <a:ext cx="3810000" cy="444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Dept. of IT &amp; CSE (Cyber Security), KIET Deemed to be University</a:t>
            </a:r>
            <a:endParaRPr lang="en-US" sz="1400" dirty="0"/>
          </a:p>
        </p:txBody>
      </p:sp>
      <p:sp>
        <p:nvSpPr>
          <p:cNvPr id="8" name="team"/>
          <p:cNvSpPr txBox="1"/>
          <p:nvPr/>
        </p:nvSpPr>
        <p:spPr>
          <a:xfrm>
            <a:off x="7493000" y="2933700"/>
            <a:ext cx="3810000" cy="203200"/>
          </a:xfrm>
          <a:prstGeom prst="rect">
            <a:avLst/>
          </a:prstGeom>
          <a:noFill/>
          <a:ln/>
        </p:spPr>
        <p:txBody>
          <a:bodyPr wrap="square" lIns="0" tIns="0" rIns="0" bIns="0" rtlCol="0" anchor="t"/>
          <a:lstStyle/>
          <a:p>
            <a:pPr algn="l" indent="0" marL="0">
              <a:lnSpc>
                <a:spcPct val="112000"/>
              </a:lnSpc>
              <a:buNone/>
            </a:pPr>
            <a:r>
              <a:rPr lang="en-US" sz="1100" dirty="0">
                <a:solidFill>
                  <a:srgbClr val="3C3C42"/>
                </a:solidFill>
                <a:latin typeface="Consolas" pitchFamily="34" charset="0"/>
                <a:ea typeface="Consolas" pitchFamily="34" charset="-122"/>
                <a:cs typeface="Consolas" pitchFamily="34" charset="-120"/>
              </a:rPr>
              <a:t>Team Arrivo</a:t>
            </a:r>
            <a:endParaRPr lang="en-US" sz="1100" dirty="0"/>
          </a:p>
        </p:txBody>
      </p:sp>
      <p:sp>
        <p:nvSpPr>
          <p:cNvPr id="9" name="names"/>
          <p:cNvSpPr txBox="1"/>
          <p:nvPr/>
        </p:nvSpPr>
        <p:spPr>
          <a:xfrm>
            <a:off x="7493000" y="3187700"/>
            <a:ext cx="4064000" cy="482600"/>
          </a:xfrm>
          <a:prstGeom prst="rect">
            <a:avLst/>
          </a:prstGeom>
          <a:noFill/>
          <a:ln/>
        </p:spPr>
        <p:txBody>
          <a:bodyPr wrap="square" lIns="0" tIns="0" rIns="0" bIns="0" rtlCol="0" anchor="t"/>
          <a:lstStyle/>
          <a:p>
            <a:pPr algn="l" indent="0" marL="0">
              <a:lnSpc>
                <a:spcPct val="112000"/>
              </a:lnSpc>
              <a:buNone/>
            </a:pPr>
            <a:r>
              <a:rPr lang="en-US" sz="1300" dirty="0">
                <a:solidFill>
                  <a:srgbClr val="3C3C42"/>
                </a:solidFill>
                <a:latin typeface="Segoe UI" pitchFamily="34" charset="0"/>
                <a:ea typeface="Segoe UI" pitchFamily="34" charset="-122"/>
                <a:cs typeface="Segoe UI" pitchFamily="34" charset="-120"/>
              </a:rPr>
              <a:t>Krish Singh  ·  Kritika Sakhuja</a:t>
            </a:r>
            <a:endParaRPr lang="en-US" sz="1300" dirty="0"/>
          </a:p>
          <a:p>
            <a:pPr algn="l" indent="0" marL="0">
              <a:lnSpc>
                <a:spcPct val="112000"/>
              </a:lnSpc>
              <a:buNone/>
            </a:pPr>
            <a:r>
              <a:rPr lang="en-US" sz="1300" dirty="0">
                <a:solidFill>
                  <a:srgbClr val="3C3C42"/>
                </a:solidFill>
                <a:latin typeface="Segoe UI" pitchFamily="34" charset="0"/>
                <a:ea typeface="Segoe UI" pitchFamily="34" charset="-122"/>
                <a:cs typeface="Segoe UI" pitchFamily="34" charset="-120"/>
              </a:rPr>
              <a:t>Prisha Soam  ·  Vaibhav Kumar</a:t>
            </a:r>
            <a:endParaRPr lang="en-US" sz="1300" dirty="0"/>
          </a:p>
        </p:txBody>
      </p:sp>
      <p:sp>
        <p:nvSpPr>
          <p:cNvPr id="10" name="Text 7"/>
          <p:cNvSpPr txBox="1"/>
          <p:nvPr/>
        </p:nvSpPr>
        <p:spPr>
          <a:xfrm>
            <a:off x="609600" y="3873500"/>
            <a:ext cx="7112000" cy="2413000"/>
          </a:xfrm>
          <a:prstGeom prst="rect">
            <a:avLst/>
          </a:prstGeom>
          <a:noFill/>
          <a:ln/>
        </p:spPr>
        <p:txBody>
          <a:bodyPr wrap="square" lIns="0" tIns="0" rIns="0" bIns="0" rtlCol="0" anchor="b"/>
          <a:lstStyle/>
          <a:p>
            <a:pPr algn="l" indent="0" marL="0">
              <a:lnSpc>
                <a:spcPct val="80000"/>
              </a:lnSpc>
              <a:buNone/>
            </a:pPr>
            <a:r>
              <a:rPr lang="en-US" sz="19200" spc="-900" kern="0" dirty="0">
                <a:solidFill>
                  <a:srgbClr val="121214"/>
                </a:solidFill>
                <a:latin typeface="Segoe UI Semibold" pitchFamily="34" charset="0"/>
                <a:ea typeface="Segoe UI Semibold" pitchFamily="34" charset="-122"/>
                <a:cs typeface="Segoe UI Semibold" pitchFamily="34" charset="-120"/>
              </a:rPr>
              <a:t>arrivo</a:t>
            </a:r>
            <a:endParaRPr lang="en-US" sz="19200" dirty="0"/>
          </a:p>
        </p:txBody>
      </p:sp>
      <p:sp>
        <p:nvSpPr>
          <p:cNvPr id="11" name="Shape 8"/>
          <p:cNvSpPr/>
          <p:nvPr/>
        </p:nvSpPr>
        <p:spPr>
          <a:xfrm>
            <a:off x="6540500" y="5219700"/>
            <a:ext cx="533400" cy="533400"/>
          </a:xfrm>
          <a:prstGeom prst="ellipse">
            <a:avLst/>
          </a:prstGeom>
          <a:solidFill>
            <a:srgbClr val="FFD75A"/>
          </a:solidFill>
          <a:ln w="12700">
            <a:solidFill>
              <a:srgbClr val="FFD75A"/>
            </a:solidFill>
            <a:prstDash val="solid"/>
          </a:ln>
        </p:spPr>
      </p:sp>
      <p:sp>
        <p:nvSpPr>
          <p:cNvPr id="12" name="Text 9"/>
          <p:cNvSpPr txBox="1"/>
          <p:nvPr/>
        </p:nvSpPr>
        <p:spPr>
          <a:xfrm>
            <a:off x="7493000" y="4699000"/>
            <a:ext cx="3937000" cy="1143000"/>
          </a:xfrm>
          <a:prstGeom prst="rect">
            <a:avLst/>
          </a:prstGeom>
          <a:noFill/>
          <a:ln/>
        </p:spPr>
        <p:txBody>
          <a:bodyPr wrap="square" lIns="0" tIns="0" rIns="0" bIns="0" rtlCol="0" anchor="t"/>
          <a:lstStyle/>
          <a:p>
            <a:pPr algn="l" indent="0" marL="0">
              <a:lnSpc>
                <a:spcPct val="98000"/>
              </a:lnSpc>
              <a:buNone/>
            </a:pPr>
            <a:r>
              <a:rPr lang="en-US" sz="3300" spc="-100" kern="0" dirty="0">
                <a:solidFill>
                  <a:srgbClr val="121214"/>
                </a:solidFill>
                <a:latin typeface="Segoe UI Semibold" pitchFamily="34" charset="0"/>
                <a:ea typeface="Segoe UI Semibold" pitchFamily="34" charset="-122"/>
                <a:cs typeface="Segoe UI Semibold" pitchFamily="34" charset="-120"/>
              </a:rPr>
              <a:t>Park like you booked a seat.</a:t>
            </a:r>
            <a:endParaRPr lang="en-US" sz="3300" dirty="0"/>
          </a:p>
        </p:txBody>
      </p:sp>
    </p:spTree>
  </p:cSld>
  <p:clrMapOvr>
    <a:masterClrMapping/>
  </p:clrMapOvr>
  <p:transition xmlns:p14="http://schemas.microsoft.com/office/powerpoint/2010/main" spd="slow" p14:dur="8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02</a:t>
            </a:r>
            <a:pPr algn="r" indent="0" marL="0">
              <a:buNone/>
            </a:pPr>
            <a:r>
              <a:rPr lang="en-US" sz="1000" dirty="0">
                <a:solidFill>
                  <a:srgbClr val="5E5E67"/>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1108262"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6629400" y="203200"/>
            <a:ext cx="4038600" cy="279400"/>
          </a:xfrm>
          <a:prstGeom prst="roundRect">
            <a:avLst>
              <a:gd name="adj" fmla="val 50000"/>
            </a:avLst>
          </a:prstGeom>
          <a:solidFill>
            <a:srgbClr val="060608"/>
          </a:solidFill>
          <a:ln w="12700">
            <a:solidFill>
              <a:srgbClr val="3A3A42"/>
            </a:solidFill>
            <a:prstDash val="solid"/>
          </a:ln>
        </p:spPr>
      </p:sp>
      <p:sp>
        <p:nvSpPr>
          <p:cNvPr id="5" name="!!tagdot"/>
          <p:cNvSpPr/>
          <p:nvPr/>
        </p:nvSpPr>
        <p:spPr>
          <a:xfrm>
            <a:off x="67437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6858000" y="203200"/>
            <a:ext cx="3784600" cy="279400"/>
          </a:xfrm>
          <a:prstGeom prst="rect">
            <a:avLst/>
          </a:prstGeom>
          <a:noFill/>
          <a:ln/>
        </p:spPr>
        <p:txBody>
          <a:bodyPr wrap="none" lIns="0" tIns="0" rIns="0" bIns="0" rtlCol="0" anchor="ctr"/>
          <a:lstStyle/>
          <a:p>
            <a:pPr indent="0" marL="0">
              <a:buNone/>
            </a:pPr>
            <a:r>
              <a:rPr lang="en-US" sz="900" b="1" dirty="0">
                <a:solidFill>
                  <a:srgbClr val="F0F0F3"/>
                </a:solidFill>
                <a:latin typeface="Consolas" pitchFamily="34" charset="0"/>
                <a:ea typeface="Consolas" pitchFamily="34" charset="-122"/>
                <a:cs typeface="Consolas" pitchFamily="34" charset="-120"/>
              </a:rPr>
              <a:t>Concept &amp; Originality</a:t>
            </a:r>
            <a:pPr indent="0" marL="0">
              <a:buNone/>
            </a:pPr>
            <a:r>
              <a:rPr lang="en-US" sz="900" dirty="0">
                <a:solidFill>
                  <a:srgbClr val="B7B7BF"/>
                </a:solidFill>
                <a:latin typeface="Consolas" pitchFamily="34" charset="0"/>
                <a:ea typeface="Consolas" pitchFamily="34" charset="-122"/>
                <a:cs typeface="Consolas" pitchFamily="34" charset="-120"/>
              </a:rPr>
              <a:t>  ·  Understanding of the problem</a:t>
            </a:r>
            <a:endParaRPr lang="en-US" sz="900" dirty="0"/>
          </a:p>
        </p:txBody>
      </p:sp>
      <p:sp>
        <p:nvSpPr>
          <p:cNvPr id="7" name="Text 5"/>
          <p:cNvSpPr txBox="1"/>
          <p:nvPr/>
        </p:nvSpPr>
        <p:spPr>
          <a:xfrm>
            <a:off x="762000" y="952500"/>
            <a:ext cx="5715000" cy="254000"/>
          </a:xfrm>
          <a:prstGeom prst="rect">
            <a:avLst/>
          </a:prstGeom>
          <a:noFill/>
          <a:ln/>
        </p:spPr>
        <p:txBody>
          <a:bodyPr wrap="square" lIns="0" tIns="0" rIns="0" bIns="0" rtlCol="0" anchor="t"/>
          <a:lstStyle/>
          <a:p>
            <a:pPr algn="l" indent="0" marL="0">
              <a:lnSpc>
                <a:spcPct val="112000"/>
              </a:lnSpc>
              <a:buNone/>
            </a:pPr>
            <a:r>
              <a:rPr lang="en-US" sz="1100" b="1" dirty="0">
                <a:solidFill>
                  <a:srgbClr val="F3CF6B"/>
                </a:solidFill>
                <a:latin typeface="Consolas" pitchFamily="34" charset="0"/>
                <a:ea typeface="Consolas" pitchFamily="34" charset="-122"/>
                <a:cs typeface="Consolas" pitchFamily="34" charset="-120"/>
              </a:rPr>
              <a:t>01</a:t>
            </a:r>
            <a:pPr algn="l" indent="0" marL="0">
              <a:lnSpc>
                <a:spcPct val="112000"/>
              </a:lnSpc>
              <a:buNone/>
            </a:pPr>
            <a:r>
              <a:rPr lang="en-US" sz="1100" dirty="0">
                <a:solidFill>
                  <a:srgbClr val="8A8A94"/>
                </a:solidFill>
                <a:latin typeface="Consolas" pitchFamily="34" charset="0"/>
                <a:ea typeface="Consolas" pitchFamily="34" charset="-122"/>
                <a:cs typeface="Consolas" pitchFamily="34" charset="-120"/>
              </a:rPr>
              <a:t>  ——  Every weekday morning</a:t>
            </a:r>
            <a:endParaRPr lang="en-US" sz="1100" dirty="0"/>
          </a:p>
        </p:txBody>
      </p:sp>
      <p:sp>
        <p:nvSpPr>
          <p:cNvPr id="8" name="Text 6"/>
          <p:cNvSpPr txBox="1"/>
          <p:nvPr/>
        </p:nvSpPr>
        <p:spPr>
          <a:xfrm>
            <a:off x="660400" y="1244600"/>
            <a:ext cx="5715000" cy="1587500"/>
          </a:xfrm>
          <a:prstGeom prst="rect">
            <a:avLst/>
          </a:prstGeom>
          <a:noFill/>
          <a:ln/>
        </p:spPr>
        <p:txBody>
          <a:bodyPr wrap="square" lIns="0" tIns="0" rIns="0" bIns="0" rtlCol="0" anchor="t"/>
          <a:lstStyle/>
          <a:p>
            <a:pPr algn="l" indent="0" marL="0">
              <a:lnSpc>
                <a:spcPct val="85000"/>
              </a:lnSpc>
              <a:buNone/>
            </a:pPr>
            <a:r>
              <a:rPr lang="en-US" sz="12000" spc="-600" kern="0" dirty="0">
                <a:solidFill>
                  <a:srgbClr val="FFD75A"/>
                </a:solidFill>
                <a:latin typeface="Segoe UI Semibold" pitchFamily="34" charset="0"/>
                <a:ea typeface="Segoe UI Semibold" pitchFamily="34" charset="-122"/>
                <a:cs typeface="Segoe UI Semibold" pitchFamily="34" charset="-120"/>
              </a:rPr>
              <a:t>09:58</a:t>
            </a:r>
            <a:endParaRPr lang="en-US" sz="12000" dirty="0"/>
          </a:p>
        </p:txBody>
      </p:sp>
      <p:sp>
        <p:nvSpPr>
          <p:cNvPr id="9" name="Text 7"/>
          <p:cNvSpPr txBox="1"/>
          <p:nvPr/>
        </p:nvSpPr>
        <p:spPr>
          <a:xfrm>
            <a:off x="762000" y="2870200"/>
            <a:ext cx="5588000" cy="1270000"/>
          </a:xfrm>
          <a:prstGeom prst="rect">
            <a:avLst/>
          </a:prstGeom>
          <a:noFill/>
          <a:ln/>
        </p:spPr>
        <p:txBody>
          <a:bodyPr wrap="square" lIns="0" tIns="0" rIns="0" bIns="0" rtlCol="0" anchor="t"/>
          <a:lstStyle/>
          <a:p>
            <a:pPr algn="l" indent="0" marL="0">
              <a:lnSpc>
                <a:spcPct val="95000"/>
              </a:lnSpc>
              <a:buNone/>
            </a:pPr>
            <a:r>
              <a:rPr lang="en-US" sz="4000" spc="-120" kern="0" dirty="0">
                <a:solidFill>
                  <a:srgbClr val="F0F0F3"/>
                </a:solidFill>
                <a:latin typeface="Segoe UI Semibold" pitchFamily="34" charset="0"/>
                <a:ea typeface="Segoe UI Semibold" pitchFamily="34" charset="-122"/>
                <a:cs typeface="Segoe UI Semibold" pitchFamily="34" charset="-120"/>
              </a:rPr>
              <a:t>The lot is full. You just don't know it yet.</a:t>
            </a:r>
            <a:endParaRPr lang="en-US" sz="4000" dirty="0"/>
          </a:p>
        </p:txBody>
      </p:sp>
      <p:sp>
        <p:nvSpPr>
          <p:cNvPr id="10" name="Text 8"/>
          <p:cNvSpPr txBox="1"/>
          <p:nvPr/>
        </p:nvSpPr>
        <p:spPr>
          <a:xfrm>
            <a:off x="762000" y="4000500"/>
            <a:ext cx="5207000" cy="762000"/>
          </a:xfrm>
          <a:prstGeom prst="rect">
            <a:avLst/>
          </a:prstGeom>
          <a:noFill/>
          <a:ln/>
        </p:spPr>
        <p:txBody>
          <a:bodyPr wrap="square" lIns="0" tIns="0" rIns="0" bIns="0" rtlCol="0" anchor="t"/>
          <a:lstStyle/>
          <a:p>
            <a:pPr algn="l" indent="0" marL="0">
              <a:lnSpc>
                <a:spcPct val="112000"/>
              </a:lnSpc>
              <a:buNone/>
            </a:pPr>
            <a:r>
              <a:rPr lang="en-US" sz="1500" dirty="0">
                <a:solidFill>
                  <a:srgbClr val="8A8A94"/>
                </a:solidFill>
                <a:latin typeface="Segoe UI" pitchFamily="34" charset="0"/>
                <a:ea typeface="Segoe UI" pitchFamily="34" charset="-122"/>
                <a:cs typeface="Segoe UI" pitchFamily="34" charset="-120"/>
              </a:rPr>
              <a:t>So you circle. Row A, row C, back past the gate. The lecture starts without you, and the car behind you is doing the same lap.</a:t>
            </a:r>
            <a:endParaRPr lang="en-US" sz="1500" dirty="0"/>
          </a:p>
        </p:txBody>
      </p:sp>
      <p:pic>
        <p:nvPicPr>
          <p:cNvPr id="11" name="Image 0" descr="C:\Users\vansh\Downloads\Vishu 2\presentation-build\pieces\circling.png">    </p:cNvPr>
          <p:cNvPicPr>
            <a:picLocks noChangeAspect="1"/>
          </p:cNvPicPr>
          <p:nvPr/>
        </p:nvPicPr>
        <p:blipFill>
          <a:blip r:embed="rId1"/>
          <a:stretch>
            <a:fillRect/>
          </a:stretch>
        </p:blipFill>
        <p:spPr>
          <a:xfrm>
            <a:off x="6604000" y="952500"/>
            <a:ext cx="4826000" cy="3810000"/>
          </a:xfrm>
          <a:prstGeom prst="rect">
            <a:avLst/>
          </a:prstGeom>
        </p:spPr>
      </p:pic>
      <p:sp>
        <p:nvSpPr>
          <p:cNvPr id="12" name="Shape 9"/>
          <p:cNvSpPr/>
          <p:nvPr/>
        </p:nvSpPr>
        <p:spPr>
          <a:xfrm>
            <a:off x="762000" y="5016500"/>
            <a:ext cx="10668000" cy="0"/>
          </a:xfrm>
          <a:prstGeom prst="line">
            <a:avLst/>
          </a:prstGeom>
          <a:noFill/>
          <a:ln w="12700">
            <a:solidFill>
              <a:srgbClr val="3A3A42"/>
            </a:solidFill>
            <a:prstDash val="solid"/>
          </a:ln>
        </p:spPr>
      </p:sp>
      <p:sp>
        <p:nvSpPr>
          <p:cNvPr id="13" name="Text 10"/>
          <p:cNvSpPr txBox="1"/>
          <p:nvPr/>
        </p:nvSpPr>
        <p:spPr>
          <a:xfrm>
            <a:off x="762000" y="5156200"/>
            <a:ext cx="3302000" cy="698500"/>
          </a:xfrm>
          <a:prstGeom prst="rect">
            <a:avLst/>
          </a:prstGeom>
          <a:noFill/>
          <a:ln/>
        </p:spPr>
        <p:txBody>
          <a:bodyPr wrap="square" lIns="0" tIns="0" rIns="0" bIns="0" rtlCol="0" anchor="t"/>
          <a:lstStyle/>
          <a:p>
            <a:pPr algn="l" indent="0" marL="0">
              <a:lnSpc>
                <a:spcPct val="85000"/>
              </a:lnSpc>
              <a:buNone/>
            </a:pPr>
            <a:r>
              <a:rPr lang="en-US" sz="5400" spc="-300" kern="0" dirty="0">
                <a:solidFill>
                  <a:srgbClr val="F0F0F3"/>
                </a:solidFill>
                <a:latin typeface="Segoe UI Semibold" pitchFamily="34" charset="0"/>
                <a:ea typeface="Segoe UI Semibold" pitchFamily="34" charset="-122"/>
                <a:cs typeface="Segoe UI Semibold" pitchFamily="34" charset="-120"/>
              </a:rPr>
              <a:t>30%</a:t>
            </a:r>
            <a:endParaRPr lang="en-US" sz="5400" dirty="0"/>
          </a:p>
        </p:txBody>
      </p:sp>
      <p:sp>
        <p:nvSpPr>
          <p:cNvPr id="14" name="Text 11"/>
          <p:cNvSpPr txBox="1"/>
          <p:nvPr/>
        </p:nvSpPr>
        <p:spPr>
          <a:xfrm>
            <a:off x="762000" y="5778500"/>
            <a:ext cx="3175000" cy="444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of traffic in busy city centres is drivers cruising for a parking space.</a:t>
            </a:r>
            <a:endParaRPr lang="en-US" sz="1200" dirty="0"/>
          </a:p>
        </p:txBody>
      </p:sp>
      <p:sp>
        <p:nvSpPr>
          <p:cNvPr id="15" name="Text 12"/>
          <p:cNvSpPr txBox="1"/>
          <p:nvPr/>
        </p:nvSpPr>
        <p:spPr>
          <a:xfrm>
            <a:off x="762000" y="6235700"/>
            <a:ext cx="3175000" cy="152400"/>
          </a:xfrm>
          <a:prstGeom prst="rect">
            <a:avLst/>
          </a:prstGeom>
          <a:noFill/>
          <a:ln/>
        </p:spPr>
        <p:txBody>
          <a:bodyPr wrap="square" lIns="0" tIns="0" rIns="0" bIns="0" rtlCol="0" anchor="t"/>
          <a:lstStyle/>
          <a:p>
            <a:pPr algn="l" indent="0" marL="0">
              <a:lnSpc>
                <a:spcPct val="112000"/>
              </a:lnSpc>
              <a:buNone/>
            </a:pPr>
            <a:r>
              <a:rPr lang="en-US" sz="900" dirty="0">
                <a:solidFill>
                  <a:srgbClr val="5E5E67"/>
                </a:solidFill>
                <a:latin typeface="Consolas" pitchFamily="34" charset="0"/>
                <a:ea typeface="Consolas" pitchFamily="34" charset="-122"/>
                <a:cs typeface="Consolas" pitchFamily="34" charset="-120"/>
              </a:rPr>
              <a:t>Shoup, "Cruising for parking", 2006</a:t>
            </a:r>
            <a:endParaRPr lang="en-US" sz="900" dirty="0"/>
          </a:p>
        </p:txBody>
      </p:sp>
      <p:sp>
        <p:nvSpPr>
          <p:cNvPr id="16" name="Text 13"/>
          <p:cNvSpPr txBox="1"/>
          <p:nvPr/>
        </p:nvSpPr>
        <p:spPr>
          <a:xfrm>
            <a:off x="4445000" y="5156200"/>
            <a:ext cx="3302000" cy="698500"/>
          </a:xfrm>
          <a:prstGeom prst="rect">
            <a:avLst/>
          </a:prstGeom>
          <a:noFill/>
          <a:ln/>
        </p:spPr>
        <p:txBody>
          <a:bodyPr wrap="square" lIns="0" tIns="0" rIns="0" bIns="0" rtlCol="0" anchor="t"/>
          <a:lstStyle/>
          <a:p>
            <a:pPr algn="l" indent="0" marL="0">
              <a:lnSpc>
                <a:spcPct val="85000"/>
              </a:lnSpc>
              <a:buNone/>
            </a:pPr>
            <a:r>
              <a:rPr lang="en-US" sz="5400" spc="-300" kern="0" dirty="0">
                <a:solidFill>
                  <a:srgbClr val="F0F0F3"/>
                </a:solidFill>
                <a:latin typeface="Segoe UI Semibold" pitchFamily="34" charset="0"/>
                <a:ea typeface="Segoe UI Semibold" pitchFamily="34" charset="-122"/>
                <a:cs typeface="Segoe UI Semibold" pitchFamily="34" charset="-120"/>
              </a:rPr>
              <a:t>17 h</a:t>
            </a:r>
            <a:endParaRPr lang="en-US" sz="5400" dirty="0"/>
          </a:p>
        </p:txBody>
      </p:sp>
      <p:sp>
        <p:nvSpPr>
          <p:cNvPr id="17" name="Text 14"/>
          <p:cNvSpPr txBox="1"/>
          <p:nvPr/>
        </p:nvSpPr>
        <p:spPr>
          <a:xfrm>
            <a:off x="4445000" y="5778500"/>
            <a:ext cx="3175000" cy="444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a year the average driver spends hunting for parking.</a:t>
            </a:r>
            <a:endParaRPr lang="en-US" sz="1200" dirty="0"/>
          </a:p>
        </p:txBody>
      </p:sp>
      <p:sp>
        <p:nvSpPr>
          <p:cNvPr id="18" name="Text 15"/>
          <p:cNvSpPr txBox="1"/>
          <p:nvPr/>
        </p:nvSpPr>
        <p:spPr>
          <a:xfrm>
            <a:off x="4445000" y="6235700"/>
            <a:ext cx="3175000" cy="152400"/>
          </a:xfrm>
          <a:prstGeom prst="rect">
            <a:avLst/>
          </a:prstGeom>
          <a:noFill/>
          <a:ln/>
        </p:spPr>
        <p:txBody>
          <a:bodyPr wrap="square" lIns="0" tIns="0" rIns="0" bIns="0" rtlCol="0" anchor="t"/>
          <a:lstStyle/>
          <a:p>
            <a:pPr algn="l" indent="0" marL="0">
              <a:lnSpc>
                <a:spcPct val="112000"/>
              </a:lnSpc>
              <a:buNone/>
            </a:pPr>
            <a:r>
              <a:rPr lang="en-US" sz="900" dirty="0">
                <a:solidFill>
                  <a:srgbClr val="5E5E67"/>
                </a:solidFill>
                <a:latin typeface="Consolas" pitchFamily="34" charset="0"/>
                <a:ea typeface="Consolas" pitchFamily="34" charset="-122"/>
                <a:cs typeface="Consolas" pitchFamily="34" charset="-120"/>
              </a:rPr>
              <a:t>INRIX parking study, 2017</a:t>
            </a:r>
            <a:endParaRPr lang="en-US" sz="900" dirty="0"/>
          </a:p>
        </p:txBody>
      </p:sp>
      <p:sp>
        <p:nvSpPr>
          <p:cNvPr id="19" name="Text 16"/>
          <p:cNvSpPr txBox="1"/>
          <p:nvPr/>
        </p:nvSpPr>
        <p:spPr>
          <a:xfrm>
            <a:off x="8128000" y="5156200"/>
            <a:ext cx="3302000" cy="698500"/>
          </a:xfrm>
          <a:prstGeom prst="rect">
            <a:avLst/>
          </a:prstGeom>
          <a:noFill/>
          <a:ln/>
        </p:spPr>
        <p:txBody>
          <a:bodyPr wrap="square" lIns="0" tIns="0" rIns="0" bIns="0" rtlCol="0" anchor="t"/>
          <a:lstStyle/>
          <a:p>
            <a:pPr algn="l" indent="0" marL="0">
              <a:lnSpc>
                <a:spcPct val="85000"/>
              </a:lnSpc>
              <a:buNone/>
            </a:pPr>
            <a:r>
              <a:rPr lang="en-US" sz="5400" spc="-300" kern="0" dirty="0">
                <a:solidFill>
                  <a:srgbClr val="FFD75A"/>
                </a:solidFill>
                <a:latin typeface="Segoe UI Semibold" pitchFamily="34" charset="0"/>
                <a:ea typeface="Segoe UI Semibold" pitchFamily="34" charset="-122"/>
                <a:cs typeface="Segoe UI Semibold" pitchFamily="34" charset="-120"/>
              </a:rPr>
              <a:t>0</a:t>
            </a:r>
            <a:endParaRPr lang="en-US" sz="5400" dirty="0"/>
          </a:p>
        </p:txBody>
      </p:sp>
      <p:sp>
        <p:nvSpPr>
          <p:cNvPr id="20" name="Text 17"/>
          <p:cNvSpPr txBox="1"/>
          <p:nvPr/>
        </p:nvSpPr>
        <p:spPr>
          <a:xfrm>
            <a:off x="8128000" y="5778500"/>
            <a:ext cx="3175000" cy="444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ways to know which of the 96 bays at KIET is free before you drive in. Until now.</a:t>
            </a:r>
            <a:endParaRPr lang="en-US" sz="1200" dirty="0"/>
          </a:p>
        </p:txBody>
      </p:sp>
      <p:sp>
        <p:nvSpPr>
          <p:cNvPr id="21" name="Text 18"/>
          <p:cNvSpPr txBox="1"/>
          <p:nvPr/>
        </p:nvSpPr>
        <p:spPr>
          <a:xfrm>
            <a:off x="8128000" y="6235700"/>
            <a:ext cx="3175000" cy="152400"/>
          </a:xfrm>
          <a:prstGeom prst="rect">
            <a:avLst/>
          </a:prstGeom>
          <a:noFill/>
          <a:ln/>
        </p:spPr>
        <p:txBody>
          <a:bodyPr wrap="square" lIns="0" tIns="0" rIns="0" bIns="0" rtlCol="0" anchor="t"/>
          <a:lstStyle/>
          <a:p>
            <a:pPr algn="l" indent="0" marL="0">
              <a:lnSpc>
                <a:spcPct val="112000"/>
              </a:lnSpc>
              <a:buNone/>
            </a:pPr>
            <a:r>
              <a:rPr lang="en-US" sz="900" dirty="0">
                <a:solidFill>
                  <a:srgbClr val="5E5E67"/>
                </a:solidFill>
                <a:latin typeface="Consolas" pitchFamily="34" charset="0"/>
                <a:ea typeface="Consolas" pitchFamily="34" charset="-122"/>
                <a:cs typeface="Consolas" pitchFamily="34" charset="-120"/>
              </a:rPr>
              <a:t>our count of the KIET main lot</a:t>
            </a:r>
            <a:endParaRPr lang="en-US" sz="900" dirty="0"/>
          </a:p>
        </p:txBody>
      </p:sp>
    </p:spTree>
  </p:cSld>
  <p:clrMapOvr>
    <a:masterClrMapping/>
  </p:clrMapOvr>
  <p:transition xmlns:p14="http://schemas.microsoft.com/office/powerpoint/2010/main" spd="slow" p14:dur="1100">
    <p:fade thruBlk="1"/>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03</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1765674"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6629400" y="203200"/>
            <a:ext cx="40386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67437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6858000" y="203200"/>
            <a:ext cx="37846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Concept &amp; Originality</a:t>
            </a:r>
            <a:pPr indent="0" marL="0">
              <a:buNone/>
            </a:pPr>
            <a:r>
              <a:rPr lang="en-US" sz="900" dirty="0">
                <a:solidFill>
                  <a:srgbClr val="3C3C42"/>
                </a:solidFill>
                <a:latin typeface="Consolas" pitchFamily="34" charset="0"/>
                <a:ea typeface="Consolas" pitchFamily="34" charset="-122"/>
                <a:cs typeface="Consolas" pitchFamily="34" charset="-120"/>
              </a:rPr>
              <a:t>  ·  Understanding of the problem</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02</a:t>
            </a:r>
            <a:pPr algn="l" indent="0" marL="0">
              <a:buNone/>
            </a:pPr>
            <a:r>
              <a:rPr lang="en-US" sz="1100" dirty="0">
                <a:solidFill>
                  <a:srgbClr val="62626A"/>
                </a:solidFill>
                <a:latin typeface="Consolas" pitchFamily="34" charset="0"/>
                <a:ea typeface="Consolas" pitchFamily="34" charset="-122"/>
                <a:cs typeface="Consolas" pitchFamily="34" charset="-120"/>
              </a:rPr>
              <a:t>  ——  Why it keeps happening</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First come, first guessed.</a:t>
            </a:r>
            <a:endParaRPr lang="en-US" sz="4400" dirty="0"/>
          </a:p>
        </p:txBody>
      </p:sp>
      <p:sp>
        <p:nvSpPr>
          <p:cNvPr id="9" name="Text 7"/>
          <p:cNvSpPr txBox="1"/>
          <p:nvPr/>
        </p:nvSpPr>
        <p:spPr>
          <a:xfrm>
            <a:off x="762000" y="2032000"/>
            <a:ext cx="6985000" cy="571500"/>
          </a:xfrm>
          <a:prstGeom prst="rect">
            <a:avLst/>
          </a:prstGeom>
          <a:noFill/>
          <a:ln/>
        </p:spPr>
        <p:txBody>
          <a:bodyPr wrap="square" lIns="0" tIns="0" rIns="0" bIns="0" rtlCol="0" anchor="t"/>
          <a:lstStyle/>
          <a:p>
            <a:pPr algn="l" indent="0" marL="0">
              <a:lnSpc>
                <a:spcPct val="112000"/>
              </a:lnSpc>
              <a:buNone/>
            </a:pPr>
            <a:r>
              <a:rPr lang="en-US" sz="1800" dirty="0">
                <a:solidFill>
                  <a:srgbClr val="3C3C42"/>
                </a:solidFill>
                <a:latin typeface="Segoe UI" pitchFamily="34" charset="0"/>
                <a:ea typeface="Segoe UI" pitchFamily="34" charset="-122"/>
                <a:cs typeface="Segoe UI" pitchFamily="34" charset="-120"/>
              </a:rPr>
              <a:t>The problem isn't too few bays. It's that nobody can see them, book them, or plan them.</a:t>
            </a:r>
            <a:endParaRPr lang="en-US" sz="1800" dirty="0"/>
          </a:p>
        </p:txBody>
      </p:sp>
      <p:sp>
        <p:nvSpPr>
          <p:cNvPr id="10" name="!!card0"/>
          <p:cNvSpPr/>
          <p:nvPr/>
        </p:nvSpPr>
        <p:spPr>
          <a:xfrm>
            <a:off x="762000" y="2921000"/>
            <a:ext cx="2571750" cy="3048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pic>
        <p:nvPicPr>
          <p:cNvPr id="11" name="Image 0" descr="C:\Users\vansh\Downloads\Vishu 2\presentation-build\pieces\cause1.png">    </p:cNvPr>
          <p:cNvPicPr>
            <a:picLocks noChangeAspect="1"/>
          </p:cNvPicPr>
          <p:nvPr/>
        </p:nvPicPr>
        <p:blipFill>
          <a:blip r:embed="rId1"/>
          <a:stretch>
            <a:fillRect/>
          </a:stretch>
        </p:blipFill>
        <p:spPr>
          <a:xfrm>
            <a:off x="977900" y="3136900"/>
            <a:ext cx="2139950" cy="825500"/>
          </a:xfrm>
          <a:prstGeom prst="rect">
            <a:avLst/>
          </a:prstGeom>
        </p:spPr>
      </p:pic>
      <p:sp>
        <p:nvSpPr>
          <p:cNvPr id="12" name="Text 9"/>
          <p:cNvSpPr txBox="1"/>
          <p:nvPr/>
        </p:nvSpPr>
        <p:spPr>
          <a:xfrm>
            <a:off x="977900" y="41275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01</a:t>
            </a:r>
            <a:endParaRPr lang="en-US" sz="1000" dirty="0"/>
          </a:p>
        </p:txBody>
      </p:sp>
      <p:sp>
        <p:nvSpPr>
          <p:cNvPr id="13" name="Text 10"/>
          <p:cNvSpPr txBox="1"/>
          <p:nvPr/>
        </p:nvSpPr>
        <p:spPr>
          <a:xfrm>
            <a:off x="977900" y="4330700"/>
            <a:ext cx="2159000" cy="3175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No visibility</a:t>
            </a:r>
            <a:endParaRPr lang="en-US" sz="2100" dirty="0"/>
          </a:p>
        </p:txBody>
      </p:sp>
      <p:sp>
        <p:nvSpPr>
          <p:cNvPr id="14" name="Text 11"/>
          <p:cNvSpPr txBox="1"/>
          <p:nvPr/>
        </p:nvSpPr>
        <p:spPr>
          <a:xfrm>
            <a:off x="977900" y="4711700"/>
            <a:ext cx="2159000" cy="1079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From the gate you can't tell which of 96 bays is empty, so you go and look.</a:t>
            </a:r>
            <a:endParaRPr lang="en-US" sz="1400" dirty="0"/>
          </a:p>
        </p:txBody>
      </p:sp>
      <p:sp>
        <p:nvSpPr>
          <p:cNvPr id="15" name="!!card1"/>
          <p:cNvSpPr/>
          <p:nvPr/>
        </p:nvSpPr>
        <p:spPr>
          <a:xfrm>
            <a:off x="3460750" y="2921000"/>
            <a:ext cx="2571750" cy="3048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pic>
        <p:nvPicPr>
          <p:cNvPr id="16" name="Image 1" descr="C:\Users\vansh\Downloads\Vishu 2\presentation-build\pieces\cause2.png">    </p:cNvPr>
          <p:cNvPicPr>
            <a:picLocks noChangeAspect="1"/>
          </p:cNvPicPr>
          <p:nvPr/>
        </p:nvPicPr>
        <p:blipFill>
          <a:blip r:embed="rId2"/>
          <a:stretch>
            <a:fillRect/>
          </a:stretch>
        </p:blipFill>
        <p:spPr>
          <a:xfrm>
            <a:off x="3676650" y="3136900"/>
            <a:ext cx="2139950" cy="825500"/>
          </a:xfrm>
          <a:prstGeom prst="rect">
            <a:avLst/>
          </a:prstGeom>
        </p:spPr>
      </p:pic>
      <p:sp>
        <p:nvSpPr>
          <p:cNvPr id="17" name="Text 13"/>
          <p:cNvSpPr txBox="1"/>
          <p:nvPr/>
        </p:nvSpPr>
        <p:spPr>
          <a:xfrm>
            <a:off x="3676650" y="41275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02</a:t>
            </a:r>
            <a:endParaRPr lang="en-US" sz="1000" dirty="0"/>
          </a:p>
        </p:txBody>
      </p:sp>
      <p:sp>
        <p:nvSpPr>
          <p:cNvPr id="18" name="Text 14"/>
          <p:cNvSpPr txBox="1"/>
          <p:nvPr/>
        </p:nvSpPr>
        <p:spPr>
          <a:xfrm>
            <a:off x="3676650" y="4330700"/>
            <a:ext cx="2159000" cy="3175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No booking</a:t>
            </a:r>
            <a:endParaRPr lang="en-US" sz="2100" dirty="0"/>
          </a:p>
        </p:txBody>
      </p:sp>
      <p:sp>
        <p:nvSpPr>
          <p:cNvPr id="19" name="Text 15"/>
          <p:cNvSpPr txBox="1"/>
          <p:nvPr/>
        </p:nvSpPr>
        <p:spPr>
          <a:xfrm>
            <a:off x="3676650" y="4711700"/>
            <a:ext cx="2159000" cy="1079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Seats, trains and tables can all be booked. A 2.5 × 5 m bay still can't.</a:t>
            </a:r>
            <a:endParaRPr lang="en-US" sz="1400" dirty="0"/>
          </a:p>
        </p:txBody>
      </p:sp>
      <p:sp>
        <p:nvSpPr>
          <p:cNvPr id="20" name="!!card2"/>
          <p:cNvSpPr/>
          <p:nvPr/>
        </p:nvSpPr>
        <p:spPr>
          <a:xfrm>
            <a:off x="6159500" y="2921000"/>
            <a:ext cx="2571750" cy="3048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pic>
        <p:nvPicPr>
          <p:cNvPr id="21" name="Image 2" descr="C:\Users\vansh\Downloads\Vishu 2\presentation-build\pieces\cause3.png">    </p:cNvPr>
          <p:cNvPicPr>
            <a:picLocks noChangeAspect="1"/>
          </p:cNvPicPr>
          <p:nvPr/>
        </p:nvPicPr>
        <p:blipFill>
          <a:blip r:embed="rId3"/>
          <a:stretch>
            <a:fillRect/>
          </a:stretch>
        </p:blipFill>
        <p:spPr>
          <a:xfrm>
            <a:off x="6375400" y="3136900"/>
            <a:ext cx="2139950" cy="825500"/>
          </a:xfrm>
          <a:prstGeom prst="rect">
            <a:avLst/>
          </a:prstGeom>
        </p:spPr>
      </p:pic>
      <p:sp>
        <p:nvSpPr>
          <p:cNvPr id="22" name="Text 17"/>
          <p:cNvSpPr txBox="1"/>
          <p:nvPr/>
        </p:nvSpPr>
        <p:spPr>
          <a:xfrm>
            <a:off x="6375400" y="41275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03</a:t>
            </a:r>
            <a:endParaRPr lang="en-US" sz="1000" dirty="0"/>
          </a:p>
        </p:txBody>
      </p:sp>
      <p:sp>
        <p:nvSpPr>
          <p:cNvPr id="23" name="Text 18"/>
          <p:cNvSpPr txBox="1"/>
          <p:nvPr/>
        </p:nvSpPr>
        <p:spPr>
          <a:xfrm>
            <a:off x="6375400" y="4330700"/>
            <a:ext cx="2159000" cy="3175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Blind operators</a:t>
            </a:r>
            <a:endParaRPr lang="en-US" sz="2100" dirty="0"/>
          </a:p>
        </p:txBody>
      </p:sp>
      <p:sp>
        <p:nvSpPr>
          <p:cNvPr id="24" name="Text 19"/>
          <p:cNvSpPr txBox="1"/>
          <p:nvPr/>
        </p:nvSpPr>
        <p:spPr>
          <a:xfrm>
            <a:off x="6375400" y="4711700"/>
            <a:ext cx="2159000" cy="1079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Nobody knows which rows fill first, or when, so nothing gets planned.</a:t>
            </a:r>
            <a:endParaRPr lang="en-US" sz="1400" dirty="0"/>
          </a:p>
        </p:txBody>
      </p:sp>
      <p:sp>
        <p:nvSpPr>
          <p:cNvPr id="25" name="!!card3"/>
          <p:cNvSpPr/>
          <p:nvPr/>
        </p:nvSpPr>
        <p:spPr>
          <a:xfrm>
            <a:off x="8858250" y="2921000"/>
            <a:ext cx="2571750" cy="3048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pic>
        <p:nvPicPr>
          <p:cNvPr id="26" name="Image 3" descr="C:\Users\vansh\Downloads\Vishu 2\presentation-build\pieces\cause4.png">    </p:cNvPr>
          <p:cNvPicPr>
            <a:picLocks noChangeAspect="1"/>
          </p:cNvPicPr>
          <p:nvPr/>
        </p:nvPicPr>
        <p:blipFill>
          <a:blip r:embed="rId4"/>
          <a:stretch>
            <a:fillRect/>
          </a:stretch>
        </p:blipFill>
        <p:spPr>
          <a:xfrm>
            <a:off x="9074150" y="3136900"/>
            <a:ext cx="2139950" cy="825500"/>
          </a:xfrm>
          <a:prstGeom prst="rect">
            <a:avLst/>
          </a:prstGeom>
        </p:spPr>
      </p:pic>
      <p:sp>
        <p:nvSpPr>
          <p:cNvPr id="27" name="Text 21"/>
          <p:cNvSpPr txBox="1"/>
          <p:nvPr/>
        </p:nvSpPr>
        <p:spPr>
          <a:xfrm>
            <a:off x="9074150" y="41275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04</a:t>
            </a:r>
            <a:endParaRPr lang="en-US" sz="1000" dirty="0"/>
          </a:p>
        </p:txBody>
      </p:sp>
      <p:sp>
        <p:nvSpPr>
          <p:cNvPr id="28" name="Text 22"/>
          <p:cNvSpPr txBox="1"/>
          <p:nvPr/>
        </p:nvSpPr>
        <p:spPr>
          <a:xfrm>
            <a:off x="9074150" y="4330700"/>
            <a:ext cx="2159000" cy="3175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Wasted minutes</a:t>
            </a:r>
            <a:endParaRPr lang="en-US" sz="2100" dirty="0"/>
          </a:p>
        </p:txBody>
      </p:sp>
      <p:sp>
        <p:nvSpPr>
          <p:cNvPr id="29" name="Text 23"/>
          <p:cNvSpPr txBox="1"/>
          <p:nvPr/>
        </p:nvSpPr>
        <p:spPr>
          <a:xfrm>
            <a:off x="9074150" y="4711700"/>
            <a:ext cx="2159000" cy="1079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Every lap burns fuel and time, for you and for the queue behind you.</a:t>
            </a:r>
            <a:endParaRPr lang="en-US" sz="1400" dirty="0"/>
          </a:p>
        </p:txBody>
      </p:sp>
    </p:spTree>
  </p:cSld>
  <p:clrMapOvr>
    <a:masterClrMapping/>
  </p:clrMapOvr>
  <p:transition xmlns:p14="http://schemas.microsoft.com/office/powerpoint/2010/main" spd="slow" p14:dur="8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04</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2423085"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251700" y="203200"/>
            <a:ext cx="34163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3660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480300" y="203200"/>
            <a:ext cx="31623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Concept &amp; Originality</a:t>
            </a:r>
            <a:pPr indent="0" marL="0">
              <a:buNone/>
            </a:pPr>
            <a:r>
              <a:rPr lang="en-US" sz="900" dirty="0">
                <a:solidFill>
                  <a:srgbClr val="3C3C42"/>
                </a:solidFill>
                <a:latin typeface="Consolas" pitchFamily="34" charset="0"/>
                <a:ea typeface="Consolas" pitchFamily="34" charset="-122"/>
                <a:cs typeface="Consolas" pitchFamily="34" charset="-120"/>
              </a:rPr>
              <a:t>  ·  Originality of idea</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03</a:t>
            </a:r>
            <a:pPr algn="l" indent="0" marL="0">
              <a:buNone/>
            </a:pPr>
            <a:r>
              <a:rPr lang="en-US" sz="1100" dirty="0">
                <a:solidFill>
                  <a:srgbClr val="62626A"/>
                </a:solidFill>
                <a:latin typeface="Consolas" pitchFamily="34" charset="0"/>
                <a:ea typeface="Consolas" pitchFamily="34" charset="-122"/>
                <a:cs typeface="Consolas" pitchFamily="34" charset="-120"/>
              </a:rPr>
              <a:t>  ——  The idea</a:t>
            </a:r>
            <a:endParaRPr lang="en-US" sz="1100" dirty="0"/>
          </a:p>
        </p:txBody>
      </p:sp>
      <p:sp>
        <p:nvSpPr>
          <p:cNvPr id="8" name="Text 18"/>
          <p:cNvSpPr/>
          <p:nvPr>
            <p:ph idx="120" type="title" hasCustomPrompt="1"/>
          </p:nvPr>
        </p:nvSpPr>
        <p:spPr>
          <a:xfrm>
            <a:off x="762000" y="1295400"/>
            <a:ext cx="5842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Book a bay the way you book a seat.</a:t>
            </a:r>
            <a:endParaRPr lang="en-US" sz="4400" dirty="0"/>
          </a:p>
        </p:txBody>
      </p:sp>
      <p:sp>
        <p:nvSpPr>
          <p:cNvPr id="9" name="Text 7"/>
          <p:cNvSpPr txBox="1"/>
          <p:nvPr/>
        </p:nvSpPr>
        <p:spPr>
          <a:xfrm>
            <a:off x="762000" y="2984500"/>
            <a:ext cx="5461000" cy="1905000"/>
          </a:xfrm>
          <a:prstGeom prst="rect">
            <a:avLst/>
          </a:prstGeom>
          <a:noFill/>
          <a:ln/>
        </p:spPr>
        <p:txBody>
          <a:bodyPr wrap="square" lIns="0" tIns="0" rIns="0" bIns="0" rtlCol="0" anchor="t"/>
          <a:lstStyle/>
          <a:p>
            <a:pPr algn="l" indent="0" marL="0">
              <a:lnSpc>
                <a:spcPct val="112000"/>
              </a:lnSpc>
              <a:buNone/>
            </a:pPr>
            <a:r>
              <a:rPr lang="en-US" sz="1600" dirty="0">
                <a:solidFill>
                  <a:srgbClr val="62626A"/>
                </a:solidFill>
                <a:latin typeface="Segoe UI" pitchFamily="34" charset="0"/>
                <a:ea typeface="Segoe UI" pitchFamily="34" charset="-122"/>
                <a:cs typeface="Segoe UI" pitchFamily="34" charset="-120"/>
              </a:rPr>
              <a:t>Ticket apps made picking your exact seat feel normal: you see the hall, you pick the empty one, it's held for you. Arrivo brings that to parking. You see every bay on a live plan, pick a free one, choose your hours, and it's yours when you arrive.</a:t>
            </a:r>
            <a:endParaRPr lang="en-US" sz="1600" dirty="0"/>
          </a:p>
        </p:txBody>
      </p:sp>
      <p:pic>
        <p:nvPicPr>
          <p:cNvPr id="10" name="Image 0" descr="C:\Users\vansh\Downloads\Vishu 2\presentation-build\pieces\morph.png">    </p:cNvPr>
          <p:cNvPicPr>
            <a:picLocks noChangeAspect="1"/>
          </p:cNvPicPr>
          <p:nvPr/>
        </p:nvPicPr>
        <p:blipFill>
          <a:blip r:embed="rId1"/>
          <a:stretch>
            <a:fillRect/>
          </a:stretch>
        </p:blipFill>
        <p:spPr>
          <a:xfrm>
            <a:off x="7175500" y="2095500"/>
            <a:ext cx="4254500" cy="3651250"/>
          </a:xfrm>
          <a:prstGeom prst="rect">
            <a:avLst/>
          </a:prstGeom>
        </p:spPr>
      </p:pic>
      <p:sp>
        <p:nvSpPr>
          <p:cNvPr id="11" name="Text 8"/>
          <p:cNvSpPr txBox="1"/>
          <p:nvPr/>
        </p:nvSpPr>
        <p:spPr>
          <a:xfrm>
            <a:off x="8509000" y="5905500"/>
            <a:ext cx="2921000" cy="317500"/>
          </a:xfrm>
          <a:prstGeom prst="rect">
            <a:avLst/>
          </a:prstGeom>
          <a:noFill/>
          <a:ln/>
        </p:spPr>
        <p:txBody>
          <a:bodyPr wrap="square" lIns="0" tIns="0" rIns="0" bIns="0" rtlCol="0" anchor="t"/>
          <a:lstStyle/>
          <a:p>
            <a:pPr algn="r" indent="0" marL="0">
              <a:lnSpc>
                <a:spcPct val="112000"/>
              </a:lnSpc>
              <a:buNone/>
            </a:pPr>
            <a:r>
              <a:rPr lang="en-US" sz="1600" dirty="0">
                <a:solidFill>
                  <a:srgbClr val="8A6400"/>
                </a:solidFill>
                <a:latin typeface="Segoe Print" pitchFamily="34" charset="0"/>
                <a:ea typeface="Segoe Print" pitchFamily="34" charset="-122"/>
                <a:cs typeface="Segoe Print" pitchFamily="34" charset="-120"/>
              </a:rPr>
              <a:t>same idea, new place.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05</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3080497"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251700" y="203200"/>
            <a:ext cx="34163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3660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480300" y="203200"/>
            <a:ext cx="31623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Concept &amp; Originality</a:t>
            </a:r>
            <a:pPr indent="0" marL="0">
              <a:buNone/>
            </a:pPr>
            <a:r>
              <a:rPr lang="en-US" sz="900" dirty="0">
                <a:solidFill>
                  <a:srgbClr val="3C3C42"/>
                </a:solidFill>
                <a:latin typeface="Consolas" pitchFamily="34" charset="0"/>
                <a:ea typeface="Consolas" pitchFamily="34" charset="-122"/>
                <a:cs typeface="Consolas" pitchFamily="34" charset="-120"/>
              </a:rPr>
              <a:t>  ·  Originality of idea</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04</a:t>
            </a:r>
            <a:pPr algn="l" indent="0" marL="0">
              <a:buNone/>
            </a:pPr>
            <a:r>
              <a:rPr lang="en-US" sz="1100" dirty="0">
                <a:solidFill>
                  <a:srgbClr val="62626A"/>
                </a:solidFill>
                <a:latin typeface="Consolas" pitchFamily="34" charset="0"/>
                <a:ea typeface="Consolas" pitchFamily="34" charset="-122"/>
                <a:cs typeface="Consolas" pitchFamily="34" charset="-120"/>
              </a:rPr>
              <a:t>  ——  What changes</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Before and after.</a:t>
            </a:r>
            <a:endParaRPr lang="en-US" sz="4400" dirty="0"/>
          </a:p>
        </p:txBody>
      </p:sp>
      <p:sp>
        <p:nvSpPr>
          <p:cNvPr id="9" name="Text 7"/>
          <p:cNvSpPr txBox="1"/>
          <p:nvPr/>
        </p:nvSpPr>
        <p:spPr>
          <a:xfrm>
            <a:off x="3302000" y="2095500"/>
            <a:ext cx="3175000" cy="1905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9A9AA1"/>
                </a:solidFill>
                <a:latin typeface="Consolas" pitchFamily="34" charset="0"/>
                <a:ea typeface="Consolas" pitchFamily="34" charset="-122"/>
                <a:cs typeface="Consolas" pitchFamily="34" charset="-120"/>
              </a:rPr>
              <a:t>WITHOUT ARRIVO</a:t>
            </a:r>
            <a:endParaRPr lang="en-US" sz="1000" dirty="0"/>
          </a:p>
        </p:txBody>
      </p:sp>
      <p:sp>
        <p:nvSpPr>
          <p:cNvPr id="10" name="Text 8"/>
          <p:cNvSpPr txBox="1"/>
          <p:nvPr/>
        </p:nvSpPr>
        <p:spPr>
          <a:xfrm>
            <a:off x="7239000" y="2095500"/>
            <a:ext cx="3175000" cy="1905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8A6400"/>
                </a:solidFill>
                <a:latin typeface="Consolas" pitchFamily="34" charset="0"/>
                <a:ea typeface="Consolas" pitchFamily="34" charset="-122"/>
                <a:cs typeface="Consolas" pitchFamily="34" charset="-120"/>
              </a:rPr>
              <a:t>WITH ARRIVO</a:t>
            </a:r>
            <a:endParaRPr lang="en-US" sz="1000" dirty="0"/>
          </a:p>
        </p:txBody>
      </p:sp>
      <p:sp>
        <p:nvSpPr>
          <p:cNvPr id="11" name="Shape 9"/>
          <p:cNvSpPr/>
          <p:nvPr/>
        </p:nvSpPr>
        <p:spPr>
          <a:xfrm>
            <a:off x="762000" y="2413000"/>
            <a:ext cx="10668000" cy="0"/>
          </a:xfrm>
          <a:prstGeom prst="line">
            <a:avLst/>
          </a:prstGeom>
          <a:noFill/>
          <a:ln w="12700">
            <a:solidFill>
              <a:srgbClr val="C9C9C4"/>
            </a:solidFill>
            <a:prstDash val="solid"/>
          </a:ln>
        </p:spPr>
      </p:sp>
      <p:sp>
        <p:nvSpPr>
          <p:cNvPr id="12" name="Text 10"/>
          <p:cNvSpPr txBox="1"/>
          <p:nvPr/>
        </p:nvSpPr>
        <p:spPr>
          <a:xfrm>
            <a:off x="762000" y="2590800"/>
            <a:ext cx="2413000" cy="2540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Finding a bay</a:t>
            </a:r>
            <a:endParaRPr lang="en-US" sz="1100" dirty="0"/>
          </a:p>
        </p:txBody>
      </p:sp>
      <p:sp>
        <p:nvSpPr>
          <p:cNvPr id="13" name="Shape 11"/>
          <p:cNvSpPr/>
          <p:nvPr/>
        </p:nvSpPr>
        <p:spPr>
          <a:xfrm>
            <a:off x="3302000" y="2590800"/>
            <a:ext cx="215900" cy="215900"/>
          </a:xfrm>
          <a:prstGeom prst="ellipse">
            <a:avLst/>
          </a:prstGeom>
          <a:solidFill>
            <a:srgbClr val="F4F4F1"/>
          </a:solidFill>
          <a:ln w="19050">
            <a:solidFill>
              <a:srgbClr val="C9C9C4"/>
            </a:solidFill>
            <a:prstDash val="solid"/>
          </a:ln>
        </p:spPr>
      </p:sp>
      <p:sp>
        <p:nvSpPr>
          <p:cNvPr id="14" name="Text 12"/>
          <p:cNvSpPr txBox="1"/>
          <p:nvPr/>
        </p:nvSpPr>
        <p:spPr>
          <a:xfrm>
            <a:off x="3302000" y="2590800"/>
            <a:ext cx="215900" cy="215900"/>
          </a:xfrm>
          <a:prstGeom prst="rect">
            <a:avLst/>
          </a:prstGeom>
          <a:noFill/>
          <a:ln/>
        </p:spPr>
        <p:txBody>
          <a:bodyPr wrap="square" lIns="0" tIns="0" rIns="0" bIns="0" rtlCol="0" anchor="ctr"/>
          <a:lstStyle/>
          <a:p>
            <a:pPr algn="ctr" indent="0" marL="0">
              <a:lnSpc>
                <a:spcPct val="112000"/>
              </a:lnSpc>
              <a:buNone/>
            </a:pPr>
            <a:r>
              <a:rPr lang="en-US" sz="1100" dirty="0">
                <a:solidFill>
                  <a:srgbClr val="9A9AA1"/>
                </a:solidFill>
                <a:latin typeface="Segoe UI" pitchFamily="34" charset="0"/>
                <a:ea typeface="Segoe UI" pitchFamily="34" charset="-122"/>
                <a:cs typeface="Segoe UI" pitchFamily="34" charset="-120"/>
              </a:rPr>
              <a:t>✕</a:t>
            </a:r>
            <a:endParaRPr lang="en-US" sz="1100" dirty="0"/>
          </a:p>
        </p:txBody>
      </p:sp>
      <p:sp>
        <p:nvSpPr>
          <p:cNvPr id="15" name="Text 13"/>
          <p:cNvSpPr txBox="1"/>
          <p:nvPr/>
        </p:nvSpPr>
        <p:spPr>
          <a:xfrm>
            <a:off x="3632200" y="2578100"/>
            <a:ext cx="3429000" cy="254000"/>
          </a:xfrm>
          <a:prstGeom prst="rect">
            <a:avLst/>
          </a:prstGeom>
          <a:noFill/>
          <a:ln/>
        </p:spPr>
        <p:txBody>
          <a:bodyPr wrap="square" lIns="0" tIns="0" rIns="0" bIns="0" rtlCol="0" anchor="ctr"/>
          <a:lstStyle/>
          <a:p>
            <a:pPr algn="l" indent="0" marL="0">
              <a:lnSpc>
                <a:spcPct val="112000"/>
              </a:lnSpc>
              <a:buNone/>
            </a:pPr>
            <a:r>
              <a:rPr lang="en-US" sz="1500" dirty="0">
                <a:solidFill>
                  <a:srgbClr val="9A9AA1"/>
                </a:solidFill>
                <a:latin typeface="Segoe UI" pitchFamily="34" charset="0"/>
                <a:ea typeface="Segoe UI" pitchFamily="34" charset="-122"/>
                <a:cs typeface="Segoe UI" pitchFamily="34" charset="-120"/>
              </a:rPr>
              <a:t>Drive in, circle, look</a:t>
            </a:r>
            <a:endParaRPr lang="en-US" sz="1500" dirty="0"/>
          </a:p>
        </p:txBody>
      </p:sp>
      <p:sp>
        <p:nvSpPr>
          <p:cNvPr id="16" name="Shape 14"/>
          <p:cNvSpPr/>
          <p:nvPr/>
        </p:nvSpPr>
        <p:spPr>
          <a:xfrm>
            <a:off x="7239000" y="2590800"/>
            <a:ext cx="215900" cy="215900"/>
          </a:xfrm>
          <a:prstGeom prst="ellipse">
            <a:avLst/>
          </a:prstGeom>
          <a:solidFill>
            <a:srgbClr val="FFD75A"/>
          </a:solidFill>
          <a:ln w="12700">
            <a:solidFill>
              <a:srgbClr val="FFD75A"/>
            </a:solidFill>
            <a:prstDash val="solid"/>
          </a:ln>
        </p:spPr>
      </p:sp>
      <p:sp>
        <p:nvSpPr>
          <p:cNvPr id="17" name="Text 15"/>
          <p:cNvSpPr txBox="1"/>
          <p:nvPr/>
        </p:nvSpPr>
        <p:spPr>
          <a:xfrm>
            <a:off x="7239000" y="2590800"/>
            <a:ext cx="215900" cy="215900"/>
          </a:xfrm>
          <a:prstGeom prst="rect">
            <a:avLst/>
          </a:prstGeom>
          <a:noFill/>
          <a:ln/>
        </p:spPr>
        <p:txBody>
          <a:bodyPr wrap="square" lIns="0" tIns="0" rIns="0" bIns="0" rtlCol="0" anchor="ctr"/>
          <a:lstStyle/>
          <a:p>
            <a:pPr algn="ctr" indent="0" marL="0">
              <a:lnSpc>
                <a:spcPct val="112000"/>
              </a:lnSpc>
              <a:buNone/>
            </a:pPr>
            <a:r>
              <a:rPr lang="en-US" sz="1200" b="1" dirty="0">
                <a:solidFill>
                  <a:srgbClr val="121214"/>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7569200" y="2578100"/>
            <a:ext cx="3810000" cy="254000"/>
          </a:xfrm>
          <a:prstGeom prst="rect">
            <a:avLst/>
          </a:prstGeom>
          <a:noFill/>
          <a:ln/>
        </p:spPr>
        <p:txBody>
          <a:bodyPr wrap="square" lIns="0" tIns="0" rIns="0" bIns="0" rtlCol="0" anchor="ctr"/>
          <a:lstStyle/>
          <a:p>
            <a:pPr algn="l" indent="0" marL="0">
              <a:lnSpc>
                <a:spcPct val="112000"/>
              </a:lnSpc>
              <a:buNone/>
            </a:pPr>
            <a:r>
              <a:rPr lang="en-US" sz="1500" dirty="0">
                <a:solidFill>
                  <a:srgbClr val="121214"/>
                </a:solidFill>
                <a:latin typeface="Segoe UI Semibold" pitchFamily="34" charset="0"/>
                <a:ea typeface="Segoe UI Semibold" pitchFamily="34" charset="-122"/>
                <a:cs typeface="Segoe UI Semibold" pitchFamily="34" charset="-120"/>
              </a:rPr>
              <a:t>Tap a free bay on a live plan</a:t>
            </a:r>
            <a:endParaRPr lang="en-US" sz="1500" dirty="0"/>
          </a:p>
        </p:txBody>
      </p:sp>
      <p:sp>
        <p:nvSpPr>
          <p:cNvPr id="19" name="Shape 17"/>
          <p:cNvSpPr/>
          <p:nvPr/>
        </p:nvSpPr>
        <p:spPr>
          <a:xfrm>
            <a:off x="762000" y="2997200"/>
            <a:ext cx="10668000" cy="0"/>
          </a:xfrm>
          <a:prstGeom prst="line">
            <a:avLst/>
          </a:prstGeom>
          <a:noFill/>
          <a:ln w="12700">
            <a:solidFill>
              <a:srgbClr val="C9C9C4"/>
            </a:solidFill>
            <a:prstDash val="solid"/>
          </a:ln>
        </p:spPr>
      </p:sp>
      <p:sp>
        <p:nvSpPr>
          <p:cNvPr id="20" name="Text 18"/>
          <p:cNvSpPr txBox="1"/>
          <p:nvPr/>
        </p:nvSpPr>
        <p:spPr>
          <a:xfrm>
            <a:off x="762000" y="3175000"/>
            <a:ext cx="2413000" cy="2540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Knowing it'll be free</a:t>
            </a:r>
            <a:endParaRPr lang="en-US" sz="1100" dirty="0"/>
          </a:p>
        </p:txBody>
      </p:sp>
      <p:sp>
        <p:nvSpPr>
          <p:cNvPr id="21" name="Shape 19"/>
          <p:cNvSpPr/>
          <p:nvPr/>
        </p:nvSpPr>
        <p:spPr>
          <a:xfrm>
            <a:off x="3302000" y="3175000"/>
            <a:ext cx="215900" cy="215900"/>
          </a:xfrm>
          <a:prstGeom prst="ellipse">
            <a:avLst/>
          </a:prstGeom>
          <a:solidFill>
            <a:srgbClr val="F4F4F1"/>
          </a:solidFill>
          <a:ln w="19050">
            <a:solidFill>
              <a:srgbClr val="C9C9C4"/>
            </a:solidFill>
            <a:prstDash val="solid"/>
          </a:ln>
        </p:spPr>
      </p:sp>
      <p:sp>
        <p:nvSpPr>
          <p:cNvPr id="22" name="Text 20"/>
          <p:cNvSpPr txBox="1"/>
          <p:nvPr/>
        </p:nvSpPr>
        <p:spPr>
          <a:xfrm>
            <a:off x="3302000" y="3175000"/>
            <a:ext cx="215900" cy="215900"/>
          </a:xfrm>
          <a:prstGeom prst="rect">
            <a:avLst/>
          </a:prstGeom>
          <a:noFill/>
          <a:ln/>
        </p:spPr>
        <p:txBody>
          <a:bodyPr wrap="square" lIns="0" tIns="0" rIns="0" bIns="0" rtlCol="0" anchor="ctr"/>
          <a:lstStyle/>
          <a:p>
            <a:pPr algn="ctr" indent="0" marL="0">
              <a:lnSpc>
                <a:spcPct val="112000"/>
              </a:lnSpc>
              <a:buNone/>
            </a:pPr>
            <a:r>
              <a:rPr lang="en-US" sz="1100" dirty="0">
                <a:solidFill>
                  <a:srgbClr val="9A9AA1"/>
                </a:solidFill>
                <a:latin typeface="Segoe UI" pitchFamily="34" charset="0"/>
                <a:ea typeface="Segoe UI" pitchFamily="34" charset="-122"/>
                <a:cs typeface="Segoe UI" pitchFamily="34" charset="-120"/>
              </a:rPr>
              <a:t>✕</a:t>
            </a:r>
            <a:endParaRPr lang="en-US" sz="1100" dirty="0"/>
          </a:p>
        </p:txBody>
      </p:sp>
      <p:sp>
        <p:nvSpPr>
          <p:cNvPr id="23" name="Text 21"/>
          <p:cNvSpPr txBox="1"/>
          <p:nvPr/>
        </p:nvSpPr>
        <p:spPr>
          <a:xfrm>
            <a:off x="3632200" y="3162300"/>
            <a:ext cx="3429000" cy="254000"/>
          </a:xfrm>
          <a:prstGeom prst="rect">
            <a:avLst/>
          </a:prstGeom>
          <a:noFill/>
          <a:ln/>
        </p:spPr>
        <p:txBody>
          <a:bodyPr wrap="square" lIns="0" tIns="0" rIns="0" bIns="0" rtlCol="0" anchor="ctr"/>
          <a:lstStyle/>
          <a:p>
            <a:pPr algn="l" indent="0" marL="0">
              <a:lnSpc>
                <a:spcPct val="112000"/>
              </a:lnSpc>
              <a:buNone/>
            </a:pPr>
            <a:r>
              <a:rPr lang="en-US" sz="1500" dirty="0">
                <a:solidFill>
                  <a:srgbClr val="9A9AA1"/>
                </a:solidFill>
                <a:latin typeface="Segoe UI" pitchFamily="34" charset="0"/>
                <a:ea typeface="Segoe UI" pitchFamily="34" charset="-122"/>
                <a:cs typeface="Segoe UI" pitchFamily="34" charset="-120"/>
              </a:rPr>
              <a:t>Hope</a:t>
            </a:r>
            <a:endParaRPr lang="en-US" sz="1500" dirty="0"/>
          </a:p>
        </p:txBody>
      </p:sp>
      <p:sp>
        <p:nvSpPr>
          <p:cNvPr id="24" name="Shape 22"/>
          <p:cNvSpPr/>
          <p:nvPr/>
        </p:nvSpPr>
        <p:spPr>
          <a:xfrm>
            <a:off x="7239000" y="3175000"/>
            <a:ext cx="215900" cy="215900"/>
          </a:xfrm>
          <a:prstGeom prst="ellipse">
            <a:avLst/>
          </a:prstGeom>
          <a:solidFill>
            <a:srgbClr val="FFD75A"/>
          </a:solidFill>
          <a:ln w="12700">
            <a:solidFill>
              <a:srgbClr val="FFD75A"/>
            </a:solidFill>
            <a:prstDash val="solid"/>
          </a:ln>
        </p:spPr>
      </p:sp>
      <p:sp>
        <p:nvSpPr>
          <p:cNvPr id="25" name="Text 23"/>
          <p:cNvSpPr txBox="1"/>
          <p:nvPr/>
        </p:nvSpPr>
        <p:spPr>
          <a:xfrm>
            <a:off x="7239000" y="3175000"/>
            <a:ext cx="215900" cy="215900"/>
          </a:xfrm>
          <a:prstGeom prst="rect">
            <a:avLst/>
          </a:prstGeom>
          <a:noFill/>
          <a:ln/>
        </p:spPr>
        <p:txBody>
          <a:bodyPr wrap="square" lIns="0" tIns="0" rIns="0" bIns="0" rtlCol="0" anchor="ctr"/>
          <a:lstStyle/>
          <a:p>
            <a:pPr algn="ctr" indent="0" marL="0">
              <a:lnSpc>
                <a:spcPct val="112000"/>
              </a:lnSpc>
              <a:buNone/>
            </a:pPr>
            <a:r>
              <a:rPr lang="en-US" sz="1200" b="1" dirty="0">
                <a:solidFill>
                  <a:srgbClr val="121214"/>
                </a:solidFill>
                <a:latin typeface="Segoe UI" pitchFamily="34" charset="0"/>
                <a:ea typeface="Segoe UI" pitchFamily="34" charset="-122"/>
                <a:cs typeface="Segoe UI" pitchFamily="34" charset="-120"/>
              </a:rPr>
              <a:t>✓</a:t>
            </a:r>
            <a:endParaRPr lang="en-US" sz="1200" dirty="0"/>
          </a:p>
        </p:txBody>
      </p:sp>
      <p:sp>
        <p:nvSpPr>
          <p:cNvPr id="26" name="Text 24"/>
          <p:cNvSpPr txBox="1"/>
          <p:nvPr/>
        </p:nvSpPr>
        <p:spPr>
          <a:xfrm>
            <a:off x="7569200" y="3162300"/>
            <a:ext cx="3810000" cy="254000"/>
          </a:xfrm>
          <a:prstGeom prst="rect">
            <a:avLst/>
          </a:prstGeom>
          <a:noFill/>
          <a:ln/>
        </p:spPr>
        <p:txBody>
          <a:bodyPr wrap="square" lIns="0" tIns="0" rIns="0" bIns="0" rtlCol="0" anchor="ctr"/>
          <a:lstStyle/>
          <a:p>
            <a:pPr algn="l" indent="0" marL="0">
              <a:lnSpc>
                <a:spcPct val="112000"/>
              </a:lnSpc>
              <a:buNone/>
            </a:pPr>
            <a:r>
              <a:rPr lang="en-US" sz="1500" dirty="0">
                <a:solidFill>
                  <a:srgbClr val="121214"/>
                </a:solidFill>
                <a:latin typeface="Segoe UI Semibold" pitchFamily="34" charset="0"/>
                <a:ea typeface="Segoe UI Semibold" pitchFamily="34" charset="-122"/>
                <a:cs typeface="Segoe UI Semibold" pitchFamily="34" charset="-120"/>
              </a:rPr>
              <a:t>Held for your hours</a:t>
            </a:r>
            <a:endParaRPr lang="en-US" sz="1500" dirty="0"/>
          </a:p>
        </p:txBody>
      </p:sp>
      <p:sp>
        <p:nvSpPr>
          <p:cNvPr id="27" name="Shape 25"/>
          <p:cNvSpPr/>
          <p:nvPr/>
        </p:nvSpPr>
        <p:spPr>
          <a:xfrm>
            <a:off x="762000" y="3581400"/>
            <a:ext cx="10668000" cy="0"/>
          </a:xfrm>
          <a:prstGeom prst="line">
            <a:avLst/>
          </a:prstGeom>
          <a:noFill/>
          <a:ln w="12700">
            <a:solidFill>
              <a:srgbClr val="C9C9C4"/>
            </a:solidFill>
            <a:prstDash val="solid"/>
          </a:ln>
        </p:spPr>
      </p:sp>
      <p:sp>
        <p:nvSpPr>
          <p:cNvPr id="28" name="Text 26"/>
          <p:cNvSpPr txBox="1"/>
          <p:nvPr/>
        </p:nvSpPr>
        <p:spPr>
          <a:xfrm>
            <a:off x="762000" y="3759200"/>
            <a:ext cx="2413000" cy="2540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Running late</a:t>
            </a:r>
            <a:endParaRPr lang="en-US" sz="1100" dirty="0"/>
          </a:p>
        </p:txBody>
      </p:sp>
      <p:sp>
        <p:nvSpPr>
          <p:cNvPr id="29" name="Shape 27"/>
          <p:cNvSpPr/>
          <p:nvPr/>
        </p:nvSpPr>
        <p:spPr>
          <a:xfrm>
            <a:off x="3302000" y="3759200"/>
            <a:ext cx="215900" cy="215900"/>
          </a:xfrm>
          <a:prstGeom prst="ellipse">
            <a:avLst/>
          </a:prstGeom>
          <a:solidFill>
            <a:srgbClr val="F4F4F1"/>
          </a:solidFill>
          <a:ln w="19050">
            <a:solidFill>
              <a:srgbClr val="C9C9C4"/>
            </a:solidFill>
            <a:prstDash val="solid"/>
          </a:ln>
        </p:spPr>
      </p:sp>
      <p:sp>
        <p:nvSpPr>
          <p:cNvPr id="30" name="Text 28"/>
          <p:cNvSpPr txBox="1"/>
          <p:nvPr/>
        </p:nvSpPr>
        <p:spPr>
          <a:xfrm>
            <a:off x="3302000" y="3759200"/>
            <a:ext cx="215900" cy="215900"/>
          </a:xfrm>
          <a:prstGeom prst="rect">
            <a:avLst/>
          </a:prstGeom>
          <a:noFill/>
          <a:ln/>
        </p:spPr>
        <p:txBody>
          <a:bodyPr wrap="square" lIns="0" tIns="0" rIns="0" bIns="0" rtlCol="0" anchor="ctr"/>
          <a:lstStyle/>
          <a:p>
            <a:pPr algn="ctr" indent="0" marL="0">
              <a:lnSpc>
                <a:spcPct val="112000"/>
              </a:lnSpc>
              <a:buNone/>
            </a:pPr>
            <a:r>
              <a:rPr lang="en-US" sz="1100" dirty="0">
                <a:solidFill>
                  <a:srgbClr val="9A9AA1"/>
                </a:solidFill>
                <a:latin typeface="Segoe UI" pitchFamily="34" charset="0"/>
                <a:ea typeface="Segoe UI" pitchFamily="34" charset="-122"/>
                <a:cs typeface="Segoe UI" pitchFamily="34" charset="-120"/>
              </a:rPr>
              <a:t>✕</a:t>
            </a:r>
            <a:endParaRPr lang="en-US" sz="1100" dirty="0"/>
          </a:p>
        </p:txBody>
      </p:sp>
      <p:sp>
        <p:nvSpPr>
          <p:cNvPr id="31" name="Text 29"/>
          <p:cNvSpPr txBox="1"/>
          <p:nvPr/>
        </p:nvSpPr>
        <p:spPr>
          <a:xfrm>
            <a:off x="3632200" y="3746500"/>
            <a:ext cx="3429000" cy="254000"/>
          </a:xfrm>
          <a:prstGeom prst="rect">
            <a:avLst/>
          </a:prstGeom>
          <a:noFill/>
          <a:ln/>
        </p:spPr>
        <p:txBody>
          <a:bodyPr wrap="square" lIns="0" tIns="0" rIns="0" bIns="0" rtlCol="0" anchor="ctr"/>
          <a:lstStyle/>
          <a:p>
            <a:pPr algn="l" indent="0" marL="0">
              <a:lnSpc>
                <a:spcPct val="112000"/>
              </a:lnSpc>
              <a:buNone/>
            </a:pPr>
            <a:r>
              <a:rPr lang="en-US" sz="1500" dirty="0">
                <a:solidFill>
                  <a:srgbClr val="9A9AA1"/>
                </a:solidFill>
                <a:latin typeface="Segoe UI" pitchFamily="34" charset="0"/>
                <a:ea typeface="Segoe UI" pitchFamily="34" charset="-122"/>
                <a:cs typeface="Segoe UI" pitchFamily="34" charset="-120"/>
              </a:rPr>
              <a:t>Someone else took it</a:t>
            </a:r>
            <a:endParaRPr lang="en-US" sz="1500" dirty="0"/>
          </a:p>
        </p:txBody>
      </p:sp>
      <p:sp>
        <p:nvSpPr>
          <p:cNvPr id="32" name="Shape 30"/>
          <p:cNvSpPr/>
          <p:nvPr/>
        </p:nvSpPr>
        <p:spPr>
          <a:xfrm>
            <a:off x="7239000" y="3759200"/>
            <a:ext cx="215900" cy="215900"/>
          </a:xfrm>
          <a:prstGeom prst="ellipse">
            <a:avLst/>
          </a:prstGeom>
          <a:solidFill>
            <a:srgbClr val="FFD75A"/>
          </a:solidFill>
          <a:ln w="12700">
            <a:solidFill>
              <a:srgbClr val="FFD75A"/>
            </a:solidFill>
            <a:prstDash val="solid"/>
          </a:ln>
        </p:spPr>
      </p:sp>
      <p:sp>
        <p:nvSpPr>
          <p:cNvPr id="33" name="Text 31"/>
          <p:cNvSpPr txBox="1"/>
          <p:nvPr/>
        </p:nvSpPr>
        <p:spPr>
          <a:xfrm>
            <a:off x="7239000" y="3759200"/>
            <a:ext cx="215900" cy="215900"/>
          </a:xfrm>
          <a:prstGeom prst="rect">
            <a:avLst/>
          </a:prstGeom>
          <a:noFill/>
          <a:ln/>
        </p:spPr>
        <p:txBody>
          <a:bodyPr wrap="square" lIns="0" tIns="0" rIns="0" bIns="0" rtlCol="0" anchor="ctr"/>
          <a:lstStyle/>
          <a:p>
            <a:pPr algn="ctr" indent="0" marL="0">
              <a:lnSpc>
                <a:spcPct val="112000"/>
              </a:lnSpc>
              <a:buNone/>
            </a:pPr>
            <a:r>
              <a:rPr lang="en-US" sz="1200" b="1" dirty="0">
                <a:solidFill>
                  <a:srgbClr val="121214"/>
                </a:solidFill>
                <a:latin typeface="Segoe UI" pitchFamily="34" charset="0"/>
                <a:ea typeface="Segoe UI" pitchFamily="34" charset="-122"/>
                <a:cs typeface="Segoe UI" pitchFamily="34" charset="-120"/>
              </a:rPr>
              <a:t>✓</a:t>
            </a:r>
            <a:endParaRPr lang="en-US" sz="1200" dirty="0"/>
          </a:p>
        </p:txBody>
      </p:sp>
      <p:sp>
        <p:nvSpPr>
          <p:cNvPr id="34" name="Text 32"/>
          <p:cNvSpPr txBox="1"/>
          <p:nvPr/>
        </p:nvSpPr>
        <p:spPr>
          <a:xfrm>
            <a:off x="7569200" y="3746500"/>
            <a:ext cx="3810000" cy="254000"/>
          </a:xfrm>
          <a:prstGeom prst="rect">
            <a:avLst/>
          </a:prstGeom>
          <a:noFill/>
          <a:ln/>
        </p:spPr>
        <p:txBody>
          <a:bodyPr wrap="square" lIns="0" tIns="0" rIns="0" bIns="0" rtlCol="0" anchor="ctr"/>
          <a:lstStyle/>
          <a:p>
            <a:pPr algn="l" indent="0" marL="0">
              <a:lnSpc>
                <a:spcPct val="112000"/>
              </a:lnSpc>
              <a:buNone/>
            </a:pPr>
            <a:r>
              <a:rPr lang="en-US" sz="1500" dirty="0">
                <a:solidFill>
                  <a:srgbClr val="121214"/>
                </a:solidFill>
                <a:latin typeface="Segoe UI Semibold" pitchFamily="34" charset="0"/>
                <a:ea typeface="Segoe UI Semibold" pitchFamily="34" charset="-122"/>
                <a:cs typeface="Segoe UI Semibold" pitchFamily="34" charset="-120"/>
              </a:rPr>
              <a:t>15-minute grace window</a:t>
            </a:r>
            <a:endParaRPr lang="en-US" sz="1500" dirty="0"/>
          </a:p>
        </p:txBody>
      </p:sp>
      <p:sp>
        <p:nvSpPr>
          <p:cNvPr id="35" name="Shape 33"/>
          <p:cNvSpPr/>
          <p:nvPr/>
        </p:nvSpPr>
        <p:spPr>
          <a:xfrm>
            <a:off x="762000" y="4165600"/>
            <a:ext cx="10668000" cy="0"/>
          </a:xfrm>
          <a:prstGeom prst="line">
            <a:avLst/>
          </a:prstGeom>
          <a:noFill/>
          <a:ln w="12700">
            <a:solidFill>
              <a:srgbClr val="C9C9C4"/>
            </a:solidFill>
            <a:prstDash val="solid"/>
          </a:ln>
        </p:spPr>
      </p:sp>
      <p:sp>
        <p:nvSpPr>
          <p:cNvPr id="36" name="Text 34"/>
          <p:cNvSpPr txBox="1"/>
          <p:nvPr/>
        </p:nvSpPr>
        <p:spPr>
          <a:xfrm>
            <a:off x="762000" y="4343400"/>
            <a:ext cx="2413000" cy="2540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Two cars, one bay</a:t>
            </a:r>
            <a:endParaRPr lang="en-US" sz="1100" dirty="0"/>
          </a:p>
        </p:txBody>
      </p:sp>
      <p:sp>
        <p:nvSpPr>
          <p:cNvPr id="37" name="Shape 35"/>
          <p:cNvSpPr/>
          <p:nvPr/>
        </p:nvSpPr>
        <p:spPr>
          <a:xfrm>
            <a:off x="3302000" y="4343400"/>
            <a:ext cx="215900" cy="215900"/>
          </a:xfrm>
          <a:prstGeom prst="ellipse">
            <a:avLst/>
          </a:prstGeom>
          <a:solidFill>
            <a:srgbClr val="F4F4F1"/>
          </a:solidFill>
          <a:ln w="19050">
            <a:solidFill>
              <a:srgbClr val="C9C9C4"/>
            </a:solidFill>
            <a:prstDash val="solid"/>
          </a:ln>
        </p:spPr>
      </p:sp>
      <p:sp>
        <p:nvSpPr>
          <p:cNvPr id="38" name="Text 36"/>
          <p:cNvSpPr txBox="1"/>
          <p:nvPr/>
        </p:nvSpPr>
        <p:spPr>
          <a:xfrm>
            <a:off x="3302000" y="4343400"/>
            <a:ext cx="215900" cy="215900"/>
          </a:xfrm>
          <a:prstGeom prst="rect">
            <a:avLst/>
          </a:prstGeom>
          <a:noFill/>
          <a:ln/>
        </p:spPr>
        <p:txBody>
          <a:bodyPr wrap="square" lIns="0" tIns="0" rIns="0" bIns="0" rtlCol="0" anchor="ctr"/>
          <a:lstStyle/>
          <a:p>
            <a:pPr algn="ctr" indent="0" marL="0">
              <a:lnSpc>
                <a:spcPct val="112000"/>
              </a:lnSpc>
              <a:buNone/>
            </a:pPr>
            <a:r>
              <a:rPr lang="en-US" sz="1100" dirty="0">
                <a:solidFill>
                  <a:srgbClr val="9A9AA1"/>
                </a:solidFill>
                <a:latin typeface="Segoe UI" pitchFamily="34" charset="0"/>
                <a:ea typeface="Segoe UI" pitchFamily="34" charset="-122"/>
                <a:cs typeface="Segoe UI" pitchFamily="34" charset="-120"/>
              </a:rPr>
              <a:t>✕</a:t>
            </a:r>
            <a:endParaRPr lang="en-US" sz="1100" dirty="0"/>
          </a:p>
        </p:txBody>
      </p:sp>
      <p:sp>
        <p:nvSpPr>
          <p:cNvPr id="39" name="Text 37"/>
          <p:cNvSpPr txBox="1"/>
          <p:nvPr/>
        </p:nvSpPr>
        <p:spPr>
          <a:xfrm>
            <a:off x="3632200" y="4330700"/>
            <a:ext cx="3429000" cy="254000"/>
          </a:xfrm>
          <a:prstGeom prst="rect">
            <a:avLst/>
          </a:prstGeom>
          <a:noFill/>
          <a:ln/>
        </p:spPr>
        <p:txBody>
          <a:bodyPr wrap="square" lIns="0" tIns="0" rIns="0" bIns="0" rtlCol="0" anchor="ctr"/>
          <a:lstStyle/>
          <a:p>
            <a:pPr algn="l" indent="0" marL="0">
              <a:lnSpc>
                <a:spcPct val="112000"/>
              </a:lnSpc>
              <a:buNone/>
            </a:pPr>
            <a:r>
              <a:rPr lang="en-US" sz="1500" dirty="0">
                <a:solidFill>
                  <a:srgbClr val="9A9AA1"/>
                </a:solidFill>
                <a:latin typeface="Segoe UI" pitchFamily="34" charset="0"/>
                <a:ea typeface="Segoe UI" pitchFamily="34" charset="-122"/>
                <a:cs typeface="Segoe UI" pitchFamily="34" charset="-120"/>
              </a:rPr>
              <a:t>An argument at the gate</a:t>
            </a:r>
            <a:endParaRPr lang="en-US" sz="1500" dirty="0"/>
          </a:p>
        </p:txBody>
      </p:sp>
      <p:sp>
        <p:nvSpPr>
          <p:cNvPr id="40" name="Shape 38"/>
          <p:cNvSpPr/>
          <p:nvPr/>
        </p:nvSpPr>
        <p:spPr>
          <a:xfrm>
            <a:off x="7239000" y="4343400"/>
            <a:ext cx="215900" cy="215900"/>
          </a:xfrm>
          <a:prstGeom prst="ellipse">
            <a:avLst/>
          </a:prstGeom>
          <a:solidFill>
            <a:srgbClr val="FFD75A"/>
          </a:solidFill>
          <a:ln w="12700">
            <a:solidFill>
              <a:srgbClr val="FFD75A"/>
            </a:solidFill>
            <a:prstDash val="solid"/>
          </a:ln>
        </p:spPr>
      </p:sp>
      <p:sp>
        <p:nvSpPr>
          <p:cNvPr id="41" name="Text 39"/>
          <p:cNvSpPr txBox="1"/>
          <p:nvPr/>
        </p:nvSpPr>
        <p:spPr>
          <a:xfrm>
            <a:off x="7239000" y="4343400"/>
            <a:ext cx="215900" cy="215900"/>
          </a:xfrm>
          <a:prstGeom prst="rect">
            <a:avLst/>
          </a:prstGeom>
          <a:noFill/>
          <a:ln/>
        </p:spPr>
        <p:txBody>
          <a:bodyPr wrap="square" lIns="0" tIns="0" rIns="0" bIns="0" rtlCol="0" anchor="ctr"/>
          <a:lstStyle/>
          <a:p>
            <a:pPr algn="ctr" indent="0" marL="0">
              <a:lnSpc>
                <a:spcPct val="112000"/>
              </a:lnSpc>
              <a:buNone/>
            </a:pPr>
            <a:r>
              <a:rPr lang="en-US" sz="1200" b="1" dirty="0">
                <a:solidFill>
                  <a:srgbClr val="121214"/>
                </a:solidFill>
                <a:latin typeface="Segoe UI" pitchFamily="34" charset="0"/>
                <a:ea typeface="Segoe UI" pitchFamily="34" charset="-122"/>
                <a:cs typeface="Segoe UI" pitchFamily="34" charset="-120"/>
              </a:rPr>
              <a:t>✓</a:t>
            </a:r>
            <a:endParaRPr lang="en-US" sz="1200" dirty="0"/>
          </a:p>
        </p:txBody>
      </p:sp>
      <p:sp>
        <p:nvSpPr>
          <p:cNvPr id="42" name="Text 40"/>
          <p:cNvSpPr txBox="1"/>
          <p:nvPr/>
        </p:nvSpPr>
        <p:spPr>
          <a:xfrm>
            <a:off x="7569200" y="4330700"/>
            <a:ext cx="3810000" cy="254000"/>
          </a:xfrm>
          <a:prstGeom prst="rect">
            <a:avLst/>
          </a:prstGeom>
          <a:noFill/>
          <a:ln/>
        </p:spPr>
        <p:txBody>
          <a:bodyPr wrap="square" lIns="0" tIns="0" rIns="0" bIns="0" rtlCol="0" anchor="ctr"/>
          <a:lstStyle/>
          <a:p>
            <a:pPr algn="l" indent="0" marL="0">
              <a:lnSpc>
                <a:spcPct val="112000"/>
              </a:lnSpc>
              <a:buNone/>
            </a:pPr>
            <a:r>
              <a:rPr lang="en-US" sz="1500" dirty="0">
                <a:solidFill>
                  <a:srgbClr val="121214"/>
                </a:solidFill>
                <a:latin typeface="Segoe UI Semibold" pitchFamily="34" charset="0"/>
                <a:ea typeface="Segoe UI Semibold" pitchFamily="34" charset="-122"/>
                <a:cs typeface="Segoe UI Semibold" pitchFamily="34" charset="-120"/>
              </a:rPr>
              <a:t>Impossible: the database refuses it</a:t>
            </a:r>
            <a:endParaRPr lang="en-US" sz="1500" dirty="0"/>
          </a:p>
        </p:txBody>
      </p:sp>
      <p:sp>
        <p:nvSpPr>
          <p:cNvPr id="43" name="Shape 41"/>
          <p:cNvSpPr/>
          <p:nvPr/>
        </p:nvSpPr>
        <p:spPr>
          <a:xfrm>
            <a:off x="762000" y="4749800"/>
            <a:ext cx="10668000" cy="0"/>
          </a:xfrm>
          <a:prstGeom prst="line">
            <a:avLst/>
          </a:prstGeom>
          <a:noFill/>
          <a:ln w="12700">
            <a:solidFill>
              <a:srgbClr val="C9C9C4"/>
            </a:solidFill>
            <a:prstDash val="solid"/>
          </a:ln>
        </p:spPr>
      </p:sp>
      <p:sp>
        <p:nvSpPr>
          <p:cNvPr id="44" name="Text 42"/>
          <p:cNvSpPr txBox="1"/>
          <p:nvPr/>
        </p:nvSpPr>
        <p:spPr>
          <a:xfrm>
            <a:off x="762000" y="4927600"/>
            <a:ext cx="2413000" cy="2540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The lot's owner</a:t>
            </a:r>
            <a:endParaRPr lang="en-US" sz="1100" dirty="0"/>
          </a:p>
        </p:txBody>
      </p:sp>
      <p:sp>
        <p:nvSpPr>
          <p:cNvPr id="45" name="Shape 43"/>
          <p:cNvSpPr/>
          <p:nvPr/>
        </p:nvSpPr>
        <p:spPr>
          <a:xfrm>
            <a:off x="3302000" y="4927600"/>
            <a:ext cx="215900" cy="215900"/>
          </a:xfrm>
          <a:prstGeom prst="ellipse">
            <a:avLst/>
          </a:prstGeom>
          <a:solidFill>
            <a:srgbClr val="F4F4F1"/>
          </a:solidFill>
          <a:ln w="19050">
            <a:solidFill>
              <a:srgbClr val="C9C9C4"/>
            </a:solidFill>
            <a:prstDash val="solid"/>
          </a:ln>
        </p:spPr>
      </p:sp>
      <p:sp>
        <p:nvSpPr>
          <p:cNvPr id="46" name="Text 44"/>
          <p:cNvSpPr txBox="1"/>
          <p:nvPr/>
        </p:nvSpPr>
        <p:spPr>
          <a:xfrm>
            <a:off x="3302000" y="4927600"/>
            <a:ext cx="215900" cy="215900"/>
          </a:xfrm>
          <a:prstGeom prst="rect">
            <a:avLst/>
          </a:prstGeom>
          <a:noFill/>
          <a:ln/>
        </p:spPr>
        <p:txBody>
          <a:bodyPr wrap="square" lIns="0" tIns="0" rIns="0" bIns="0" rtlCol="0" anchor="ctr"/>
          <a:lstStyle/>
          <a:p>
            <a:pPr algn="ctr" indent="0" marL="0">
              <a:lnSpc>
                <a:spcPct val="112000"/>
              </a:lnSpc>
              <a:buNone/>
            </a:pPr>
            <a:r>
              <a:rPr lang="en-US" sz="1100" dirty="0">
                <a:solidFill>
                  <a:srgbClr val="9A9AA1"/>
                </a:solidFill>
                <a:latin typeface="Segoe UI" pitchFamily="34" charset="0"/>
                <a:ea typeface="Segoe UI" pitchFamily="34" charset="-122"/>
                <a:cs typeface="Segoe UI" pitchFamily="34" charset="-120"/>
              </a:rPr>
              <a:t>✕</a:t>
            </a:r>
            <a:endParaRPr lang="en-US" sz="1100" dirty="0"/>
          </a:p>
        </p:txBody>
      </p:sp>
      <p:sp>
        <p:nvSpPr>
          <p:cNvPr id="47" name="Text 45"/>
          <p:cNvSpPr txBox="1"/>
          <p:nvPr/>
        </p:nvSpPr>
        <p:spPr>
          <a:xfrm>
            <a:off x="3632200" y="4914900"/>
            <a:ext cx="3429000" cy="254000"/>
          </a:xfrm>
          <a:prstGeom prst="rect">
            <a:avLst/>
          </a:prstGeom>
          <a:noFill/>
          <a:ln/>
        </p:spPr>
        <p:txBody>
          <a:bodyPr wrap="square" lIns="0" tIns="0" rIns="0" bIns="0" rtlCol="0" anchor="ctr"/>
          <a:lstStyle/>
          <a:p>
            <a:pPr algn="l" indent="0" marL="0">
              <a:lnSpc>
                <a:spcPct val="112000"/>
              </a:lnSpc>
              <a:buNone/>
            </a:pPr>
            <a:r>
              <a:rPr lang="en-US" sz="1500" dirty="0">
                <a:solidFill>
                  <a:srgbClr val="9A9AA1"/>
                </a:solidFill>
                <a:latin typeface="Segoe UI" pitchFamily="34" charset="0"/>
                <a:ea typeface="Segoe UI" pitchFamily="34" charset="-122"/>
                <a:cs typeface="Segoe UI" pitchFamily="34" charset="-120"/>
              </a:rPr>
              <a:t>Guesses how it's used</a:t>
            </a:r>
            <a:endParaRPr lang="en-US" sz="1500" dirty="0"/>
          </a:p>
        </p:txBody>
      </p:sp>
      <p:sp>
        <p:nvSpPr>
          <p:cNvPr id="48" name="Shape 46"/>
          <p:cNvSpPr/>
          <p:nvPr/>
        </p:nvSpPr>
        <p:spPr>
          <a:xfrm>
            <a:off x="7239000" y="4927600"/>
            <a:ext cx="215900" cy="215900"/>
          </a:xfrm>
          <a:prstGeom prst="ellipse">
            <a:avLst/>
          </a:prstGeom>
          <a:solidFill>
            <a:srgbClr val="FFD75A"/>
          </a:solidFill>
          <a:ln w="12700">
            <a:solidFill>
              <a:srgbClr val="FFD75A"/>
            </a:solidFill>
            <a:prstDash val="solid"/>
          </a:ln>
        </p:spPr>
      </p:sp>
      <p:sp>
        <p:nvSpPr>
          <p:cNvPr id="49" name="Text 47"/>
          <p:cNvSpPr txBox="1"/>
          <p:nvPr/>
        </p:nvSpPr>
        <p:spPr>
          <a:xfrm>
            <a:off x="7239000" y="4927600"/>
            <a:ext cx="215900" cy="215900"/>
          </a:xfrm>
          <a:prstGeom prst="rect">
            <a:avLst/>
          </a:prstGeom>
          <a:noFill/>
          <a:ln/>
        </p:spPr>
        <p:txBody>
          <a:bodyPr wrap="square" lIns="0" tIns="0" rIns="0" bIns="0" rtlCol="0" anchor="ctr"/>
          <a:lstStyle/>
          <a:p>
            <a:pPr algn="ctr" indent="0" marL="0">
              <a:lnSpc>
                <a:spcPct val="112000"/>
              </a:lnSpc>
              <a:buNone/>
            </a:pPr>
            <a:r>
              <a:rPr lang="en-US" sz="1200" b="1" dirty="0">
                <a:solidFill>
                  <a:srgbClr val="121214"/>
                </a:solidFill>
                <a:latin typeface="Segoe UI" pitchFamily="34" charset="0"/>
                <a:ea typeface="Segoe UI" pitchFamily="34" charset="-122"/>
                <a:cs typeface="Segoe UI" pitchFamily="34" charset="-120"/>
              </a:rPr>
              <a:t>✓</a:t>
            </a:r>
            <a:endParaRPr lang="en-US" sz="1200" dirty="0"/>
          </a:p>
        </p:txBody>
      </p:sp>
      <p:sp>
        <p:nvSpPr>
          <p:cNvPr id="50" name="Text 48"/>
          <p:cNvSpPr txBox="1"/>
          <p:nvPr/>
        </p:nvSpPr>
        <p:spPr>
          <a:xfrm>
            <a:off x="7569200" y="4914900"/>
            <a:ext cx="3810000" cy="254000"/>
          </a:xfrm>
          <a:prstGeom prst="rect">
            <a:avLst/>
          </a:prstGeom>
          <a:noFill/>
          <a:ln/>
        </p:spPr>
        <p:txBody>
          <a:bodyPr wrap="square" lIns="0" tIns="0" rIns="0" bIns="0" rtlCol="0" anchor="ctr"/>
          <a:lstStyle/>
          <a:p>
            <a:pPr algn="l" indent="0" marL="0">
              <a:lnSpc>
                <a:spcPct val="112000"/>
              </a:lnSpc>
              <a:buNone/>
            </a:pPr>
            <a:r>
              <a:rPr lang="en-US" sz="1500" dirty="0">
                <a:solidFill>
                  <a:srgbClr val="121214"/>
                </a:solidFill>
                <a:latin typeface="Segoe UI Semibold" pitchFamily="34" charset="0"/>
                <a:ea typeface="Segoe UI Semibold" pitchFamily="34" charset="-122"/>
                <a:cs typeface="Segoe UI Semibold" pitchFamily="34" charset="-120"/>
              </a:rPr>
              <a:t>Every booking is data</a:t>
            </a:r>
            <a:endParaRPr lang="en-US" sz="1500" dirty="0"/>
          </a:p>
        </p:txBody>
      </p:sp>
      <p:sp>
        <p:nvSpPr>
          <p:cNvPr id="51" name="Text 49"/>
          <p:cNvSpPr txBox="1"/>
          <p:nvPr/>
        </p:nvSpPr>
        <p:spPr>
          <a:xfrm>
            <a:off x="762000" y="5651500"/>
            <a:ext cx="1524000" cy="292100"/>
          </a:xfrm>
          <a:prstGeom prst="rect">
            <a:avLst/>
          </a:prstGeom>
          <a:noFill/>
          <a:ln/>
        </p:spPr>
        <p:txBody>
          <a:bodyPr wrap="square" lIns="0" tIns="0" rIns="0" bIns="0" rtlCol="0" anchor="ctr"/>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What's new here</a:t>
            </a:r>
            <a:endParaRPr lang="en-US" sz="1100" dirty="0"/>
          </a:p>
        </p:txBody>
      </p:sp>
      <p:sp>
        <p:nvSpPr>
          <p:cNvPr id="52" name="Shape 50"/>
          <p:cNvSpPr/>
          <p:nvPr/>
        </p:nvSpPr>
        <p:spPr>
          <a:xfrm>
            <a:off x="2095500" y="5651500"/>
            <a:ext cx="1574800" cy="292100"/>
          </a:xfrm>
          <a:prstGeom prst="roundRect">
            <a:avLst>
              <a:gd name="adj" fmla="val 50000"/>
            </a:avLst>
          </a:prstGeom>
          <a:solidFill>
            <a:srgbClr val="FFD75A"/>
          </a:solidFill>
          <a:ln w="12700">
            <a:solidFill>
              <a:srgbClr val="D9A91A"/>
            </a:solidFill>
            <a:prstDash val="solid"/>
          </a:ln>
        </p:spPr>
      </p:sp>
      <p:sp>
        <p:nvSpPr>
          <p:cNvPr id="53" name="Text 51"/>
          <p:cNvSpPr txBox="1"/>
          <p:nvPr/>
        </p:nvSpPr>
        <p:spPr>
          <a:xfrm>
            <a:off x="2095500" y="5651500"/>
            <a:ext cx="1574800" cy="292100"/>
          </a:xfrm>
          <a:prstGeom prst="rect">
            <a:avLst/>
          </a:prstGeom>
          <a:noFill/>
          <a:ln/>
        </p:spPr>
        <p:txBody>
          <a:bodyPr wrap="none" lIns="0" tIns="0" rIns="0" bIns="0" rtlCol="0" anchor="ctr"/>
          <a:lstStyle/>
          <a:p>
            <a:pPr algn="ctr" indent="0" marL="0">
              <a:buNone/>
            </a:pPr>
            <a:r>
              <a:rPr lang="en-US" sz="1200" b="1" dirty="0">
                <a:solidFill>
                  <a:srgbClr val="17170F"/>
                </a:solidFill>
                <a:latin typeface="Segoe UI" pitchFamily="34" charset="0"/>
                <a:ea typeface="Segoe UI" pitchFamily="34" charset="-122"/>
                <a:cs typeface="Segoe UI" pitchFamily="34" charset="-120"/>
              </a:rPr>
              <a:t>Bay-level booking</a:t>
            </a:r>
            <a:endParaRPr lang="en-US" sz="1200" dirty="0"/>
          </a:p>
        </p:txBody>
      </p:sp>
      <p:sp>
        <p:nvSpPr>
          <p:cNvPr id="54" name="Shape 52"/>
          <p:cNvSpPr/>
          <p:nvPr/>
        </p:nvSpPr>
        <p:spPr>
          <a:xfrm>
            <a:off x="3746500" y="5651500"/>
            <a:ext cx="2349500" cy="292100"/>
          </a:xfrm>
          <a:prstGeom prst="roundRect">
            <a:avLst>
              <a:gd name="adj" fmla="val 50000"/>
            </a:avLst>
          </a:prstGeom>
          <a:solidFill>
            <a:srgbClr val="FDFDFB"/>
          </a:solidFill>
          <a:ln w="12700">
            <a:solidFill>
              <a:srgbClr val="C9C9C4"/>
            </a:solidFill>
            <a:prstDash val="solid"/>
          </a:ln>
        </p:spPr>
      </p:sp>
      <p:sp>
        <p:nvSpPr>
          <p:cNvPr id="55" name="Text 53"/>
          <p:cNvSpPr txBox="1"/>
          <p:nvPr/>
        </p:nvSpPr>
        <p:spPr>
          <a:xfrm>
            <a:off x="3746500" y="5651500"/>
            <a:ext cx="234950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X-ray lens over a live plan</a:t>
            </a:r>
            <a:endParaRPr lang="en-US" sz="1200" dirty="0"/>
          </a:p>
        </p:txBody>
      </p:sp>
      <p:sp>
        <p:nvSpPr>
          <p:cNvPr id="56" name="Shape 54"/>
          <p:cNvSpPr/>
          <p:nvPr/>
        </p:nvSpPr>
        <p:spPr>
          <a:xfrm>
            <a:off x="6172200" y="5651500"/>
            <a:ext cx="3130550" cy="292100"/>
          </a:xfrm>
          <a:prstGeom prst="roundRect">
            <a:avLst>
              <a:gd name="adj" fmla="val 50000"/>
            </a:avLst>
          </a:prstGeom>
          <a:solidFill>
            <a:srgbClr val="FDFDFB"/>
          </a:solidFill>
          <a:ln w="12700">
            <a:solidFill>
              <a:srgbClr val="C9C9C4"/>
            </a:solidFill>
            <a:prstDash val="solid"/>
          </a:ln>
        </p:spPr>
      </p:sp>
      <p:sp>
        <p:nvSpPr>
          <p:cNvPr id="57" name="Text 55"/>
          <p:cNvSpPr txBox="1"/>
          <p:nvPr/>
        </p:nvSpPr>
        <p:spPr>
          <a:xfrm>
            <a:off x="6172200" y="5651500"/>
            <a:ext cx="313055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A lot traced from its satellite photo</a:t>
            </a:r>
            <a:endParaRPr lang="en-US" sz="1200" dirty="0"/>
          </a:p>
        </p:txBody>
      </p:sp>
      <p:sp>
        <p:nvSpPr>
          <p:cNvPr id="58" name="Shape 56"/>
          <p:cNvSpPr/>
          <p:nvPr/>
        </p:nvSpPr>
        <p:spPr>
          <a:xfrm>
            <a:off x="2095500" y="6019800"/>
            <a:ext cx="2508250" cy="292100"/>
          </a:xfrm>
          <a:prstGeom prst="roundRect">
            <a:avLst>
              <a:gd name="adj" fmla="val 50000"/>
            </a:avLst>
          </a:prstGeom>
          <a:solidFill>
            <a:srgbClr val="FDFDFB"/>
          </a:solidFill>
          <a:ln w="12700">
            <a:solidFill>
              <a:srgbClr val="C9C9C4"/>
            </a:solidFill>
            <a:prstDash val="solid"/>
          </a:ln>
        </p:spPr>
      </p:sp>
      <p:sp>
        <p:nvSpPr>
          <p:cNvPr id="59" name="Text 57"/>
          <p:cNvSpPr txBox="1"/>
          <p:nvPr/>
        </p:nvSpPr>
        <p:spPr>
          <a:xfrm>
            <a:off x="2095500" y="6019800"/>
            <a:ext cx="250825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Live for every viewer at once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06</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3737909"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8001000" y="203200"/>
            <a:ext cx="26670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81153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229600" y="203200"/>
            <a:ext cx="24130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Working prototype</a:t>
            </a:r>
            <a:pPr indent="0" marL="0">
              <a:buNone/>
            </a:pPr>
            <a:r>
              <a:rPr lang="en-US" sz="900" dirty="0">
                <a:solidFill>
                  <a:srgbClr val="3C3C42"/>
                </a:solidFill>
                <a:latin typeface="Consolas" pitchFamily="34" charset="0"/>
                <a:ea typeface="Consolas" pitchFamily="34" charset="-122"/>
                <a:cs typeface="Consolas" pitchFamily="34" charset="-120"/>
              </a:rPr>
              <a:t>  ·  How it works</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05</a:t>
            </a:r>
            <a:pPr algn="l" indent="0" marL="0">
              <a:buNone/>
            </a:pPr>
            <a:r>
              <a:rPr lang="en-US" sz="1100" dirty="0">
                <a:solidFill>
                  <a:srgbClr val="62626A"/>
                </a:solidFill>
                <a:latin typeface="Consolas" pitchFamily="34" charset="0"/>
                <a:ea typeface="Consolas" pitchFamily="34" charset="-122"/>
                <a:cs typeface="Consolas" pitchFamily="34" charset="-120"/>
              </a:rPr>
              <a:t>  ——  How a booking works</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Five steps, lot to parked.</a:t>
            </a:r>
            <a:endParaRPr lang="en-US" sz="4400" dirty="0"/>
          </a:p>
        </p:txBody>
      </p:sp>
      <p:sp>
        <p:nvSpPr>
          <p:cNvPr id="9" name="Shape 7"/>
          <p:cNvSpPr/>
          <p:nvPr/>
        </p:nvSpPr>
        <p:spPr>
          <a:xfrm>
            <a:off x="762000" y="4127500"/>
            <a:ext cx="10668000" cy="0"/>
          </a:xfrm>
          <a:prstGeom prst="line">
            <a:avLst/>
          </a:prstGeom>
          <a:noFill/>
          <a:ln w="12700">
            <a:solidFill>
              <a:srgbClr val="C9C9C4"/>
            </a:solidFill>
            <a:prstDash val="solid"/>
          </a:ln>
        </p:spPr>
      </p:sp>
      <p:pic>
        <p:nvPicPr>
          <p:cNvPr id="10" name="Image 0" descr="C:\Users\vansh\Downloads\Vishu 2\presentation-build\pieces\step1.png">    </p:cNvPr>
          <p:cNvPicPr>
            <a:picLocks noChangeAspect="1"/>
          </p:cNvPicPr>
          <p:nvPr/>
        </p:nvPicPr>
        <p:blipFill>
          <a:blip r:embed="rId1"/>
          <a:stretch>
            <a:fillRect/>
          </a:stretch>
        </p:blipFill>
        <p:spPr>
          <a:xfrm>
            <a:off x="762000" y="2540000"/>
            <a:ext cx="1981200" cy="1333500"/>
          </a:xfrm>
          <a:prstGeom prst="rect">
            <a:avLst/>
          </a:prstGeom>
        </p:spPr>
      </p:pic>
      <p:sp>
        <p:nvSpPr>
          <p:cNvPr id="11" name="Shape 8"/>
          <p:cNvSpPr/>
          <p:nvPr/>
        </p:nvSpPr>
        <p:spPr>
          <a:xfrm>
            <a:off x="762000" y="4044950"/>
            <a:ext cx="165100" cy="165100"/>
          </a:xfrm>
          <a:prstGeom prst="ellipse">
            <a:avLst/>
          </a:prstGeom>
          <a:solidFill>
            <a:srgbClr val="F4F4F1"/>
          </a:solidFill>
          <a:ln w="28575">
            <a:solidFill>
              <a:srgbClr val="121214"/>
            </a:solidFill>
            <a:prstDash val="solid"/>
          </a:ln>
        </p:spPr>
      </p:sp>
      <p:sp>
        <p:nvSpPr>
          <p:cNvPr id="12" name="Text 9"/>
          <p:cNvSpPr txBox="1"/>
          <p:nvPr/>
        </p:nvSpPr>
        <p:spPr>
          <a:xfrm>
            <a:off x="762000" y="44450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01</a:t>
            </a:r>
            <a:endParaRPr lang="en-US" sz="1000" dirty="0"/>
          </a:p>
        </p:txBody>
      </p:sp>
      <p:sp>
        <p:nvSpPr>
          <p:cNvPr id="13" name="Text 10"/>
          <p:cNvSpPr txBox="1"/>
          <p:nvPr/>
        </p:nvSpPr>
        <p:spPr>
          <a:xfrm>
            <a:off x="762000" y="4648200"/>
            <a:ext cx="2032000" cy="381000"/>
          </a:xfrm>
          <a:prstGeom prst="rect">
            <a:avLst/>
          </a:prstGeom>
          <a:noFill/>
          <a:ln/>
        </p:spPr>
        <p:txBody>
          <a:bodyPr wrap="square" lIns="0" tIns="0" rIns="0" bIns="0" rtlCol="0" anchor="t"/>
          <a:lstStyle/>
          <a:p>
            <a:pPr algn="l" indent="0" marL="0">
              <a:lnSpc>
                <a:spcPct val="112000"/>
              </a:lnSpc>
              <a:buNone/>
            </a:pPr>
            <a:r>
              <a:rPr lang="en-US" sz="2400" spc="-80" kern="0" dirty="0">
                <a:solidFill>
                  <a:srgbClr val="121214"/>
                </a:solidFill>
                <a:latin typeface="Segoe UI Semibold" pitchFamily="34" charset="0"/>
                <a:ea typeface="Segoe UI Semibold" pitchFamily="34" charset="-122"/>
                <a:cs typeface="Segoe UI Semibold" pitchFamily="34" charset="-120"/>
              </a:rPr>
              <a:t>A lot.</a:t>
            </a:r>
            <a:endParaRPr lang="en-US" sz="2400" dirty="0"/>
          </a:p>
        </p:txBody>
      </p:sp>
      <p:sp>
        <p:nvSpPr>
          <p:cNvPr id="14" name="Text 11"/>
          <p:cNvSpPr txBox="1"/>
          <p:nvPr/>
        </p:nvSpPr>
        <p:spPr>
          <a:xfrm>
            <a:off x="762000" y="5080000"/>
            <a:ext cx="1905000" cy="1143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Each lot is drawn once, row by row, from its satellite photo.</a:t>
            </a:r>
            <a:endParaRPr lang="en-US" sz="1400" dirty="0"/>
          </a:p>
        </p:txBody>
      </p:sp>
      <p:pic>
        <p:nvPicPr>
          <p:cNvPr id="15" name="Image 1" descr="C:\Users\vansh\Downloads\Vishu 2\presentation-build\pieces\step2.png">    </p:cNvPr>
          <p:cNvPicPr>
            <a:picLocks noChangeAspect="1"/>
          </p:cNvPicPr>
          <p:nvPr/>
        </p:nvPicPr>
        <p:blipFill>
          <a:blip r:embed="rId2"/>
          <a:stretch>
            <a:fillRect/>
          </a:stretch>
        </p:blipFill>
        <p:spPr>
          <a:xfrm>
            <a:off x="2933700" y="2540000"/>
            <a:ext cx="1981200" cy="1333500"/>
          </a:xfrm>
          <a:prstGeom prst="rect">
            <a:avLst/>
          </a:prstGeom>
        </p:spPr>
      </p:pic>
      <p:sp>
        <p:nvSpPr>
          <p:cNvPr id="16" name="Shape 12"/>
          <p:cNvSpPr/>
          <p:nvPr/>
        </p:nvSpPr>
        <p:spPr>
          <a:xfrm>
            <a:off x="2933700" y="4044950"/>
            <a:ext cx="165100" cy="165100"/>
          </a:xfrm>
          <a:prstGeom prst="ellipse">
            <a:avLst/>
          </a:prstGeom>
          <a:solidFill>
            <a:srgbClr val="F4F4F1"/>
          </a:solidFill>
          <a:ln w="28575">
            <a:solidFill>
              <a:srgbClr val="121214"/>
            </a:solidFill>
            <a:prstDash val="solid"/>
          </a:ln>
        </p:spPr>
      </p:sp>
      <p:sp>
        <p:nvSpPr>
          <p:cNvPr id="17" name="Text 13"/>
          <p:cNvSpPr txBox="1"/>
          <p:nvPr/>
        </p:nvSpPr>
        <p:spPr>
          <a:xfrm>
            <a:off x="2933700" y="44450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02</a:t>
            </a:r>
            <a:endParaRPr lang="en-US" sz="1000" dirty="0"/>
          </a:p>
        </p:txBody>
      </p:sp>
      <p:sp>
        <p:nvSpPr>
          <p:cNvPr id="18" name="Text 14"/>
          <p:cNvSpPr txBox="1"/>
          <p:nvPr/>
        </p:nvSpPr>
        <p:spPr>
          <a:xfrm>
            <a:off x="2933700" y="4648200"/>
            <a:ext cx="2032000" cy="381000"/>
          </a:xfrm>
          <a:prstGeom prst="rect">
            <a:avLst/>
          </a:prstGeom>
          <a:noFill/>
          <a:ln/>
        </p:spPr>
        <p:txBody>
          <a:bodyPr wrap="square" lIns="0" tIns="0" rIns="0" bIns="0" rtlCol="0" anchor="t"/>
          <a:lstStyle/>
          <a:p>
            <a:pPr algn="l" indent="0" marL="0">
              <a:lnSpc>
                <a:spcPct val="112000"/>
              </a:lnSpc>
              <a:buNone/>
            </a:pPr>
            <a:r>
              <a:rPr lang="en-US" sz="2400" spc="-80" kern="0" dirty="0">
                <a:solidFill>
                  <a:srgbClr val="121214"/>
                </a:solidFill>
                <a:latin typeface="Segoe UI Semibold" pitchFamily="34" charset="0"/>
                <a:ea typeface="Segoe UI Semibold" pitchFamily="34" charset="-122"/>
                <a:cs typeface="Segoe UI Semibold" pitchFamily="34" charset="-120"/>
              </a:rPr>
              <a:t>A bay.</a:t>
            </a:r>
            <a:endParaRPr lang="en-US" sz="2400" dirty="0"/>
          </a:p>
        </p:txBody>
      </p:sp>
      <p:sp>
        <p:nvSpPr>
          <p:cNvPr id="19" name="Text 15"/>
          <p:cNvSpPr txBox="1"/>
          <p:nvPr/>
        </p:nvSpPr>
        <p:spPr>
          <a:xfrm>
            <a:off x="2933700" y="5080000"/>
            <a:ext cx="1905000" cy="1143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Every bay has a name, a size and a type: standard, compact, EV or step-free.</a:t>
            </a:r>
            <a:endParaRPr lang="en-US" sz="1400" dirty="0"/>
          </a:p>
        </p:txBody>
      </p:sp>
      <p:pic>
        <p:nvPicPr>
          <p:cNvPr id="20" name="Image 2" descr="C:\Users\vansh\Downloads\Vishu 2\presentation-build\pieces\step3.png">    </p:cNvPr>
          <p:cNvPicPr>
            <a:picLocks noChangeAspect="1"/>
          </p:cNvPicPr>
          <p:nvPr/>
        </p:nvPicPr>
        <p:blipFill>
          <a:blip r:embed="rId3"/>
          <a:stretch>
            <a:fillRect/>
          </a:stretch>
        </p:blipFill>
        <p:spPr>
          <a:xfrm>
            <a:off x="5105400" y="2540000"/>
            <a:ext cx="1981200" cy="1333500"/>
          </a:xfrm>
          <a:prstGeom prst="rect">
            <a:avLst/>
          </a:prstGeom>
        </p:spPr>
      </p:pic>
      <p:sp>
        <p:nvSpPr>
          <p:cNvPr id="21" name="Shape 16"/>
          <p:cNvSpPr/>
          <p:nvPr/>
        </p:nvSpPr>
        <p:spPr>
          <a:xfrm>
            <a:off x="5105400" y="4044950"/>
            <a:ext cx="165100" cy="165100"/>
          </a:xfrm>
          <a:prstGeom prst="ellipse">
            <a:avLst/>
          </a:prstGeom>
          <a:solidFill>
            <a:srgbClr val="F4F4F1"/>
          </a:solidFill>
          <a:ln w="28575">
            <a:solidFill>
              <a:srgbClr val="121214"/>
            </a:solidFill>
            <a:prstDash val="solid"/>
          </a:ln>
        </p:spPr>
      </p:sp>
      <p:sp>
        <p:nvSpPr>
          <p:cNvPr id="22" name="Text 17"/>
          <p:cNvSpPr txBox="1"/>
          <p:nvPr/>
        </p:nvSpPr>
        <p:spPr>
          <a:xfrm>
            <a:off x="5105400" y="44450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03</a:t>
            </a:r>
            <a:endParaRPr lang="en-US" sz="1000" dirty="0"/>
          </a:p>
        </p:txBody>
      </p:sp>
      <p:sp>
        <p:nvSpPr>
          <p:cNvPr id="23" name="Text 18"/>
          <p:cNvSpPr txBox="1"/>
          <p:nvPr/>
        </p:nvSpPr>
        <p:spPr>
          <a:xfrm>
            <a:off x="5105400" y="4648200"/>
            <a:ext cx="2032000" cy="381000"/>
          </a:xfrm>
          <a:prstGeom prst="rect">
            <a:avLst/>
          </a:prstGeom>
          <a:noFill/>
          <a:ln/>
        </p:spPr>
        <p:txBody>
          <a:bodyPr wrap="square" lIns="0" tIns="0" rIns="0" bIns="0" rtlCol="0" anchor="t"/>
          <a:lstStyle/>
          <a:p>
            <a:pPr algn="l" indent="0" marL="0">
              <a:lnSpc>
                <a:spcPct val="112000"/>
              </a:lnSpc>
              <a:buNone/>
            </a:pPr>
            <a:r>
              <a:rPr lang="en-US" sz="2400" spc="-80" kern="0" dirty="0">
                <a:solidFill>
                  <a:srgbClr val="121214"/>
                </a:solidFill>
                <a:latin typeface="Segoe UI Semibold" pitchFamily="34" charset="0"/>
                <a:ea typeface="Segoe UI Semibold" pitchFamily="34" charset="-122"/>
                <a:cs typeface="Segoe UI Semibold" pitchFamily="34" charset="-120"/>
              </a:rPr>
              <a:t>A window.</a:t>
            </a:r>
            <a:endParaRPr lang="en-US" sz="2400" dirty="0"/>
          </a:p>
        </p:txBody>
      </p:sp>
      <p:sp>
        <p:nvSpPr>
          <p:cNvPr id="24" name="Text 19"/>
          <p:cNvSpPr txBox="1"/>
          <p:nvPr/>
        </p:nvSpPr>
        <p:spPr>
          <a:xfrm>
            <a:off x="5105400" y="5080000"/>
            <a:ext cx="1905000" cy="1143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Pick when you arrive and how long you stay. Taken hours show grey.</a:t>
            </a:r>
            <a:endParaRPr lang="en-US" sz="1400" dirty="0"/>
          </a:p>
        </p:txBody>
      </p:sp>
      <p:pic>
        <p:nvPicPr>
          <p:cNvPr id="25" name="Image 3" descr="C:\Users\vansh\Downloads\Vishu 2\presentation-build\pieces\step4.png">    </p:cNvPr>
          <p:cNvPicPr>
            <a:picLocks noChangeAspect="1"/>
          </p:cNvPicPr>
          <p:nvPr/>
        </p:nvPicPr>
        <p:blipFill>
          <a:blip r:embed="rId4"/>
          <a:stretch>
            <a:fillRect/>
          </a:stretch>
        </p:blipFill>
        <p:spPr>
          <a:xfrm>
            <a:off x="7277100" y="2540000"/>
            <a:ext cx="1981200" cy="1333500"/>
          </a:xfrm>
          <a:prstGeom prst="rect">
            <a:avLst/>
          </a:prstGeom>
        </p:spPr>
      </p:pic>
      <p:sp>
        <p:nvSpPr>
          <p:cNvPr id="26" name="Shape 20"/>
          <p:cNvSpPr/>
          <p:nvPr/>
        </p:nvSpPr>
        <p:spPr>
          <a:xfrm>
            <a:off x="7277100" y="4044950"/>
            <a:ext cx="165100" cy="165100"/>
          </a:xfrm>
          <a:prstGeom prst="ellipse">
            <a:avLst/>
          </a:prstGeom>
          <a:solidFill>
            <a:srgbClr val="F4F4F1"/>
          </a:solidFill>
          <a:ln w="28575">
            <a:solidFill>
              <a:srgbClr val="121214"/>
            </a:solidFill>
            <a:prstDash val="solid"/>
          </a:ln>
        </p:spPr>
      </p:sp>
      <p:sp>
        <p:nvSpPr>
          <p:cNvPr id="27" name="Text 21"/>
          <p:cNvSpPr txBox="1"/>
          <p:nvPr/>
        </p:nvSpPr>
        <p:spPr>
          <a:xfrm>
            <a:off x="7277100" y="44450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04</a:t>
            </a:r>
            <a:endParaRPr lang="en-US" sz="1000" dirty="0"/>
          </a:p>
        </p:txBody>
      </p:sp>
      <p:sp>
        <p:nvSpPr>
          <p:cNvPr id="28" name="Text 22"/>
          <p:cNvSpPr txBox="1"/>
          <p:nvPr/>
        </p:nvSpPr>
        <p:spPr>
          <a:xfrm>
            <a:off x="7277100" y="4648200"/>
            <a:ext cx="2032000" cy="381000"/>
          </a:xfrm>
          <a:prstGeom prst="rect">
            <a:avLst/>
          </a:prstGeom>
          <a:noFill/>
          <a:ln/>
        </p:spPr>
        <p:txBody>
          <a:bodyPr wrap="square" lIns="0" tIns="0" rIns="0" bIns="0" rtlCol="0" anchor="t"/>
          <a:lstStyle/>
          <a:p>
            <a:pPr algn="l" indent="0" marL="0">
              <a:lnSpc>
                <a:spcPct val="112000"/>
              </a:lnSpc>
              <a:buNone/>
            </a:pPr>
            <a:r>
              <a:rPr lang="en-US" sz="2400" spc="-80" kern="0" dirty="0">
                <a:solidFill>
                  <a:srgbClr val="121214"/>
                </a:solidFill>
                <a:latin typeface="Segoe UI Semibold" pitchFamily="34" charset="0"/>
                <a:ea typeface="Segoe UI Semibold" pitchFamily="34" charset="-122"/>
                <a:cs typeface="Segoe UI Semibold" pitchFamily="34" charset="-120"/>
              </a:rPr>
              <a:t>A hold.</a:t>
            </a:r>
            <a:endParaRPr lang="en-US" sz="2400" dirty="0"/>
          </a:p>
        </p:txBody>
      </p:sp>
      <p:sp>
        <p:nvSpPr>
          <p:cNvPr id="29" name="Text 23"/>
          <p:cNvSpPr txBox="1"/>
          <p:nvPr/>
        </p:nvSpPr>
        <p:spPr>
          <a:xfrm>
            <a:off x="7277100" y="5080000"/>
            <a:ext cx="1905000" cy="1143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Confirm, and the bay is held in your name with a bay pass and a code.</a:t>
            </a:r>
            <a:endParaRPr lang="en-US" sz="1400" dirty="0"/>
          </a:p>
        </p:txBody>
      </p:sp>
      <p:pic>
        <p:nvPicPr>
          <p:cNvPr id="30" name="Image 4" descr="C:\Users\vansh\Downloads\Vishu 2\presentation-build\pieces\step5.png">    </p:cNvPr>
          <p:cNvPicPr>
            <a:picLocks noChangeAspect="1"/>
          </p:cNvPicPr>
          <p:nvPr/>
        </p:nvPicPr>
        <p:blipFill>
          <a:blip r:embed="rId5"/>
          <a:stretch>
            <a:fillRect/>
          </a:stretch>
        </p:blipFill>
        <p:spPr>
          <a:xfrm>
            <a:off x="9448800" y="2540000"/>
            <a:ext cx="1981200" cy="1333500"/>
          </a:xfrm>
          <a:prstGeom prst="rect">
            <a:avLst/>
          </a:prstGeom>
        </p:spPr>
      </p:pic>
      <p:sp>
        <p:nvSpPr>
          <p:cNvPr id="31" name="Shape 24"/>
          <p:cNvSpPr/>
          <p:nvPr/>
        </p:nvSpPr>
        <p:spPr>
          <a:xfrm>
            <a:off x="9448800" y="4044950"/>
            <a:ext cx="165100" cy="165100"/>
          </a:xfrm>
          <a:prstGeom prst="ellipse">
            <a:avLst/>
          </a:prstGeom>
          <a:solidFill>
            <a:srgbClr val="FFD75A"/>
          </a:solidFill>
          <a:ln w="28575">
            <a:solidFill>
              <a:srgbClr val="121214"/>
            </a:solidFill>
            <a:prstDash val="solid"/>
          </a:ln>
        </p:spPr>
      </p:sp>
      <p:sp>
        <p:nvSpPr>
          <p:cNvPr id="32" name="Text 25"/>
          <p:cNvSpPr txBox="1"/>
          <p:nvPr/>
        </p:nvSpPr>
        <p:spPr>
          <a:xfrm>
            <a:off x="9448800" y="44450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05</a:t>
            </a:r>
            <a:endParaRPr lang="en-US" sz="1000" dirty="0"/>
          </a:p>
        </p:txBody>
      </p:sp>
      <p:sp>
        <p:nvSpPr>
          <p:cNvPr id="33" name="Text 26"/>
          <p:cNvSpPr txBox="1"/>
          <p:nvPr/>
        </p:nvSpPr>
        <p:spPr>
          <a:xfrm>
            <a:off x="9448800" y="4648200"/>
            <a:ext cx="2032000" cy="381000"/>
          </a:xfrm>
          <a:prstGeom prst="rect">
            <a:avLst/>
          </a:prstGeom>
          <a:noFill/>
          <a:ln/>
        </p:spPr>
        <p:txBody>
          <a:bodyPr wrap="square" lIns="0" tIns="0" rIns="0" bIns="0" rtlCol="0" anchor="t"/>
          <a:lstStyle/>
          <a:p>
            <a:pPr algn="l" indent="0" marL="0">
              <a:lnSpc>
                <a:spcPct val="112000"/>
              </a:lnSpc>
              <a:buNone/>
            </a:pPr>
            <a:r>
              <a:rPr lang="en-US" sz="2400" spc="-80" kern="0" dirty="0">
                <a:solidFill>
                  <a:srgbClr val="121214"/>
                </a:solidFill>
                <a:latin typeface="Segoe UI Semibold" pitchFamily="34" charset="0"/>
                <a:ea typeface="Segoe UI Semibold" pitchFamily="34" charset="-122"/>
                <a:cs typeface="Segoe UI Semibold" pitchFamily="34" charset="-120"/>
              </a:rPr>
              <a:t>You arrive.</a:t>
            </a:r>
            <a:endParaRPr lang="en-US" sz="2400" dirty="0"/>
          </a:p>
        </p:txBody>
      </p:sp>
      <p:sp>
        <p:nvSpPr>
          <p:cNvPr id="34" name="Text 27"/>
          <p:cNvSpPr txBox="1"/>
          <p:nvPr/>
        </p:nvSpPr>
        <p:spPr>
          <a:xfrm>
            <a:off x="9448800" y="5080000"/>
            <a:ext cx="1905000" cy="1143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Drive straight to your bay. Nobody else could book it.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07</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4395321"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042150" y="203200"/>
            <a:ext cx="362585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15645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270750" y="203200"/>
            <a:ext cx="337185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Working prototype</a:t>
            </a:r>
            <a:pPr indent="0" marL="0">
              <a:buNone/>
            </a:pPr>
            <a:r>
              <a:rPr lang="en-US" sz="900" dirty="0">
                <a:solidFill>
                  <a:srgbClr val="3C3C42"/>
                </a:solidFill>
                <a:latin typeface="Consolas" pitchFamily="34" charset="0"/>
                <a:ea typeface="Consolas" pitchFamily="34" charset="-122"/>
                <a:cs typeface="Consolas" pitchFamily="34" charset="-120"/>
              </a:rPr>
              <a:t>  ·  Functionality of prototype</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06</a:t>
            </a:r>
            <a:pPr algn="l" indent="0" marL="0">
              <a:buNone/>
            </a:pPr>
            <a:r>
              <a:rPr lang="en-US" sz="1100" dirty="0">
                <a:solidFill>
                  <a:srgbClr val="62626A"/>
                </a:solidFill>
                <a:latin typeface="Consolas" pitchFamily="34" charset="0"/>
                <a:ea typeface="Consolas" pitchFamily="34" charset="-122"/>
                <a:cs typeface="Consolas" pitchFamily="34" charset="-120"/>
              </a:rPr>
              <a:t>  ——  Built on the real lot</a:t>
            </a:r>
            <a:endParaRPr lang="en-US" sz="1100" dirty="0"/>
          </a:p>
        </p:txBody>
      </p:sp>
      <p:sp>
        <p:nvSpPr>
          <p:cNvPr id="8" name="Text 18"/>
          <p:cNvSpPr/>
          <p:nvPr>
            <p:ph idx="120" type="title" hasCustomPrompt="1"/>
          </p:nvPr>
        </p:nvSpPr>
        <p:spPr>
          <a:xfrm>
            <a:off x="762000" y="1295400"/>
            <a:ext cx="5842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Drawn from the real KIET lot.</a:t>
            </a:r>
            <a:endParaRPr lang="en-US" sz="4400" dirty="0"/>
          </a:p>
        </p:txBody>
      </p:sp>
      <p:sp>
        <p:nvSpPr>
          <p:cNvPr id="9" name="Text 7"/>
          <p:cNvSpPr txBox="1"/>
          <p:nvPr/>
        </p:nvSpPr>
        <p:spPr>
          <a:xfrm>
            <a:off x="762000" y="2794000"/>
            <a:ext cx="5461000" cy="762000"/>
          </a:xfrm>
          <a:prstGeom prst="rect">
            <a:avLst/>
          </a:prstGeom>
          <a:noFill/>
          <a:ln/>
        </p:spPr>
        <p:txBody>
          <a:bodyPr wrap="square" lIns="0" tIns="0" rIns="0" bIns="0" rtlCol="0" anchor="t"/>
          <a:lstStyle/>
          <a:p>
            <a:pPr algn="l" indent="0" marL="0">
              <a:lnSpc>
                <a:spcPct val="112000"/>
              </a:lnSpc>
              <a:buNone/>
            </a:pPr>
            <a:r>
              <a:rPr lang="en-US" sz="1700" dirty="0">
                <a:solidFill>
                  <a:srgbClr val="3C3C42"/>
                </a:solidFill>
                <a:latin typeface="Segoe UI" pitchFamily="34" charset="0"/>
                <a:ea typeface="Segoe UI" pitchFamily="34" charset="-122"/>
                <a:cs typeface="Segoe UI" pitchFamily="34" charset="-120"/>
              </a:rPr>
              <a:t>We traced the lot beside the KIET football ground from its satellite photo. Every bay sits on the photo's own pixels.</a:t>
            </a:r>
            <a:endParaRPr lang="en-US" sz="1700" dirty="0"/>
          </a:p>
        </p:txBody>
      </p:sp>
      <p:sp>
        <p:nvSpPr>
          <p:cNvPr id="10" name="Text 8"/>
          <p:cNvSpPr txBox="1"/>
          <p:nvPr/>
        </p:nvSpPr>
        <p:spPr>
          <a:xfrm>
            <a:off x="762000" y="3810000"/>
            <a:ext cx="2667000" cy="571500"/>
          </a:xfrm>
          <a:prstGeom prst="rect">
            <a:avLst/>
          </a:prstGeom>
          <a:noFill/>
          <a:ln/>
        </p:spPr>
        <p:txBody>
          <a:bodyPr wrap="square" lIns="0" tIns="0" rIns="0" bIns="0" rtlCol="0" anchor="b"/>
          <a:lstStyle/>
          <a:p>
            <a:pPr algn="l" indent="0" marL="0">
              <a:lnSpc>
                <a:spcPct val="90000"/>
              </a:lnSpc>
              <a:buNone/>
            </a:pPr>
            <a:r>
              <a:rPr lang="en-US" sz="4800" spc="-200" kern="0" dirty="0">
                <a:solidFill>
                  <a:srgbClr val="121214"/>
                </a:solidFill>
                <a:latin typeface="Segoe UI Semibold" pitchFamily="34" charset="0"/>
                <a:ea typeface="Segoe UI Semibold" pitchFamily="34" charset="-122"/>
                <a:cs typeface="Segoe UI Semibold" pitchFamily="34" charset="-120"/>
              </a:rPr>
              <a:t>96</a:t>
            </a:r>
            <a:endParaRPr lang="en-US" sz="4800" dirty="0"/>
          </a:p>
        </p:txBody>
      </p:sp>
      <p:sp>
        <p:nvSpPr>
          <p:cNvPr id="11" name="Text 9"/>
          <p:cNvSpPr txBox="1"/>
          <p:nvPr/>
        </p:nvSpPr>
        <p:spPr>
          <a:xfrm>
            <a:off x="762000" y="4432300"/>
            <a:ext cx="2540000" cy="381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bays, all bookable</a:t>
            </a:r>
            <a:endParaRPr lang="en-US" sz="1300" dirty="0"/>
          </a:p>
        </p:txBody>
      </p:sp>
      <p:sp>
        <p:nvSpPr>
          <p:cNvPr id="12" name="Text 10"/>
          <p:cNvSpPr txBox="1"/>
          <p:nvPr/>
        </p:nvSpPr>
        <p:spPr>
          <a:xfrm>
            <a:off x="3556000" y="3810000"/>
            <a:ext cx="2667000" cy="571500"/>
          </a:xfrm>
          <a:prstGeom prst="rect">
            <a:avLst/>
          </a:prstGeom>
          <a:noFill/>
          <a:ln/>
        </p:spPr>
        <p:txBody>
          <a:bodyPr wrap="square" lIns="0" tIns="0" rIns="0" bIns="0" rtlCol="0" anchor="b"/>
          <a:lstStyle/>
          <a:p>
            <a:pPr algn="l" indent="0" marL="0">
              <a:lnSpc>
                <a:spcPct val="90000"/>
              </a:lnSpc>
              <a:buNone/>
            </a:pPr>
            <a:r>
              <a:rPr lang="en-US" sz="4800" spc="-200" kern="0" dirty="0">
                <a:solidFill>
                  <a:srgbClr val="121214"/>
                </a:solidFill>
                <a:latin typeface="Segoe UI Semibold" pitchFamily="34" charset="0"/>
                <a:ea typeface="Segoe UI Semibold" pitchFamily="34" charset="-122"/>
                <a:cs typeface="Segoe UI Semibold" pitchFamily="34" charset="-120"/>
              </a:rPr>
              <a:t>5</a:t>
            </a:r>
            <a:endParaRPr lang="en-US" sz="4800" dirty="0"/>
          </a:p>
        </p:txBody>
      </p:sp>
      <p:sp>
        <p:nvSpPr>
          <p:cNvPr id="13" name="Text 11"/>
          <p:cNvSpPr txBox="1"/>
          <p:nvPr/>
        </p:nvSpPr>
        <p:spPr>
          <a:xfrm>
            <a:off x="3556000" y="4432300"/>
            <a:ext cx="2540000" cy="381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rows, A to E</a:t>
            </a:r>
            <a:endParaRPr lang="en-US" sz="1300" dirty="0"/>
          </a:p>
        </p:txBody>
      </p:sp>
      <p:sp>
        <p:nvSpPr>
          <p:cNvPr id="14" name="Text 12"/>
          <p:cNvSpPr txBox="1"/>
          <p:nvPr/>
        </p:nvSpPr>
        <p:spPr>
          <a:xfrm>
            <a:off x="762000" y="5016500"/>
            <a:ext cx="2667000" cy="571500"/>
          </a:xfrm>
          <a:prstGeom prst="rect">
            <a:avLst/>
          </a:prstGeom>
          <a:noFill/>
          <a:ln/>
        </p:spPr>
        <p:txBody>
          <a:bodyPr wrap="square" lIns="0" tIns="0" rIns="0" bIns="0" rtlCol="0" anchor="b"/>
          <a:lstStyle/>
          <a:p>
            <a:pPr algn="l" indent="0" marL="0">
              <a:lnSpc>
                <a:spcPct val="90000"/>
              </a:lnSpc>
              <a:buNone/>
            </a:pPr>
            <a:r>
              <a:rPr lang="en-US" sz="4000" spc="-200" kern="0" dirty="0">
                <a:solidFill>
                  <a:srgbClr val="121214"/>
                </a:solidFill>
                <a:latin typeface="Segoe UI Semibold" pitchFamily="34" charset="0"/>
                <a:ea typeface="Segoe UI Semibold" pitchFamily="34" charset="-122"/>
                <a:cs typeface="Segoe UI Semibold" pitchFamily="34" charset="-120"/>
              </a:rPr>
              <a:t>2.5 × 4.9 m</a:t>
            </a:r>
            <a:endParaRPr lang="en-US" sz="4000" dirty="0"/>
          </a:p>
        </p:txBody>
      </p:sp>
      <p:sp>
        <p:nvSpPr>
          <p:cNvPr id="15" name="Text 13"/>
          <p:cNvSpPr txBox="1"/>
          <p:nvPr/>
        </p:nvSpPr>
        <p:spPr>
          <a:xfrm>
            <a:off x="762000" y="5638800"/>
            <a:ext cx="2540000" cy="381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a standard bay</a:t>
            </a:r>
            <a:endParaRPr lang="en-US" sz="1300" dirty="0"/>
          </a:p>
        </p:txBody>
      </p:sp>
      <p:sp>
        <p:nvSpPr>
          <p:cNvPr id="16" name="Text 14"/>
          <p:cNvSpPr txBox="1"/>
          <p:nvPr/>
        </p:nvSpPr>
        <p:spPr>
          <a:xfrm>
            <a:off x="3556000" y="5016500"/>
            <a:ext cx="2667000" cy="571500"/>
          </a:xfrm>
          <a:prstGeom prst="rect">
            <a:avLst/>
          </a:prstGeom>
          <a:noFill/>
          <a:ln/>
        </p:spPr>
        <p:txBody>
          <a:bodyPr wrap="square" lIns="0" tIns="0" rIns="0" bIns="0" rtlCol="0" anchor="b"/>
          <a:lstStyle/>
          <a:p>
            <a:pPr algn="l" indent="0" marL="0">
              <a:lnSpc>
                <a:spcPct val="90000"/>
              </a:lnSpc>
              <a:buNone/>
            </a:pPr>
            <a:r>
              <a:rPr lang="en-US" sz="4000" spc="-200" kern="0" dirty="0">
                <a:solidFill>
                  <a:srgbClr val="121214"/>
                </a:solidFill>
                <a:latin typeface="Segoe UI Semibold" pitchFamily="34" charset="0"/>
                <a:ea typeface="Segoe UI Semibold" pitchFamily="34" charset="-122"/>
                <a:cs typeface="Segoe UI Semibold" pitchFamily="34" charset="-120"/>
              </a:rPr>
              <a:t>7.7 px/m</a:t>
            </a:r>
            <a:endParaRPr lang="en-US" sz="4000" dirty="0"/>
          </a:p>
        </p:txBody>
      </p:sp>
      <p:sp>
        <p:nvSpPr>
          <p:cNvPr id="17" name="Text 15"/>
          <p:cNvSpPr txBox="1"/>
          <p:nvPr/>
        </p:nvSpPr>
        <p:spPr>
          <a:xfrm>
            <a:off x="3556000" y="5638800"/>
            <a:ext cx="2540000" cy="381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50 m on the photo's scale bar = 385 px</a:t>
            </a:r>
            <a:endParaRPr lang="en-US" sz="1300" dirty="0"/>
          </a:p>
        </p:txBody>
      </p:sp>
      <p:pic>
        <p:nvPicPr>
          <p:cNvPr id="18" name="Image 0" descr="C:\Users\vansh\Downloads\Vishu 2\presentation-build\pieces\lotplan.png">    </p:cNvPr>
          <p:cNvPicPr>
            <a:picLocks noChangeAspect="1"/>
          </p:cNvPicPr>
          <p:nvPr/>
        </p:nvPicPr>
        <p:blipFill>
          <a:blip r:embed="rId1"/>
          <a:stretch>
            <a:fillRect/>
          </a:stretch>
        </p:blipFill>
        <p:spPr>
          <a:xfrm>
            <a:off x="7366000" y="800100"/>
            <a:ext cx="4064000" cy="5562600"/>
          </a:xfrm>
          <a:prstGeom prst="rect">
            <a:avLst/>
          </a:prstGeom>
        </p:spPr>
      </p:pic>
      <p:sp>
        <p:nvSpPr>
          <p:cNvPr id="19" name="Text 16"/>
          <p:cNvSpPr txBox="1"/>
          <p:nvPr/>
        </p:nvSpPr>
        <p:spPr>
          <a:xfrm>
            <a:off x="762000" y="6286500"/>
            <a:ext cx="5715000" cy="165100"/>
          </a:xfrm>
          <a:prstGeom prst="rect">
            <a:avLst/>
          </a:prstGeom>
          <a:noFill/>
          <a:ln/>
        </p:spPr>
        <p:txBody>
          <a:bodyPr wrap="square" lIns="0" tIns="0" rIns="0" bIns="0" rtlCol="0" anchor="t"/>
          <a:lstStyle/>
          <a:p>
            <a:pPr algn="l" indent="0" marL="0">
              <a:lnSpc>
                <a:spcPct val="112000"/>
              </a:lnSpc>
              <a:buNone/>
            </a:pPr>
            <a:r>
              <a:rPr lang="en-US" sz="900" dirty="0">
                <a:solidFill>
                  <a:srgbClr val="9A9AA1"/>
                </a:solidFill>
                <a:latin typeface="Consolas" pitchFamily="34" charset="0"/>
                <a:ea typeface="Consolas" pitchFamily="34" charset="-122"/>
                <a:cs typeface="Consolas" pitchFamily="34" charset="-120"/>
              </a:rPr>
              <a:t>Source: Google Earth capture of KIET, Ghaziabad. Imagery © Google.</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08</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5052732"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042150" y="203200"/>
            <a:ext cx="362585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15645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270750" y="203200"/>
            <a:ext cx="337185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Working prototype</a:t>
            </a:r>
            <a:pPr indent="0" marL="0">
              <a:buNone/>
            </a:pPr>
            <a:r>
              <a:rPr lang="en-US" sz="900" dirty="0">
                <a:solidFill>
                  <a:srgbClr val="3C3C42"/>
                </a:solidFill>
                <a:latin typeface="Consolas" pitchFamily="34" charset="0"/>
                <a:ea typeface="Consolas" pitchFamily="34" charset="-122"/>
                <a:cs typeface="Consolas" pitchFamily="34" charset="-120"/>
              </a:rPr>
              <a:t>  ·  Functionality of prototype</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07</a:t>
            </a:r>
            <a:pPr algn="l" indent="0" marL="0">
              <a:buNone/>
            </a:pPr>
            <a:r>
              <a:rPr lang="en-US" sz="1100" dirty="0">
                <a:solidFill>
                  <a:srgbClr val="62626A"/>
                </a:solidFill>
                <a:latin typeface="Consolas" pitchFamily="34" charset="0"/>
                <a:ea typeface="Consolas" pitchFamily="34" charset="-122"/>
                <a:cs typeface="Consolas" pitchFamily="34" charset="-120"/>
              </a:rPr>
              <a:t>  ——  The live plan</a:t>
            </a:r>
            <a:endParaRPr lang="en-US" sz="1100" dirty="0"/>
          </a:p>
        </p:txBody>
      </p:sp>
      <p:sp>
        <p:nvSpPr>
          <p:cNvPr id="8" name="Text 18"/>
          <p:cNvSpPr/>
          <p:nvPr>
            <p:ph idx="120" type="title" hasCustomPrompt="1"/>
          </p:nvPr>
        </p:nvSpPr>
        <p:spPr>
          <a:xfrm>
            <a:off x="762000" y="1295400"/>
            <a:ext cx="5842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Tap it, tilt it, or pick up the lens.</a:t>
            </a:r>
            <a:endParaRPr lang="en-US" sz="4400" dirty="0"/>
          </a:p>
        </p:txBody>
      </p:sp>
      <p:sp>
        <p:nvSpPr>
          <p:cNvPr id="9" name="Text 7"/>
          <p:cNvSpPr txBox="1"/>
          <p:nvPr/>
        </p:nvSpPr>
        <p:spPr>
          <a:xfrm>
            <a:off x="7112000" y="1498600"/>
            <a:ext cx="4318000" cy="698500"/>
          </a:xfrm>
          <a:prstGeom prst="rect">
            <a:avLst/>
          </a:prstGeom>
          <a:noFill/>
          <a:ln/>
        </p:spPr>
        <p:txBody>
          <a:bodyPr wrap="square" lIns="0" tIns="0" rIns="0" bIns="0" rtlCol="0" anchor="t"/>
          <a:lstStyle/>
          <a:p>
            <a:pPr algn="l" indent="0" marL="0">
              <a:lnSpc>
                <a:spcPct val="112000"/>
              </a:lnSpc>
              <a:buNone/>
            </a:pPr>
            <a:r>
              <a:rPr lang="en-US" sz="1700" dirty="0">
                <a:solidFill>
                  <a:srgbClr val="3C3C42"/>
                </a:solidFill>
                <a:latin typeface="Segoe UI" pitchFamily="34" charset="0"/>
                <a:ea typeface="Segoe UI" pitchFamily="34" charset="-122"/>
                <a:cs typeface="Segoe UI" pitchFamily="34" charset="-120"/>
              </a:rPr>
              <a:t>Three ways to read the same live lot. Every view updates the moment anyone books.</a:t>
            </a:r>
            <a:endParaRPr lang="en-US" sz="1700" dirty="0"/>
          </a:p>
        </p:txBody>
      </p:sp>
      <p:sp>
        <p:nvSpPr>
          <p:cNvPr id="10" name="!!card0"/>
          <p:cNvSpPr/>
          <p:nvPr/>
        </p:nvSpPr>
        <p:spPr>
          <a:xfrm>
            <a:off x="762000" y="2984500"/>
            <a:ext cx="3429000" cy="3111500"/>
          </a:xfrm>
          <a:prstGeom prst="roundRect">
            <a:avLst>
              <a:gd name="adj" fmla="val 4898"/>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1" name="Text 9"/>
          <p:cNvSpPr txBox="1"/>
          <p:nvPr/>
        </p:nvSpPr>
        <p:spPr>
          <a:xfrm>
            <a:off x="977900" y="46228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01</a:t>
            </a:r>
            <a:endParaRPr lang="en-US" sz="1000" dirty="0"/>
          </a:p>
        </p:txBody>
      </p:sp>
      <p:sp>
        <p:nvSpPr>
          <p:cNvPr id="12" name="Text 10"/>
          <p:cNvSpPr txBox="1"/>
          <p:nvPr/>
        </p:nvSpPr>
        <p:spPr>
          <a:xfrm>
            <a:off x="977900" y="4800600"/>
            <a:ext cx="2984500" cy="2794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X-ray lens</a:t>
            </a:r>
            <a:endParaRPr lang="en-US" sz="2100" dirty="0"/>
          </a:p>
        </p:txBody>
      </p:sp>
      <p:sp>
        <p:nvSpPr>
          <p:cNvPr id="13" name="Text 11"/>
          <p:cNvSpPr txBox="1"/>
          <p:nvPr/>
        </p:nvSpPr>
        <p:spPr>
          <a:xfrm>
            <a:off x="977900" y="5118100"/>
            <a:ext cx="2984500" cy="8636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Hold it and drag. Bays light up as free, booked, ending or reserved over the real satellite photo. Let go to open one.</a:t>
            </a:r>
            <a:endParaRPr lang="en-US" sz="1300" dirty="0"/>
          </a:p>
        </p:txBody>
      </p:sp>
      <p:sp>
        <p:nvSpPr>
          <p:cNvPr id="14" name="!!card1"/>
          <p:cNvSpPr/>
          <p:nvPr/>
        </p:nvSpPr>
        <p:spPr>
          <a:xfrm>
            <a:off x="4381500" y="2984500"/>
            <a:ext cx="3429000" cy="3111500"/>
          </a:xfrm>
          <a:prstGeom prst="roundRect">
            <a:avLst>
              <a:gd name="adj" fmla="val 4898"/>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5" name="Text 13"/>
          <p:cNvSpPr txBox="1"/>
          <p:nvPr/>
        </p:nvSpPr>
        <p:spPr>
          <a:xfrm>
            <a:off x="4597400" y="46228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02</a:t>
            </a:r>
            <a:endParaRPr lang="en-US" sz="1000" dirty="0"/>
          </a:p>
        </p:txBody>
      </p:sp>
      <p:sp>
        <p:nvSpPr>
          <p:cNvPr id="16" name="Text 14"/>
          <p:cNvSpPr txBox="1"/>
          <p:nvPr/>
        </p:nvSpPr>
        <p:spPr>
          <a:xfrm>
            <a:off x="4597400" y="4800600"/>
            <a:ext cx="2984500" cy="2794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3D view</a:t>
            </a:r>
            <a:endParaRPr lang="en-US" sz="2100" dirty="0"/>
          </a:p>
        </p:txBody>
      </p:sp>
      <p:sp>
        <p:nvSpPr>
          <p:cNvPr id="17" name="Text 15"/>
          <p:cNvSpPr txBox="1"/>
          <p:nvPr/>
        </p:nvSpPr>
        <p:spPr>
          <a:xfrm>
            <a:off x="4597400" y="5118100"/>
            <a:ext cx="2984500" cy="8636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Tilt the plan and the campus buildings rise out of it, so you know where you are. Plain CSS 3D, no 3D library.</a:t>
            </a:r>
            <a:endParaRPr lang="en-US" sz="1300" dirty="0"/>
          </a:p>
        </p:txBody>
      </p:sp>
      <p:sp>
        <p:nvSpPr>
          <p:cNvPr id="18" name="!!card2"/>
          <p:cNvSpPr/>
          <p:nvPr/>
        </p:nvSpPr>
        <p:spPr>
          <a:xfrm>
            <a:off x="8001000" y="2984500"/>
            <a:ext cx="3429000" cy="3111500"/>
          </a:xfrm>
          <a:prstGeom prst="roundRect">
            <a:avLst>
              <a:gd name="adj" fmla="val 4898"/>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9" name="Text 17"/>
          <p:cNvSpPr txBox="1"/>
          <p:nvPr/>
        </p:nvSpPr>
        <p:spPr>
          <a:xfrm>
            <a:off x="8216900" y="4622800"/>
            <a:ext cx="1270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03</a:t>
            </a:r>
            <a:endParaRPr lang="en-US" sz="1000" dirty="0"/>
          </a:p>
        </p:txBody>
      </p:sp>
      <p:sp>
        <p:nvSpPr>
          <p:cNvPr id="20" name="Text 18"/>
          <p:cNvSpPr txBox="1"/>
          <p:nvPr/>
        </p:nvSpPr>
        <p:spPr>
          <a:xfrm>
            <a:off x="8216900" y="4800600"/>
            <a:ext cx="2984500" cy="2794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Dark mode</a:t>
            </a:r>
            <a:endParaRPr lang="en-US" sz="2100" dirty="0"/>
          </a:p>
        </p:txBody>
      </p:sp>
      <p:sp>
        <p:nvSpPr>
          <p:cNvPr id="21" name="Text 19"/>
          <p:cNvSpPr txBox="1"/>
          <p:nvPr/>
        </p:nvSpPr>
        <p:spPr>
          <a:xfrm>
            <a:off x="8216900" y="5118100"/>
            <a:ext cx="2984500" cy="8636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One switch turns the whole site dark, plan included. It remembers your choice and follows your phone's setting.</a:t>
            </a:r>
            <a:endParaRPr lang="en-US" sz="1300" dirty="0"/>
          </a:p>
        </p:txBody>
      </p:sp>
      <p:sp>
        <p:nvSpPr>
          <p:cNvPr id="22" name="Shape 20"/>
          <p:cNvSpPr/>
          <p:nvPr/>
        </p:nvSpPr>
        <p:spPr>
          <a:xfrm>
            <a:off x="1003300" y="3594100"/>
            <a:ext cx="228600" cy="419100"/>
          </a:xfrm>
          <a:prstGeom prst="roundRect">
            <a:avLst>
              <a:gd name="adj" fmla="val 13889"/>
            </a:avLst>
          </a:prstGeom>
          <a:solidFill>
            <a:srgbClr val="E2E1DB"/>
          </a:solidFill>
          <a:ln w="9525">
            <a:solidFill>
              <a:srgbClr val="C9C9C4"/>
            </a:solidFill>
            <a:prstDash val="solid"/>
          </a:ln>
        </p:spPr>
      </p:sp>
      <p:sp>
        <p:nvSpPr>
          <p:cNvPr id="23" name="Shape 21"/>
          <p:cNvSpPr/>
          <p:nvPr/>
        </p:nvSpPr>
        <p:spPr>
          <a:xfrm>
            <a:off x="1054100" y="3657600"/>
            <a:ext cx="127000" cy="292100"/>
          </a:xfrm>
          <a:prstGeom prst="roundRect">
            <a:avLst>
              <a:gd name="adj" fmla="val 35000"/>
            </a:avLst>
          </a:prstGeom>
          <a:solidFill>
            <a:srgbClr val="2A2A2E"/>
          </a:solidFill>
          <a:ln/>
        </p:spPr>
      </p:sp>
      <p:sp>
        <p:nvSpPr>
          <p:cNvPr id="24" name="Shape 22"/>
          <p:cNvSpPr/>
          <p:nvPr/>
        </p:nvSpPr>
        <p:spPr>
          <a:xfrm>
            <a:off x="1295400" y="3594100"/>
            <a:ext cx="228600" cy="419100"/>
          </a:xfrm>
          <a:prstGeom prst="roundRect">
            <a:avLst>
              <a:gd name="adj" fmla="val 13889"/>
            </a:avLst>
          </a:prstGeom>
          <a:solidFill>
            <a:srgbClr val="FDFDFB"/>
          </a:solidFill>
          <a:ln w="9525">
            <a:solidFill>
              <a:srgbClr val="C9C9C4"/>
            </a:solidFill>
            <a:prstDash val="solid"/>
          </a:ln>
        </p:spPr>
      </p:sp>
      <p:sp>
        <p:nvSpPr>
          <p:cNvPr id="25" name="Shape 23"/>
          <p:cNvSpPr/>
          <p:nvPr/>
        </p:nvSpPr>
        <p:spPr>
          <a:xfrm>
            <a:off x="1587500" y="3594100"/>
            <a:ext cx="228600" cy="419100"/>
          </a:xfrm>
          <a:prstGeom prst="roundRect">
            <a:avLst>
              <a:gd name="adj" fmla="val 13889"/>
            </a:avLst>
          </a:prstGeom>
          <a:solidFill>
            <a:srgbClr val="E2E1DB"/>
          </a:solidFill>
          <a:ln w="9525">
            <a:solidFill>
              <a:srgbClr val="C9C9C4"/>
            </a:solidFill>
            <a:prstDash val="solid"/>
          </a:ln>
        </p:spPr>
      </p:sp>
      <p:sp>
        <p:nvSpPr>
          <p:cNvPr id="26" name="Shape 24"/>
          <p:cNvSpPr/>
          <p:nvPr/>
        </p:nvSpPr>
        <p:spPr>
          <a:xfrm>
            <a:off x="1638300" y="3657600"/>
            <a:ext cx="127000" cy="292100"/>
          </a:xfrm>
          <a:prstGeom prst="roundRect">
            <a:avLst>
              <a:gd name="adj" fmla="val 35000"/>
            </a:avLst>
          </a:prstGeom>
          <a:solidFill>
            <a:srgbClr val="2A2A2E"/>
          </a:solidFill>
          <a:ln/>
        </p:spPr>
      </p:sp>
      <p:sp>
        <p:nvSpPr>
          <p:cNvPr id="27" name="Shape 25"/>
          <p:cNvSpPr/>
          <p:nvPr/>
        </p:nvSpPr>
        <p:spPr>
          <a:xfrm>
            <a:off x="1879600" y="3594100"/>
            <a:ext cx="228600" cy="419100"/>
          </a:xfrm>
          <a:prstGeom prst="roundRect">
            <a:avLst>
              <a:gd name="adj" fmla="val 13889"/>
            </a:avLst>
          </a:prstGeom>
          <a:solidFill>
            <a:srgbClr val="E2E1DB"/>
          </a:solidFill>
          <a:ln w="9525">
            <a:solidFill>
              <a:srgbClr val="C9C9C4"/>
            </a:solidFill>
            <a:prstDash val="solid"/>
          </a:ln>
        </p:spPr>
      </p:sp>
      <p:sp>
        <p:nvSpPr>
          <p:cNvPr id="28" name="Shape 26"/>
          <p:cNvSpPr/>
          <p:nvPr/>
        </p:nvSpPr>
        <p:spPr>
          <a:xfrm>
            <a:off x="1930400" y="3657600"/>
            <a:ext cx="127000" cy="292100"/>
          </a:xfrm>
          <a:prstGeom prst="roundRect">
            <a:avLst>
              <a:gd name="adj" fmla="val 35000"/>
            </a:avLst>
          </a:prstGeom>
          <a:solidFill>
            <a:srgbClr val="2A2A2E"/>
          </a:solidFill>
          <a:ln/>
        </p:spPr>
      </p:sp>
      <p:sp>
        <p:nvSpPr>
          <p:cNvPr id="29" name="Shape 27"/>
          <p:cNvSpPr/>
          <p:nvPr/>
        </p:nvSpPr>
        <p:spPr>
          <a:xfrm>
            <a:off x="2171700" y="3594100"/>
            <a:ext cx="228600" cy="419100"/>
          </a:xfrm>
          <a:prstGeom prst="roundRect">
            <a:avLst>
              <a:gd name="adj" fmla="val 13889"/>
            </a:avLst>
          </a:prstGeom>
          <a:solidFill>
            <a:srgbClr val="E2E1DB"/>
          </a:solidFill>
          <a:ln w="25400">
            <a:solidFill>
              <a:srgbClr val="FFD75A"/>
            </a:solidFill>
            <a:prstDash val="solid"/>
          </a:ln>
        </p:spPr>
      </p:sp>
      <p:sp>
        <p:nvSpPr>
          <p:cNvPr id="30" name="Shape 28"/>
          <p:cNvSpPr/>
          <p:nvPr/>
        </p:nvSpPr>
        <p:spPr>
          <a:xfrm>
            <a:off x="2222500" y="3657600"/>
            <a:ext cx="127000" cy="292100"/>
          </a:xfrm>
          <a:prstGeom prst="roundRect">
            <a:avLst>
              <a:gd name="adj" fmla="val 35000"/>
            </a:avLst>
          </a:prstGeom>
          <a:solidFill>
            <a:srgbClr val="2A2A2E"/>
          </a:solidFill>
          <a:ln/>
        </p:spPr>
      </p:sp>
      <p:sp>
        <p:nvSpPr>
          <p:cNvPr id="31" name="Shape 29"/>
          <p:cNvSpPr/>
          <p:nvPr/>
        </p:nvSpPr>
        <p:spPr>
          <a:xfrm>
            <a:off x="2463800" y="3594100"/>
            <a:ext cx="228600" cy="419100"/>
          </a:xfrm>
          <a:prstGeom prst="roundRect">
            <a:avLst>
              <a:gd name="adj" fmla="val 13889"/>
            </a:avLst>
          </a:prstGeom>
          <a:solidFill>
            <a:srgbClr val="E2E1DB"/>
          </a:solidFill>
          <a:ln w="9525">
            <a:solidFill>
              <a:srgbClr val="C9C9C4"/>
            </a:solidFill>
            <a:prstDash val="dash"/>
          </a:ln>
        </p:spPr>
      </p:sp>
      <p:sp>
        <p:nvSpPr>
          <p:cNvPr id="32" name="Shape 30"/>
          <p:cNvSpPr/>
          <p:nvPr/>
        </p:nvSpPr>
        <p:spPr>
          <a:xfrm>
            <a:off x="2273300" y="4165600"/>
            <a:ext cx="292100" cy="292100"/>
          </a:xfrm>
          <a:prstGeom prst="line">
            <a:avLst/>
          </a:prstGeom>
          <a:noFill/>
          <a:ln w="114300">
            <a:solidFill>
              <a:srgbClr val="121214"/>
            </a:solidFill>
            <a:prstDash val="solid"/>
          </a:ln>
        </p:spPr>
      </p:sp>
      <p:sp>
        <p:nvSpPr>
          <p:cNvPr id="33" name="Shape 31"/>
          <p:cNvSpPr/>
          <p:nvPr/>
        </p:nvSpPr>
        <p:spPr>
          <a:xfrm>
            <a:off x="1346200" y="3238500"/>
            <a:ext cx="1117600" cy="1117600"/>
          </a:xfrm>
          <a:prstGeom prst="ellipse">
            <a:avLst/>
          </a:prstGeom>
          <a:solidFill>
            <a:srgbClr val="EEF0E8"/>
          </a:solidFill>
          <a:ln w="57150">
            <a:solidFill>
              <a:srgbClr val="121214"/>
            </a:solidFill>
            <a:prstDash val="solid"/>
          </a:ln>
          <a:effectLst>
            <a:outerShdw sx="100000" sy="100000" kx="0" ky="0" algn="bl" rotWithShape="0" blurRad="152400" dist="76200" dir="5400000">
              <a:srgbClr val="000000">
                <a:alpha val="18000"/>
              </a:srgbClr>
            </a:outerShdw>
          </a:effectLst>
        </p:spPr>
      </p:sp>
      <p:sp>
        <p:nvSpPr>
          <p:cNvPr id="34" name="Shape 32"/>
          <p:cNvSpPr/>
          <p:nvPr/>
        </p:nvSpPr>
        <p:spPr>
          <a:xfrm>
            <a:off x="1511300" y="3479800"/>
            <a:ext cx="355600" cy="635000"/>
          </a:xfrm>
          <a:prstGeom prst="roundRect">
            <a:avLst>
              <a:gd name="adj" fmla="val 12500"/>
            </a:avLst>
          </a:prstGeom>
          <a:solidFill>
            <a:srgbClr val="FFD75A"/>
          </a:solidFill>
          <a:ln w="12700">
            <a:solidFill>
              <a:srgbClr val="B38600"/>
            </a:solidFill>
            <a:prstDash val="solid"/>
          </a:ln>
        </p:spPr>
      </p:sp>
      <p:sp>
        <p:nvSpPr>
          <p:cNvPr id="35" name="Shape 33"/>
          <p:cNvSpPr/>
          <p:nvPr/>
        </p:nvSpPr>
        <p:spPr>
          <a:xfrm>
            <a:off x="1943100" y="3479800"/>
            <a:ext cx="355600" cy="635000"/>
          </a:xfrm>
          <a:prstGeom prst="roundRect">
            <a:avLst>
              <a:gd name="adj" fmla="val 12500"/>
            </a:avLst>
          </a:prstGeom>
          <a:solidFill>
            <a:srgbClr val="1D1D20"/>
          </a:solidFill>
          <a:ln w="9525">
            <a:solidFill>
              <a:srgbClr val="000000"/>
            </a:solidFill>
            <a:prstDash val="solid"/>
          </a:ln>
        </p:spPr>
      </p:sp>
      <p:sp>
        <p:nvSpPr>
          <p:cNvPr id="36" name="Text 34"/>
          <p:cNvSpPr txBox="1"/>
          <p:nvPr/>
        </p:nvSpPr>
        <p:spPr>
          <a:xfrm>
            <a:off x="1511300" y="3962400"/>
            <a:ext cx="355600" cy="127000"/>
          </a:xfrm>
          <a:prstGeom prst="rect">
            <a:avLst/>
          </a:prstGeom>
          <a:noFill/>
          <a:ln/>
        </p:spPr>
        <p:txBody>
          <a:bodyPr wrap="square" lIns="0" tIns="0" rIns="0" bIns="0" rtlCol="0" anchor="t"/>
          <a:lstStyle/>
          <a:p>
            <a:pPr algn="ctr" indent="0" marL="0">
              <a:lnSpc>
                <a:spcPct val="112000"/>
              </a:lnSpc>
              <a:buNone/>
            </a:pPr>
            <a:r>
              <a:rPr lang="en-US" sz="700" b="1" dirty="0">
                <a:solidFill>
                  <a:srgbClr val="16160E"/>
                </a:solidFill>
                <a:latin typeface="Consolas" pitchFamily="34" charset="0"/>
                <a:ea typeface="Consolas" pitchFamily="34" charset="-122"/>
                <a:cs typeface="Consolas" pitchFamily="34" charset="-120"/>
              </a:rPr>
              <a:t>FREE</a:t>
            </a:r>
            <a:endParaRPr lang="en-US" sz="700" dirty="0"/>
          </a:p>
        </p:txBody>
      </p:sp>
      <p:sp>
        <p:nvSpPr>
          <p:cNvPr id="37" name="Text 35"/>
          <p:cNvSpPr txBox="1"/>
          <p:nvPr/>
        </p:nvSpPr>
        <p:spPr>
          <a:xfrm>
            <a:off x="1943100" y="3962400"/>
            <a:ext cx="355600" cy="127000"/>
          </a:xfrm>
          <a:prstGeom prst="rect">
            <a:avLst/>
          </a:prstGeom>
          <a:noFill/>
          <a:ln/>
        </p:spPr>
        <p:txBody>
          <a:bodyPr wrap="square" lIns="0" tIns="0" rIns="0" bIns="0" rtlCol="0" anchor="t"/>
          <a:lstStyle/>
          <a:p>
            <a:pPr algn="ctr" indent="0" marL="0">
              <a:lnSpc>
                <a:spcPct val="112000"/>
              </a:lnSpc>
              <a:buNone/>
            </a:pPr>
            <a:r>
              <a:rPr lang="en-US" sz="700" b="1" dirty="0">
                <a:solidFill>
                  <a:srgbClr val="F0F0F3"/>
                </a:solidFill>
                <a:latin typeface="Consolas" pitchFamily="34" charset="0"/>
                <a:ea typeface="Consolas" pitchFamily="34" charset="-122"/>
                <a:cs typeface="Consolas" pitchFamily="34" charset="-120"/>
              </a:rPr>
              <a:t>BOOKED</a:t>
            </a:r>
            <a:endParaRPr lang="en-US" sz="700" dirty="0"/>
          </a:p>
        </p:txBody>
      </p:sp>
      <p:sp>
        <p:nvSpPr>
          <p:cNvPr id="38" name="Text 36"/>
          <p:cNvSpPr txBox="1"/>
          <p:nvPr/>
        </p:nvSpPr>
        <p:spPr>
          <a:xfrm>
            <a:off x="1511300" y="3530600"/>
            <a:ext cx="355600" cy="127000"/>
          </a:xfrm>
          <a:prstGeom prst="rect">
            <a:avLst/>
          </a:prstGeom>
          <a:noFill/>
          <a:ln/>
        </p:spPr>
        <p:txBody>
          <a:bodyPr wrap="square" lIns="0" tIns="0" rIns="0" bIns="0" rtlCol="0" anchor="t"/>
          <a:lstStyle/>
          <a:p>
            <a:pPr algn="ctr" indent="0" marL="0">
              <a:lnSpc>
                <a:spcPct val="112000"/>
              </a:lnSpc>
              <a:buNone/>
            </a:pPr>
            <a:r>
              <a:rPr lang="en-US" sz="700" dirty="0">
                <a:solidFill>
                  <a:srgbClr val="16160E"/>
                </a:solidFill>
                <a:latin typeface="Consolas" pitchFamily="34" charset="0"/>
                <a:ea typeface="Consolas" pitchFamily="34" charset="-122"/>
                <a:cs typeface="Consolas" pitchFamily="34" charset="-120"/>
              </a:rPr>
              <a:t>A-30</a:t>
            </a:r>
            <a:endParaRPr lang="en-US" sz="700" dirty="0"/>
          </a:p>
        </p:txBody>
      </p:sp>
      <p:sp>
        <p:nvSpPr>
          <p:cNvPr id="39" name="Text 37"/>
          <p:cNvSpPr txBox="1"/>
          <p:nvPr/>
        </p:nvSpPr>
        <p:spPr>
          <a:xfrm>
            <a:off x="1943100" y="3530600"/>
            <a:ext cx="355600" cy="127000"/>
          </a:xfrm>
          <a:prstGeom prst="rect">
            <a:avLst/>
          </a:prstGeom>
          <a:noFill/>
          <a:ln/>
        </p:spPr>
        <p:txBody>
          <a:bodyPr wrap="square" lIns="0" tIns="0" rIns="0" bIns="0" rtlCol="0" anchor="t"/>
          <a:lstStyle/>
          <a:p>
            <a:pPr algn="ctr" indent="0" marL="0">
              <a:lnSpc>
                <a:spcPct val="112000"/>
              </a:lnSpc>
              <a:buNone/>
            </a:pPr>
            <a:r>
              <a:rPr lang="en-US" sz="700" dirty="0">
                <a:solidFill>
                  <a:srgbClr val="B7B7BF"/>
                </a:solidFill>
                <a:latin typeface="Consolas" pitchFamily="34" charset="0"/>
                <a:ea typeface="Consolas" pitchFamily="34" charset="-122"/>
                <a:cs typeface="Consolas" pitchFamily="34" charset="-120"/>
              </a:rPr>
              <a:t>A-31</a:t>
            </a:r>
            <a:endParaRPr lang="en-US" sz="700" dirty="0"/>
          </a:p>
        </p:txBody>
      </p:sp>
      <p:sp>
        <p:nvSpPr>
          <p:cNvPr id="40" name="Shape 38"/>
          <p:cNvSpPr/>
          <p:nvPr/>
        </p:nvSpPr>
        <p:spPr>
          <a:xfrm>
            <a:off x="2806700" y="3390900"/>
            <a:ext cx="1193800" cy="787400"/>
          </a:xfrm>
          <a:prstGeom prst="roundRect">
            <a:avLst>
              <a:gd name="adj" fmla="val 9677"/>
            </a:avLst>
          </a:prstGeom>
          <a:solidFill>
            <a:srgbClr val="121214"/>
          </a:solidFill>
          <a:ln/>
          <a:effectLst>
            <a:outerShdw sx="100000" sy="100000" kx="0" ky="0" algn="bl" rotWithShape="0" blurRad="127000" dist="63500" dir="5400000">
              <a:srgbClr val="000000">
                <a:alpha val="20000"/>
              </a:srgbClr>
            </a:outerShdw>
          </a:effectLst>
        </p:spPr>
      </p:sp>
      <p:sp>
        <p:nvSpPr>
          <p:cNvPr id="41" name="Text 39"/>
          <p:cNvSpPr txBox="1"/>
          <p:nvPr/>
        </p:nvSpPr>
        <p:spPr>
          <a:xfrm>
            <a:off x="2921000" y="3479800"/>
            <a:ext cx="1016000" cy="635000"/>
          </a:xfrm>
          <a:prstGeom prst="rect">
            <a:avLst/>
          </a:prstGeom>
          <a:noFill/>
          <a:ln/>
        </p:spPr>
        <p:txBody>
          <a:bodyPr wrap="square" lIns="0" tIns="0" rIns="0" bIns="0" rtlCol="0" anchor="t"/>
          <a:lstStyle/>
          <a:p>
            <a:pPr indent="0" marL="0">
              <a:lnSpc>
                <a:spcPct val="130000"/>
              </a:lnSpc>
              <a:buNone/>
            </a:pPr>
            <a:r>
              <a:rPr lang="en-US" sz="1200" dirty="0">
                <a:solidFill>
                  <a:srgbClr val="F4F4F1"/>
                </a:solidFill>
                <a:latin typeface="Segoe UI Semibold" pitchFamily="34" charset="0"/>
                <a:ea typeface="Segoe UI Semibold" pitchFamily="34" charset="-122"/>
                <a:cs typeface="Segoe UI Semibold" pitchFamily="34" charset="-120"/>
              </a:rPr>
              <a:t>A-30</a:t>
            </a:r>
            <a:pPr indent="0" marL="0">
              <a:lnSpc>
                <a:spcPct val="130000"/>
              </a:lnSpc>
              <a:buNone/>
            </a:pPr>
            <a:r>
              <a:rPr lang="en-US" sz="1000" dirty="0">
                <a:solidFill>
                  <a:srgbClr val="FFD75A"/>
                </a:solidFill>
                <a:latin typeface="Segoe UI" pitchFamily="34" charset="0"/>
                <a:ea typeface="Segoe UI" pitchFamily="34" charset="-122"/>
                <a:cs typeface="Segoe UI" pitchFamily="34" charset="-120"/>
              </a:rPr>
              <a:t>   ● </a:t>
            </a:r>
            <a:pPr indent="0" marL="0">
              <a:lnSpc>
                <a:spcPct val="130000"/>
              </a:lnSpc>
              <a:buNone/>
            </a:pPr>
            <a:r>
              <a:rPr lang="en-US" sz="1000" dirty="0">
                <a:solidFill>
                  <a:srgbClr val="F4F4F1"/>
                </a:solidFill>
                <a:latin typeface="Segoe UI" pitchFamily="34" charset="0"/>
                <a:ea typeface="Segoe UI" pitchFamily="34" charset="-122"/>
                <a:cs typeface="Segoe UI" pitchFamily="34" charset="-120"/>
              </a:rPr>
              <a:t>Free</a:t>
            </a:r>
            <a:endParaRPr lang="en-US" sz="1200" dirty="0"/>
          </a:p>
          <a:p>
            <a:pPr indent="0" marL="0">
              <a:lnSpc>
                <a:spcPct val="130000"/>
              </a:lnSpc>
              <a:buNone/>
            </a:pPr>
            <a:r>
              <a:rPr lang="en-US" sz="900" dirty="0">
                <a:solidFill>
                  <a:srgbClr val="9A9AA1"/>
                </a:solidFill>
                <a:latin typeface="Segoe UI" pitchFamily="34" charset="0"/>
                <a:ea typeface="Segoe UI" pitchFamily="34" charset="-122"/>
                <a:cs typeface="Segoe UI" pitchFamily="34" charset="-120"/>
              </a:rPr>
              <a:t>free till 20:45</a:t>
            </a:r>
            <a:endParaRPr lang="en-US" sz="1200" dirty="0"/>
          </a:p>
          <a:p>
            <a:pPr indent="0" marL="0">
              <a:lnSpc>
                <a:spcPct val="130000"/>
              </a:lnSpc>
              <a:buNone/>
            </a:pPr>
            <a:r>
              <a:rPr lang="en-US" sz="700" dirty="0">
                <a:solidFill>
                  <a:srgbClr val="8A8A94"/>
                </a:solidFill>
                <a:latin typeface="Consolas" pitchFamily="34" charset="0"/>
                <a:ea typeface="Consolas" pitchFamily="34" charset="-122"/>
                <a:cs typeface="Consolas" pitchFamily="34" charset="-120"/>
              </a:rPr>
              <a:t>IN THE LENS  </a:t>
            </a:r>
            <a:pPr indent="0" marL="0">
              <a:lnSpc>
                <a:spcPct val="130000"/>
              </a:lnSpc>
              <a:buNone/>
            </a:pPr>
            <a:r>
              <a:rPr lang="en-US" sz="900" dirty="0">
                <a:solidFill>
                  <a:srgbClr val="FFD75A"/>
                </a:solidFill>
                <a:latin typeface="Segoe UI" pitchFamily="34" charset="0"/>
                <a:ea typeface="Segoe UI" pitchFamily="34" charset="-122"/>
                <a:cs typeface="Segoe UI" pitchFamily="34" charset="-120"/>
              </a:rPr>
              <a:t>●</a:t>
            </a:r>
            <a:pPr indent="0" marL="0">
              <a:lnSpc>
                <a:spcPct val="130000"/>
              </a:lnSpc>
              <a:buNone/>
            </a:pPr>
            <a:r>
              <a:rPr lang="en-US" sz="800" dirty="0">
                <a:solidFill>
                  <a:srgbClr val="F4F4F1"/>
                </a:solidFill>
                <a:latin typeface="Consolas" pitchFamily="34" charset="0"/>
                <a:ea typeface="Consolas" pitchFamily="34" charset="-122"/>
                <a:cs typeface="Consolas" pitchFamily="34" charset="-120"/>
              </a:rPr>
              <a:t>4 </a:t>
            </a:r>
            <a:pPr indent="0" marL="0">
              <a:lnSpc>
                <a:spcPct val="130000"/>
              </a:lnSpc>
              <a:buNone/>
            </a:pPr>
            <a:r>
              <a:rPr lang="en-US" sz="900" dirty="0">
                <a:solidFill>
                  <a:srgbClr val="6E6E78"/>
                </a:solidFill>
                <a:latin typeface="Segoe UI" pitchFamily="34" charset="0"/>
                <a:ea typeface="Segoe UI" pitchFamily="34" charset="-122"/>
                <a:cs typeface="Segoe UI" pitchFamily="34" charset="-120"/>
              </a:rPr>
              <a:t>●</a:t>
            </a:r>
            <a:pPr indent="0" marL="0">
              <a:lnSpc>
                <a:spcPct val="130000"/>
              </a:lnSpc>
              <a:buNone/>
            </a:pPr>
            <a:r>
              <a:rPr lang="en-US" sz="800" dirty="0">
                <a:solidFill>
                  <a:srgbClr val="F4F4F1"/>
                </a:solidFill>
                <a:latin typeface="Consolas" pitchFamily="34" charset="0"/>
                <a:ea typeface="Consolas" pitchFamily="34" charset="-122"/>
                <a:cs typeface="Consolas" pitchFamily="34" charset="-120"/>
              </a:rPr>
              <a:t>2</a:t>
            </a:r>
            <a:endParaRPr lang="en-US" sz="1200" dirty="0"/>
          </a:p>
        </p:txBody>
      </p:sp>
      <p:sp>
        <p:nvSpPr>
          <p:cNvPr id="42" name="Shape 40"/>
          <p:cNvSpPr/>
          <p:nvPr/>
        </p:nvSpPr>
        <p:spPr>
          <a:xfrm>
            <a:off x="4610100" y="3911600"/>
            <a:ext cx="2971800" cy="546100"/>
          </a:xfrm>
          <a:prstGeom prst="parallelogram">
            <a:avLst/>
          </a:prstGeom>
          <a:solidFill>
            <a:srgbClr val="EBEAE5"/>
          </a:solidFill>
          <a:ln w="9525">
            <a:solidFill>
              <a:srgbClr val="C9C9C4"/>
            </a:solidFill>
            <a:prstDash val="solid"/>
          </a:ln>
        </p:spPr>
      </p:sp>
      <p:sp>
        <p:nvSpPr>
          <p:cNvPr id="43" name="Shape 41"/>
          <p:cNvSpPr/>
          <p:nvPr/>
        </p:nvSpPr>
        <p:spPr>
          <a:xfrm>
            <a:off x="4851400" y="4292600"/>
            <a:ext cx="107950" cy="76200"/>
          </a:xfrm>
          <a:prstGeom prst="roundRect">
            <a:avLst>
              <a:gd name="adj" fmla="val 16667"/>
            </a:avLst>
          </a:prstGeom>
          <a:solidFill>
            <a:srgbClr val="3A3A40"/>
          </a:solidFill>
          <a:ln/>
        </p:spPr>
      </p:sp>
      <p:sp>
        <p:nvSpPr>
          <p:cNvPr id="44" name="Shape 42"/>
          <p:cNvSpPr/>
          <p:nvPr/>
        </p:nvSpPr>
        <p:spPr>
          <a:xfrm>
            <a:off x="5010150" y="4292600"/>
            <a:ext cx="107950" cy="76200"/>
          </a:xfrm>
          <a:prstGeom prst="roundRect">
            <a:avLst>
              <a:gd name="adj" fmla="val 16667"/>
            </a:avLst>
          </a:prstGeom>
          <a:solidFill>
            <a:srgbClr val="3A3A40"/>
          </a:solidFill>
          <a:ln/>
        </p:spPr>
      </p:sp>
      <p:sp>
        <p:nvSpPr>
          <p:cNvPr id="45" name="Shape 43"/>
          <p:cNvSpPr/>
          <p:nvPr/>
        </p:nvSpPr>
        <p:spPr>
          <a:xfrm>
            <a:off x="5168900" y="4292600"/>
            <a:ext cx="107950" cy="76200"/>
          </a:xfrm>
          <a:prstGeom prst="roundRect">
            <a:avLst>
              <a:gd name="adj" fmla="val 16667"/>
            </a:avLst>
          </a:prstGeom>
          <a:solidFill>
            <a:srgbClr val="FDFDFB"/>
          </a:solidFill>
          <a:ln w="9525">
            <a:solidFill>
              <a:srgbClr val="C9C9C4"/>
            </a:solidFill>
            <a:prstDash val="solid"/>
          </a:ln>
        </p:spPr>
      </p:sp>
      <p:sp>
        <p:nvSpPr>
          <p:cNvPr id="46" name="Shape 44"/>
          <p:cNvSpPr/>
          <p:nvPr/>
        </p:nvSpPr>
        <p:spPr>
          <a:xfrm>
            <a:off x="5327650" y="4292600"/>
            <a:ext cx="107950" cy="76200"/>
          </a:xfrm>
          <a:prstGeom prst="roundRect">
            <a:avLst>
              <a:gd name="adj" fmla="val 16667"/>
            </a:avLst>
          </a:prstGeom>
          <a:solidFill>
            <a:srgbClr val="3A3A40"/>
          </a:solidFill>
          <a:ln/>
        </p:spPr>
      </p:sp>
      <p:sp>
        <p:nvSpPr>
          <p:cNvPr id="47" name="Shape 45"/>
          <p:cNvSpPr/>
          <p:nvPr/>
        </p:nvSpPr>
        <p:spPr>
          <a:xfrm>
            <a:off x="5486400" y="4292600"/>
            <a:ext cx="107950" cy="76200"/>
          </a:xfrm>
          <a:prstGeom prst="roundRect">
            <a:avLst>
              <a:gd name="adj" fmla="val 16667"/>
            </a:avLst>
          </a:prstGeom>
          <a:solidFill>
            <a:srgbClr val="3A3A40"/>
          </a:solidFill>
          <a:ln/>
        </p:spPr>
      </p:sp>
      <p:sp>
        <p:nvSpPr>
          <p:cNvPr id="48" name="Shape 46"/>
          <p:cNvSpPr/>
          <p:nvPr/>
        </p:nvSpPr>
        <p:spPr>
          <a:xfrm>
            <a:off x="5645150" y="4292600"/>
            <a:ext cx="107950" cy="76200"/>
          </a:xfrm>
          <a:prstGeom prst="roundRect">
            <a:avLst>
              <a:gd name="adj" fmla="val 16667"/>
            </a:avLst>
          </a:prstGeom>
          <a:solidFill>
            <a:srgbClr val="3A3A40"/>
          </a:solidFill>
          <a:ln/>
        </p:spPr>
      </p:sp>
      <p:sp>
        <p:nvSpPr>
          <p:cNvPr id="49" name="Shape 47"/>
          <p:cNvSpPr/>
          <p:nvPr/>
        </p:nvSpPr>
        <p:spPr>
          <a:xfrm>
            <a:off x="5803900" y="4292600"/>
            <a:ext cx="107950" cy="76200"/>
          </a:xfrm>
          <a:prstGeom prst="roundRect">
            <a:avLst>
              <a:gd name="adj" fmla="val 16667"/>
            </a:avLst>
          </a:prstGeom>
          <a:solidFill>
            <a:srgbClr val="FDFDFB"/>
          </a:solidFill>
          <a:ln w="9525">
            <a:solidFill>
              <a:srgbClr val="C9C9C4"/>
            </a:solidFill>
            <a:prstDash val="solid"/>
          </a:ln>
        </p:spPr>
      </p:sp>
      <p:sp>
        <p:nvSpPr>
          <p:cNvPr id="50" name="Shape 48"/>
          <p:cNvSpPr/>
          <p:nvPr/>
        </p:nvSpPr>
        <p:spPr>
          <a:xfrm>
            <a:off x="5962650" y="4292600"/>
            <a:ext cx="107950" cy="76200"/>
          </a:xfrm>
          <a:prstGeom prst="roundRect">
            <a:avLst>
              <a:gd name="adj" fmla="val 16667"/>
            </a:avLst>
          </a:prstGeom>
          <a:solidFill>
            <a:srgbClr val="FDFDFB"/>
          </a:solidFill>
          <a:ln w="9525">
            <a:solidFill>
              <a:srgbClr val="C9C9C4"/>
            </a:solidFill>
            <a:prstDash val="solid"/>
          </a:ln>
        </p:spPr>
      </p:sp>
      <p:sp>
        <p:nvSpPr>
          <p:cNvPr id="51" name="Shape 49"/>
          <p:cNvSpPr/>
          <p:nvPr/>
        </p:nvSpPr>
        <p:spPr>
          <a:xfrm>
            <a:off x="6121400" y="4292600"/>
            <a:ext cx="107950" cy="76200"/>
          </a:xfrm>
          <a:prstGeom prst="roundRect">
            <a:avLst>
              <a:gd name="adj" fmla="val 16667"/>
            </a:avLst>
          </a:prstGeom>
          <a:solidFill>
            <a:srgbClr val="3A3A40"/>
          </a:solidFill>
          <a:ln/>
        </p:spPr>
      </p:sp>
      <p:sp>
        <p:nvSpPr>
          <p:cNvPr id="52" name="Shape 50"/>
          <p:cNvSpPr/>
          <p:nvPr/>
        </p:nvSpPr>
        <p:spPr>
          <a:xfrm>
            <a:off x="6280150" y="4292600"/>
            <a:ext cx="107950" cy="76200"/>
          </a:xfrm>
          <a:prstGeom prst="roundRect">
            <a:avLst>
              <a:gd name="adj" fmla="val 16667"/>
            </a:avLst>
          </a:prstGeom>
          <a:solidFill>
            <a:srgbClr val="3A3A40"/>
          </a:solidFill>
          <a:ln/>
        </p:spPr>
      </p:sp>
      <p:sp>
        <p:nvSpPr>
          <p:cNvPr id="53" name="Shape 51"/>
          <p:cNvSpPr/>
          <p:nvPr/>
        </p:nvSpPr>
        <p:spPr>
          <a:xfrm>
            <a:off x="6438900" y="4292600"/>
            <a:ext cx="107950" cy="76200"/>
          </a:xfrm>
          <a:prstGeom prst="roundRect">
            <a:avLst>
              <a:gd name="adj" fmla="val 16667"/>
            </a:avLst>
          </a:prstGeom>
          <a:solidFill>
            <a:srgbClr val="3A3A40"/>
          </a:solidFill>
          <a:ln/>
        </p:spPr>
      </p:sp>
      <p:sp>
        <p:nvSpPr>
          <p:cNvPr id="54" name="Shape 52"/>
          <p:cNvSpPr/>
          <p:nvPr/>
        </p:nvSpPr>
        <p:spPr>
          <a:xfrm>
            <a:off x="6597650" y="4292600"/>
            <a:ext cx="107950" cy="76200"/>
          </a:xfrm>
          <a:prstGeom prst="roundRect">
            <a:avLst>
              <a:gd name="adj" fmla="val 16667"/>
            </a:avLst>
          </a:prstGeom>
          <a:solidFill>
            <a:srgbClr val="FDFDFB"/>
          </a:solidFill>
          <a:ln w="9525">
            <a:solidFill>
              <a:srgbClr val="C9C9C4"/>
            </a:solidFill>
            <a:prstDash val="solid"/>
          </a:ln>
        </p:spPr>
      </p:sp>
      <p:sp>
        <p:nvSpPr>
          <p:cNvPr id="55" name="Shape 53"/>
          <p:cNvSpPr/>
          <p:nvPr/>
        </p:nvSpPr>
        <p:spPr>
          <a:xfrm>
            <a:off x="6756400" y="4292600"/>
            <a:ext cx="107950" cy="76200"/>
          </a:xfrm>
          <a:prstGeom prst="roundRect">
            <a:avLst>
              <a:gd name="adj" fmla="val 16667"/>
            </a:avLst>
          </a:prstGeom>
          <a:solidFill>
            <a:srgbClr val="3A3A40"/>
          </a:solidFill>
          <a:ln/>
        </p:spPr>
      </p:sp>
      <p:sp>
        <p:nvSpPr>
          <p:cNvPr id="56" name="Shape 54"/>
          <p:cNvSpPr/>
          <p:nvPr/>
        </p:nvSpPr>
        <p:spPr>
          <a:xfrm>
            <a:off x="6915150" y="4292600"/>
            <a:ext cx="107950" cy="76200"/>
          </a:xfrm>
          <a:prstGeom prst="roundRect">
            <a:avLst>
              <a:gd name="adj" fmla="val 16667"/>
            </a:avLst>
          </a:prstGeom>
          <a:solidFill>
            <a:srgbClr val="3A3A40"/>
          </a:solidFill>
          <a:ln/>
        </p:spPr>
      </p:sp>
      <p:sp>
        <p:nvSpPr>
          <p:cNvPr id="57" name="Shape 55"/>
          <p:cNvSpPr/>
          <p:nvPr/>
        </p:nvSpPr>
        <p:spPr>
          <a:xfrm>
            <a:off x="7073900" y="4292600"/>
            <a:ext cx="107950" cy="76200"/>
          </a:xfrm>
          <a:prstGeom prst="roundRect">
            <a:avLst>
              <a:gd name="adj" fmla="val 16667"/>
            </a:avLst>
          </a:prstGeom>
          <a:solidFill>
            <a:srgbClr val="3A3A40"/>
          </a:solidFill>
          <a:ln/>
        </p:spPr>
      </p:sp>
      <p:sp>
        <p:nvSpPr>
          <p:cNvPr id="58" name="Shape 56"/>
          <p:cNvSpPr/>
          <p:nvPr/>
        </p:nvSpPr>
        <p:spPr>
          <a:xfrm>
            <a:off x="4953000" y="3454400"/>
            <a:ext cx="812800" cy="736600"/>
          </a:xfrm>
          <a:prstGeom prst="cube">
            <a:avLst/>
          </a:prstGeom>
          <a:solidFill>
            <a:srgbClr val="E7E6E0"/>
          </a:solidFill>
          <a:ln w="9525">
            <a:solidFill>
              <a:srgbClr val="9A9AA1"/>
            </a:solidFill>
            <a:prstDash val="solid"/>
          </a:ln>
        </p:spPr>
      </p:sp>
      <p:sp>
        <p:nvSpPr>
          <p:cNvPr id="59" name="Shape 57"/>
          <p:cNvSpPr/>
          <p:nvPr/>
        </p:nvSpPr>
        <p:spPr>
          <a:xfrm>
            <a:off x="5880100" y="3175000"/>
            <a:ext cx="1117600" cy="1003300"/>
          </a:xfrm>
          <a:prstGeom prst="cube">
            <a:avLst/>
          </a:prstGeom>
          <a:solidFill>
            <a:srgbClr val="E7E6E0"/>
          </a:solidFill>
          <a:ln w="9525">
            <a:solidFill>
              <a:srgbClr val="9A9AA1"/>
            </a:solidFill>
            <a:prstDash val="solid"/>
          </a:ln>
        </p:spPr>
      </p:sp>
      <p:sp>
        <p:nvSpPr>
          <p:cNvPr id="60" name="Shape 58"/>
          <p:cNvSpPr/>
          <p:nvPr/>
        </p:nvSpPr>
        <p:spPr>
          <a:xfrm>
            <a:off x="7061200" y="3708400"/>
            <a:ext cx="457200" cy="469900"/>
          </a:xfrm>
          <a:prstGeom prst="cube">
            <a:avLst/>
          </a:prstGeom>
          <a:solidFill>
            <a:srgbClr val="E7E6E0"/>
          </a:solidFill>
          <a:ln w="9525">
            <a:solidFill>
              <a:srgbClr val="9A9AA1"/>
            </a:solidFill>
            <a:prstDash val="solid"/>
          </a:ln>
        </p:spPr>
      </p:sp>
      <p:sp>
        <p:nvSpPr>
          <p:cNvPr id="61" name="Shape 59"/>
          <p:cNvSpPr/>
          <p:nvPr/>
        </p:nvSpPr>
        <p:spPr>
          <a:xfrm>
            <a:off x="8280400" y="3225800"/>
            <a:ext cx="1244600" cy="901700"/>
          </a:xfrm>
          <a:prstGeom prst="roundRect">
            <a:avLst>
              <a:gd name="adj" fmla="val 8451"/>
            </a:avLst>
          </a:prstGeom>
          <a:solidFill>
            <a:srgbClr val="F4F4F1"/>
          </a:solidFill>
          <a:ln w="9525">
            <a:solidFill>
              <a:srgbClr val="C9C9C4"/>
            </a:solidFill>
            <a:prstDash val="solid"/>
          </a:ln>
        </p:spPr>
      </p:sp>
      <p:sp>
        <p:nvSpPr>
          <p:cNvPr id="62" name="Shape 60"/>
          <p:cNvSpPr/>
          <p:nvPr/>
        </p:nvSpPr>
        <p:spPr>
          <a:xfrm>
            <a:off x="8369300" y="3676650"/>
            <a:ext cx="1066800" cy="0"/>
          </a:xfrm>
          <a:prstGeom prst="line">
            <a:avLst/>
          </a:prstGeom>
          <a:noFill/>
          <a:ln w="12700">
            <a:solidFill>
              <a:srgbClr val="C9C9C4"/>
            </a:solidFill>
            <a:prstDash val="dash"/>
          </a:ln>
        </p:spPr>
      </p:sp>
      <p:sp>
        <p:nvSpPr>
          <p:cNvPr id="63" name="Shape 61"/>
          <p:cNvSpPr/>
          <p:nvPr/>
        </p:nvSpPr>
        <p:spPr>
          <a:xfrm>
            <a:off x="8382000" y="3314700"/>
            <a:ext cx="114300" cy="279400"/>
          </a:xfrm>
          <a:prstGeom prst="roundRect">
            <a:avLst>
              <a:gd name="adj" fmla="val 16667"/>
            </a:avLst>
          </a:prstGeom>
          <a:solidFill>
            <a:srgbClr val="E2E1DB"/>
          </a:solidFill>
          <a:ln w="9525">
            <a:solidFill>
              <a:srgbClr val="C9C9C4"/>
            </a:solidFill>
            <a:prstDash val="solid"/>
          </a:ln>
        </p:spPr>
      </p:sp>
      <p:sp>
        <p:nvSpPr>
          <p:cNvPr id="64" name="Shape 62"/>
          <p:cNvSpPr/>
          <p:nvPr/>
        </p:nvSpPr>
        <p:spPr>
          <a:xfrm>
            <a:off x="8407400" y="3359150"/>
            <a:ext cx="63500" cy="190500"/>
          </a:xfrm>
          <a:prstGeom prst="roundRect">
            <a:avLst>
              <a:gd name="adj" fmla="val 40000"/>
            </a:avLst>
          </a:prstGeom>
          <a:solidFill>
            <a:srgbClr val="2A2A2E"/>
          </a:solidFill>
          <a:ln/>
        </p:spPr>
      </p:sp>
      <p:sp>
        <p:nvSpPr>
          <p:cNvPr id="65" name="Shape 63"/>
          <p:cNvSpPr/>
          <p:nvPr/>
        </p:nvSpPr>
        <p:spPr>
          <a:xfrm>
            <a:off x="8534400" y="3314700"/>
            <a:ext cx="114300" cy="279400"/>
          </a:xfrm>
          <a:prstGeom prst="roundRect">
            <a:avLst>
              <a:gd name="adj" fmla="val 16667"/>
            </a:avLst>
          </a:prstGeom>
          <a:solidFill>
            <a:srgbClr val="E2E1DB"/>
          </a:solidFill>
          <a:ln w="9525">
            <a:solidFill>
              <a:srgbClr val="C9C9C4"/>
            </a:solidFill>
            <a:prstDash val="solid"/>
          </a:ln>
        </p:spPr>
      </p:sp>
      <p:sp>
        <p:nvSpPr>
          <p:cNvPr id="66" name="Shape 64"/>
          <p:cNvSpPr/>
          <p:nvPr/>
        </p:nvSpPr>
        <p:spPr>
          <a:xfrm>
            <a:off x="8559800" y="3359150"/>
            <a:ext cx="63500" cy="190500"/>
          </a:xfrm>
          <a:prstGeom prst="roundRect">
            <a:avLst>
              <a:gd name="adj" fmla="val 40000"/>
            </a:avLst>
          </a:prstGeom>
          <a:solidFill>
            <a:srgbClr val="2A2A2E"/>
          </a:solidFill>
          <a:ln/>
        </p:spPr>
      </p:sp>
      <p:sp>
        <p:nvSpPr>
          <p:cNvPr id="67" name="Shape 65"/>
          <p:cNvSpPr/>
          <p:nvPr/>
        </p:nvSpPr>
        <p:spPr>
          <a:xfrm>
            <a:off x="8686800" y="3314700"/>
            <a:ext cx="114300" cy="279400"/>
          </a:xfrm>
          <a:prstGeom prst="roundRect">
            <a:avLst>
              <a:gd name="adj" fmla="val 16667"/>
            </a:avLst>
          </a:prstGeom>
          <a:solidFill>
            <a:srgbClr val="E2E1DB"/>
          </a:solidFill>
          <a:ln w="9525">
            <a:solidFill>
              <a:srgbClr val="C9C9C4"/>
            </a:solidFill>
            <a:prstDash val="solid"/>
          </a:ln>
        </p:spPr>
      </p:sp>
      <p:sp>
        <p:nvSpPr>
          <p:cNvPr id="68" name="Shape 66"/>
          <p:cNvSpPr/>
          <p:nvPr/>
        </p:nvSpPr>
        <p:spPr>
          <a:xfrm>
            <a:off x="8712200" y="3359150"/>
            <a:ext cx="63500" cy="190500"/>
          </a:xfrm>
          <a:prstGeom prst="roundRect">
            <a:avLst>
              <a:gd name="adj" fmla="val 40000"/>
            </a:avLst>
          </a:prstGeom>
          <a:solidFill>
            <a:srgbClr val="2A2A2E"/>
          </a:solidFill>
          <a:ln/>
        </p:spPr>
      </p:sp>
      <p:sp>
        <p:nvSpPr>
          <p:cNvPr id="69" name="Shape 67"/>
          <p:cNvSpPr/>
          <p:nvPr/>
        </p:nvSpPr>
        <p:spPr>
          <a:xfrm>
            <a:off x="8839200" y="3314700"/>
            <a:ext cx="114300" cy="279400"/>
          </a:xfrm>
          <a:prstGeom prst="roundRect">
            <a:avLst>
              <a:gd name="adj" fmla="val 16667"/>
            </a:avLst>
          </a:prstGeom>
          <a:solidFill>
            <a:srgbClr val="FFD75A"/>
          </a:solidFill>
          <a:ln w="9525">
            <a:solidFill>
              <a:srgbClr val="121214"/>
            </a:solidFill>
            <a:prstDash val="solid"/>
          </a:ln>
        </p:spPr>
      </p:sp>
      <p:sp>
        <p:nvSpPr>
          <p:cNvPr id="70" name="Shape 68"/>
          <p:cNvSpPr/>
          <p:nvPr/>
        </p:nvSpPr>
        <p:spPr>
          <a:xfrm>
            <a:off x="8991600" y="3314700"/>
            <a:ext cx="114300" cy="279400"/>
          </a:xfrm>
          <a:prstGeom prst="roundRect">
            <a:avLst>
              <a:gd name="adj" fmla="val 16667"/>
            </a:avLst>
          </a:prstGeom>
          <a:solidFill>
            <a:srgbClr val="E2E1DB"/>
          </a:solidFill>
          <a:ln w="9525">
            <a:solidFill>
              <a:srgbClr val="C9C9C4"/>
            </a:solidFill>
            <a:prstDash val="solid"/>
          </a:ln>
        </p:spPr>
      </p:sp>
      <p:sp>
        <p:nvSpPr>
          <p:cNvPr id="71" name="Shape 69"/>
          <p:cNvSpPr/>
          <p:nvPr/>
        </p:nvSpPr>
        <p:spPr>
          <a:xfrm>
            <a:off x="9017000" y="3359150"/>
            <a:ext cx="63500" cy="190500"/>
          </a:xfrm>
          <a:prstGeom prst="roundRect">
            <a:avLst>
              <a:gd name="adj" fmla="val 40000"/>
            </a:avLst>
          </a:prstGeom>
          <a:solidFill>
            <a:srgbClr val="2A2A2E"/>
          </a:solidFill>
          <a:ln/>
        </p:spPr>
      </p:sp>
      <p:sp>
        <p:nvSpPr>
          <p:cNvPr id="72" name="Shape 70"/>
          <p:cNvSpPr/>
          <p:nvPr/>
        </p:nvSpPr>
        <p:spPr>
          <a:xfrm>
            <a:off x="9144000" y="3314700"/>
            <a:ext cx="114300" cy="279400"/>
          </a:xfrm>
          <a:prstGeom prst="roundRect">
            <a:avLst>
              <a:gd name="adj" fmla="val 16667"/>
            </a:avLst>
          </a:prstGeom>
          <a:solidFill>
            <a:srgbClr val="FDFDFB"/>
          </a:solidFill>
          <a:ln w="9525">
            <a:solidFill>
              <a:srgbClr val="C9C9C4"/>
            </a:solidFill>
            <a:prstDash val="solid"/>
          </a:ln>
        </p:spPr>
      </p:sp>
      <p:sp>
        <p:nvSpPr>
          <p:cNvPr id="73" name="Shape 71"/>
          <p:cNvSpPr/>
          <p:nvPr/>
        </p:nvSpPr>
        <p:spPr>
          <a:xfrm>
            <a:off x="9296400" y="3314700"/>
            <a:ext cx="114300" cy="279400"/>
          </a:xfrm>
          <a:prstGeom prst="roundRect">
            <a:avLst>
              <a:gd name="adj" fmla="val 16667"/>
            </a:avLst>
          </a:prstGeom>
          <a:solidFill>
            <a:srgbClr val="E2E1DB"/>
          </a:solidFill>
          <a:ln w="9525">
            <a:solidFill>
              <a:srgbClr val="C9C9C4"/>
            </a:solidFill>
            <a:prstDash val="solid"/>
          </a:ln>
        </p:spPr>
      </p:sp>
      <p:sp>
        <p:nvSpPr>
          <p:cNvPr id="74" name="Shape 72"/>
          <p:cNvSpPr/>
          <p:nvPr/>
        </p:nvSpPr>
        <p:spPr>
          <a:xfrm>
            <a:off x="9321800" y="3359150"/>
            <a:ext cx="63500" cy="190500"/>
          </a:xfrm>
          <a:prstGeom prst="roundRect">
            <a:avLst>
              <a:gd name="adj" fmla="val 40000"/>
            </a:avLst>
          </a:prstGeom>
          <a:solidFill>
            <a:srgbClr val="2A2A2E"/>
          </a:solidFill>
          <a:ln/>
        </p:spPr>
      </p:sp>
      <p:sp>
        <p:nvSpPr>
          <p:cNvPr id="75" name="Shape 73"/>
          <p:cNvSpPr/>
          <p:nvPr/>
        </p:nvSpPr>
        <p:spPr>
          <a:xfrm>
            <a:off x="8382000" y="3771900"/>
            <a:ext cx="114300" cy="279400"/>
          </a:xfrm>
          <a:prstGeom prst="roundRect">
            <a:avLst>
              <a:gd name="adj" fmla="val 16667"/>
            </a:avLst>
          </a:prstGeom>
          <a:solidFill>
            <a:srgbClr val="E2E1DB"/>
          </a:solidFill>
          <a:ln w="9525">
            <a:solidFill>
              <a:srgbClr val="C9C9C4"/>
            </a:solidFill>
            <a:prstDash val="solid"/>
          </a:ln>
        </p:spPr>
      </p:sp>
      <p:sp>
        <p:nvSpPr>
          <p:cNvPr id="76" name="Shape 74"/>
          <p:cNvSpPr/>
          <p:nvPr/>
        </p:nvSpPr>
        <p:spPr>
          <a:xfrm>
            <a:off x="8407400" y="3816350"/>
            <a:ext cx="63500" cy="190500"/>
          </a:xfrm>
          <a:prstGeom prst="roundRect">
            <a:avLst>
              <a:gd name="adj" fmla="val 40000"/>
            </a:avLst>
          </a:prstGeom>
          <a:solidFill>
            <a:srgbClr val="2A2A2E"/>
          </a:solidFill>
          <a:ln/>
        </p:spPr>
      </p:sp>
      <p:sp>
        <p:nvSpPr>
          <p:cNvPr id="77" name="Shape 75"/>
          <p:cNvSpPr/>
          <p:nvPr/>
        </p:nvSpPr>
        <p:spPr>
          <a:xfrm>
            <a:off x="8534400" y="3771900"/>
            <a:ext cx="114300" cy="279400"/>
          </a:xfrm>
          <a:prstGeom prst="roundRect">
            <a:avLst>
              <a:gd name="adj" fmla="val 16667"/>
            </a:avLst>
          </a:prstGeom>
          <a:solidFill>
            <a:srgbClr val="FDFDFB"/>
          </a:solidFill>
          <a:ln w="9525">
            <a:solidFill>
              <a:srgbClr val="C9C9C4"/>
            </a:solidFill>
            <a:prstDash val="solid"/>
          </a:ln>
        </p:spPr>
      </p:sp>
      <p:sp>
        <p:nvSpPr>
          <p:cNvPr id="78" name="Shape 76"/>
          <p:cNvSpPr/>
          <p:nvPr/>
        </p:nvSpPr>
        <p:spPr>
          <a:xfrm>
            <a:off x="8686800" y="3771900"/>
            <a:ext cx="114300" cy="279400"/>
          </a:xfrm>
          <a:prstGeom prst="roundRect">
            <a:avLst>
              <a:gd name="adj" fmla="val 16667"/>
            </a:avLst>
          </a:prstGeom>
          <a:solidFill>
            <a:srgbClr val="E2E1DB"/>
          </a:solidFill>
          <a:ln w="9525">
            <a:solidFill>
              <a:srgbClr val="C9C9C4"/>
            </a:solidFill>
            <a:prstDash val="solid"/>
          </a:ln>
        </p:spPr>
      </p:sp>
      <p:sp>
        <p:nvSpPr>
          <p:cNvPr id="79" name="Shape 77"/>
          <p:cNvSpPr/>
          <p:nvPr/>
        </p:nvSpPr>
        <p:spPr>
          <a:xfrm>
            <a:off x="8712200" y="3816350"/>
            <a:ext cx="63500" cy="190500"/>
          </a:xfrm>
          <a:prstGeom prst="roundRect">
            <a:avLst>
              <a:gd name="adj" fmla="val 40000"/>
            </a:avLst>
          </a:prstGeom>
          <a:solidFill>
            <a:srgbClr val="2A2A2E"/>
          </a:solidFill>
          <a:ln/>
        </p:spPr>
      </p:sp>
      <p:sp>
        <p:nvSpPr>
          <p:cNvPr id="80" name="Shape 78"/>
          <p:cNvSpPr/>
          <p:nvPr/>
        </p:nvSpPr>
        <p:spPr>
          <a:xfrm>
            <a:off x="8839200" y="3771900"/>
            <a:ext cx="114300" cy="279400"/>
          </a:xfrm>
          <a:prstGeom prst="roundRect">
            <a:avLst>
              <a:gd name="adj" fmla="val 16667"/>
            </a:avLst>
          </a:prstGeom>
          <a:solidFill>
            <a:srgbClr val="E2E1DB"/>
          </a:solidFill>
          <a:ln w="9525">
            <a:solidFill>
              <a:srgbClr val="C9C9C4"/>
            </a:solidFill>
            <a:prstDash val="solid"/>
          </a:ln>
        </p:spPr>
      </p:sp>
      <p:sp>
        <p:nvSpPr>
          <p:cNvPr id="81" name="Shape 79"/>
          <p:cNvSpPr/>
          <p:nvPr/>
        </p:nvSpPr>
        <p:spPr>
          <a:xfrm>
            <a:off x="8864600" y="3816350"/>
            <a:ext cx="63500" cy="190500"/>
          </a:xfrm>
          <a:prstGeom prst="roundRect">
            <a:avLst>
              <a:gd name="adj" fmla="val 40000"/>
            </a:avLst>
          </a:prstGeom>
          <a:solidFill>
            <a:srgbClr val="2A2A2E"/>
          </a:solidFill>
          <a:ln/>
        </p:spPr>
      </p:sp>
      <p:sp>
        <p:nvSpPr>
          <p:cNvPr id="82" name="Shape 80"/>
          <p:cNvSpPr/>
          <p:nvPr/>
        </p:nvSpPr>
        <p:spPr>
          <a:xfrm>
            <a:off x="8991600" y="3771900"/>
            <a:ext cx="114300" cy="279400"/>
          </a:xfrm>
          <a:prstGeom prst="roundRect">
            <a:avLst>
              <a:gd name="adj" fmla="val 16667"/>
            </a:avLst>
          </a:prstGeom>
          <a:solidFill>
            <a:srgbClr val="FDFDFB"/>
          </a:solidFill>
          <a:ln w="9525">
            <a:solidFill>
              <a:srgbClr val="C9C9C4"/>
            </a:solidFill>
            <a:prstDash val="solid"/>
          </a:ln>
        </p:spPr>
      </p:sp>
      <p:sp>
        <p:nvSpPr>
          <p:cNvPr id="83" name="Shape 81"/>
          <p:cNvSpPr/>
          <p:nvPr/>
        </p:nvSpPr>
        <p:spPr>
          <a:xfrm>
            <a:off x="9144000" y="3771900"/>
            <a:ext cx="114300" cy="279400"/>
          </a:xfrm>
          <a:prstGeom prst="roundRect">
            <a:avLst>
              <a:gd name="adj" fmla="val 16667"/>
            </a:avLst>
          </a:prstGeom>
          <a:solidFill>
            <a:srgbClr val="E2E1DB"/>
          </a:solidFill>
          <a:ln w="9525">
            <a:solidFill>
              <a:srgbClr val="C9C9C4"/>
            </a:solidFill>
            <a:prstDash val="solid"/>
          </a:ln>
        </p:spPr>
      </p:sp>
      <p:sp>
        <p:nvSpPr>
          <p:cNvPr id="84" name="Shape 82"/>
          <p:cNvSpPr/>
          <p:nvPr/>
        </p:nvSpPr>
        <p:spPr>
          <a:xfrm>
            <a:off x="9169400" y="3816350"/>
            <a:ext cx="63500" cy="190500"/>
          </a:xfrm>
          <a:prstGeom prst="roundRect">
            <a:avLst>
              <a:gd name="adj" fmla="val 40000"/>
            </a:avLst>
          </a:prstGeom>
          <a:solidFill>
            <a:srgbClr val="2A2A2E"/>
          </a:solidFill>
          <a:ln/>
        </p:spPr>
      </p:sp>
      <p:sp>
        <p:nvSpPr>
          <p:cNvPr id="85" name="Shape 83"/>
          <p:cNvSpPr/>
          <p:nvPr/>
        </p:nvSpPr>
        <p:spPr>
          <a:xfrm>
            <a:off x="9296400" y="3771900"/>
            <a:ext cx="114300" cy="279400"/>
          </a:xfrm>
          <a:prstGeom prst="roundRect">
            <a:avLst>
              <a:gd name="adj" fmla="val 16667"/>
            </a:avLst>
          </a:prstGeom>
          <a:solidFill>
            <a:srgbClr val="E2E1DB"/>
          </a:solidFill>
          <a:ln w="9525">
            <a:solidFill>
              <a:srgbClr val="C9C9C4"/>
            </a:solidFill>
            <a:prstDash val="solid"/>
          </a:ln>
        </p:spPr>
      </p:sp>
      <p:sp>
        <p:nvSpPr>
          <p:cNvPr id="86" name="Shape 84"/>
          <p:cNvSpPr/>
          <p:nvPr/>
        </p:nvSpPr>
        <p:spPr>
          <a:xfrm>
            <a:off x="9321800" y="3816350"/>
            <a:ext cx="63500" cy="190500"/>
          </a:xfrm>
          <a:prstGeom prst="roundRect">
            <a:avLst>
              <a:gd name="adj" fmla="val 40000"/>
            </a:avLst>
          </a:prstGeom>
          <a:solidFill>
            <a:srgbClr val="2A2A2E"/>
          </a:solidFill>
          <a:ln/>
        </p:spPr>
      </p:sp>
      <p:sp>
        <p:nvSpPr>
          <p:cNvPr id="87" name="Shape 85"/>
          <p:cNvSpPr/>
          <p:nvPr/>
        </p:nvSpPr>
        <p:spPr>
          <a:xfrm>
            <a:off x="9906000" y="3225800"/>
            <a:ext cx="1244600" cy="901700"/>
          </a:xfrm>
          <a:prstGeom prst="roundRect">
            <a:avLst>
              <a:gd name="adj" fmla="val 8451"/>
            </a:avLst>
          </a:prstGeom>
          <a:solidFill>
            <a:srgbClr val="060608"/>
          </a:solidFill>
          <a:ln w="9525">
            <a:solidFill>
              <a:srgbClr val="2A2A30"/>
            </a:solidFill>
            <a:prstDash val="solid"/>
          </a:ln>
        </p:spPr>
      </p:sp>
      <p:sp>
        <p:nvSpPr>
          <p:cNvPr id="88" name="Shape 86"/>
          <p:cNvSpPr/>
          <p:nvPr/>
        </p:nvSpPr>
        <p:spPr>
          <a:xfrm>
            <a:off x="9994900" y="3676650"/>
            <a:ext cx="1066800" cy="0"/>
          </a:xfrm>
          <a:prstGeom prst="line">
            <a:avLst/>
          </a:prstGeom>
          <a:noFill/>
          <a:ln w="12700">
            <a:solidFill>
              <a:srgbClr val="3A3A42"/>
            </a:solidFill>
            <a:prstDash val="dash"/>
          </a:ln>
        </p:spPr>
      </p:sp>
      <p:sp>
        <p:nvSpPr>
          <p:cNvPr id="89" name="Shape 87"/>
          <p:cNvSpPr/>
          <p:nvPr/>
        </p:nvSpPr>
        <p:spPr>
          <a:xfrm>
            <a:off x="10007600" y="3314700"/>
            <a:ext cx="114300" cy="279400"/>
          </a:xfrm>
          <a:prstGeom prst="roundRect">
            <a:avLst>
              <a:gd name="adj" fmla="val 16667"/>
            </a:avLst>
          </a:prstGeom>
          <a:solidFill>
            <a:srgbClr val="17171C"/>
          </a:solidFill>
          <a:ln w="9525">
            <a:solidFill>
              <a:srgbClr val="2A2A30"/>
            </a:solidFill>
            <a:prstDash val="solid"/>
          </a:ln>
        </p:spPr>
      </p:sp>
      <p:sp>
        <p:nvSpPr>
          <p:cNvPr id="90" name="Shape 88"/>
          <p:cNvSpPr/>
          <p:nvPr/>
        </p:nvSpPr>
        <p:spPr>
          <a:xfrm>
            <a:off x="10033000" y="3359150"/>
            <a:ext cx="63500" cy="190500"/>
          </a:xfrm>
          <a:prstGeom prst="roundRect">
            <a:avLst>
              <a:gd name="adj" fmla="val 40000"/>
            </a:avLst>
          </a:prstGeom>
          <a:solidFill>
            <a:srgbClr val="C9C9D2"/>
          </a:solidFill>
          <a:ln/>
        </p:spPr>
      </p:sp>
      <p:sp>
        <p:nvSpPr>
          <p:cNvPr id="91" name="Shape 89"/>
          <p:cNvSpPr/>
          <p:nvPr/>
        </p:nvSpPr>
        <p:spPr>
          <a:xfrm>
            <a:off x="10160000" y="3314700"/>
            <a:ext cx="114300" cy="279400"/>
          </a:xfrm>
          <a:prstGeom prst="roundRect">
            <a:avLst>
              <a:gd name="adj" fmla="val 16667"/>
            </a:avLst>
          </a:prstGeom>
          <a:solidFill>
            <a:srgbClr val="17171C"/>
          </a:solidFill>
          <a:ln w="9525">
            <a:solidFill>
              <a:srgbClr val="2A2A30"/>
            </a:solidFill>
            <a:prstDash val="solid"/>
          </a:ln>
        </p:spPr>
      </p:sp>
      <p:sp>
        <p:nvSpPr>
          <p:cNvPr id="92" name="Shape 90"/>
          <p:cNvSpPr/>
          <p:nvPr/>
        </p:nvSpPr>
        <p:spPr>
          <a:xfrm>
            <a:off x="10185400" y="3359150"/>
            <a:ext cx="63500" cy="190500"/>
          </a:xfrm>
          <a:prstGeom prst="roundRect">
            <a:avLst>
              <a:gd name="adj" fmla="val 40000"/>
            </a:avLst>
          </a:prstGeom>
          <a:solidFill>
            <a:srgbClr val="C9C9D2"/>
          </a:solidFill>
          <a:ln/>
        </p:spPr>
      </p:sp>
      <p:sp>
        <p:nvSpPr>
          <p:cNvPr id="93" name="Shape 91"/>
          <p:cNvSpPr/>
          <p:nvPr/>
        </p:nvSpPr>
        <p:spPr>
          <a:xfrm>
            <a:off x="10312400" y="3314700"/>
            <a:ext cx="114300" cy="279400"/>
          </a:xfrm>
          <a:prstGeom prst="roundRect">
            <a:avLst>
              <a:gd name="adj" fmla="val 16667"/>
            </a:avLst>
          </a:prstGeom>
          <a:solidFill>
            <a:srgbClr val="17171C"/>
          </a:solidFill>
          <a:ln w="9525">
            <a:solidFill>
              <a:srgbClr val="2A2A30"/>
            </a:solidFill>
            <a:prstDash val="solid"/>
          </a:ln>
        </p:spPr>
      </p:sp>
      <p:sp>
        <p:nvSpPr>
          <p:cNvPr id="94" name="Shape 92"/>
          <p:cNvSpPr/>
          <p:nvPr/>
        </p:nvSpPr>
        <p:spPr>
          <a:xfrm>
            <a:off x="10337800" y="3359150"/>
            <a:ext cx="63500" cy="190500"/>
          </a:xfrm>
          <a:prstGeom prst="roundRect">
            <a:avLst>
              <a:gd name="adj" fmla="val 40000"/>
            </a:avLst>
          </a:prstGeom>
          <a:solidFill>
            <a:srgbClr val="C9C9D2"/>
          </a:solidFill>
          <a:ln/>
        </p:spPr>
      </p:sp>
      <p:sp>
        <p:nvSpPr>
          <p:cNvPr id="95" name="Shape 93"/>
          <p:cNvSpPr/>
          <p:nvPr/>
        </p:nvSpPr>
        <p:spPr>
          <a:xfrm>
            <a:off x="10464800" y="3314700"/>
            <a:ext cx="114300" cy="279400"/>
          </a:xfrm>
          <a:prstGeom prst="roundRect">
            <a:avLst>
              <a:gd name="adj" fmla="val 16667"/>
            </a:avLst>
          </a:prstGeom>
          <a:solidFill>
            <a:srgbClr val="FFD75A"/>
          </a:solidFill>
          <a:ln w="9525">
            <a:solidFill>
              <a:srgbClr val="F0F0F3"/>
            </a:solidFill>
            <a:prstDash val="solid"/>
          </a:ln>
        </p:spPr>
      </p:sp>
      <p:sp>
        <p:nvSpPr>
          <p:cNvPr id="96" name="Shape 94"/>
          <p:cNvSpPr/>
          <p:nvPr/>
        </p:nvSpPr>
        <p:spPr>
          <a:xfrm>
            <a:off x="10617200" y="3314700"/>
            <a:ext cx="114300" cy="279400"/>
          </a:xfrm>
          <a:prstGeom prst="roundRect">
            <a:avLst>
              <a:gd name="adj" fmla="val 16667"/>
            </a:avLst>
          </a:prstGeom>
          <a:solidFill>
            <a:srgbClr val="17171C"/>
          </a:solidFill>
          <a:ln w="9525">
            <a:solidFill>
              <a:srgbClr val="2A2A30"/>
            </a:solidFill>
            <a:prstDash val="solid"/>
          </a:ln>
        </p:spPr>
      </p:sp>
      <p:sp>
        <p:nvSpPr>
          <p:cNvPr id="97" name="Shape 95"/>
          <p:cNvSpPr/>
          <p:nvPr/>
        </p:nvSpPr>
        <p:spPr>
          <a:xfrm>
            <a:off x="10642600" y="3359150"/>
            <a:ext cx="63500" cy="190500"/>
          </a:xfrm>
          <a:prstGeom prst="roundRect">
            <a:avLst>
              <a:gd name="adj" fmla="val 40000"/>
            </a:avLst>
          </a:prstGeom>
          <a:solidFill>
            <a:srgbClr val="C9C9D2"/>
          </a:solidFill>
          <a:ln/>
        </p:spPr>
      </p:sp>
      <p:sp>
        <p:nvSpPr>
          <p:cNvPr id="98" name="Shape 96"/>
          <p:cNvSpPr/>
          <p:nvPr/>
        </p:nvSpPr>
        <p:spPr>
          <a:xfrm>
            <a:off x="10769600" y="3314700"/>
            <a:ext cx="114300" cy="279400"/>
          </a:xfrm>
          <a:prstGeom prst="roundRect">
            <a:avLst>
              <a:gd name="adj" fmla="val 16667"/>
            </a:avLst>
          </a:prstGeom>
          <a:solidFill>
            <a:srgbClr val="101014"/>
          </a:solidFill>
          <a:ln w="9525">
            <a:solidFill>
              <a:srgbClr val="2A2A30"/>
            </a:solidFill>
            <a:prstDash val="solid"/>
          </a:ln>
        </p:spPr>
      </p:sp>
      <p:sp>
        <p:nvSpPr>
          <p:cNvPr id="99" name="Shape 97"/>
          <p:cNvSpPr/>
          <p:nvPr/>
        </p:nvSpPr>
        <p:spPr>
          <a:xfrm>
            <a:off x="10922000" y="3314700"/>
            <a:ext cx="114300" cy="279400"/>
          </a:xfrm>
          <a:prstGeom prst="roundRect">
            <a:avLst>
              <a:gd name="adj" fmla="val 16667"/>
            </a:avLst>
          </a:prstGeom>
          <a:solidFill>
            <a:srgbClr val="17171C"/>
          </a:solidFill>
          <a:ln w="9525">
            <a:solidFill>
              <a:srgbClr val="2A2A30"/>
            </a:solidFill>
            <a:prstDash val="solid"/>
          </a:ln>
        </p:spPr>
      </p:sp>
      <p:sp>
        <p:nvSpPr>
          <p:cNvPr id="100" name="Shape 98"/>
          <p:cNvSpPr/>
          <p:nvPr/>
        </p:nvSpPr>
        <p:spPr>
          <a:xfrm>
            <a:off x="10947400" y="3359150"/>
            <a:ext cx="63500" cy="190500"/>
          </a:xfrm>
          <a:prstGeom prst="roundRect">
            <a:avLst>
              <a:gd name="adj" fmla="val 40000"/>
            </a:avLst>
          </a:prstGeom>
          <a:solidFill>
            <a:srgbClr val="C9C9D2"/>
          </a:solidFill>
          <a:ln/>
        </p:spPr>
      </p:sp>
      <p:sp>
        <p:nvSpPr>
          <p:cNvPr id="101" name="Shape 99"/>
          <p:cNvSpPr/>
          <p:nvPr/>
        </p:nvSpPr>
        <p:spPr>
          <a:xfrm>
            <a:off x="10007600" y="3771900"/>
            <a:ext cx="114300" cy="279400"/>
          </a:xfrm>
          <a:prstGeom prst="roundRect">
            <a:avLst>
              <a:gd name="adj" fmla="val 16667"/>
            </a:avLst>
          </a:prstGeom>
          <a:solidFill>
            <a:srgbClr val="17171C"/>
          </a:solidFill>
          <a:ln w="9525">
            <a:solidFill>
              <a:srgbClr val="2A2A30"/>
            </a:solidFill>
            <a:prstDash val="solid"/>
          </a:ln>
        </p:spPr>
      </p:sp>
      <p:sp>
        <p:nvSpPr>
          <p:cNvPr id="102" name="Shape 100"/>
          <p:cNvSpPr/>
          <p:nvPr/>
        </p:nvSpPr>
        <p:spPr>
          <a:xfrm>
            <a:off x="10033000" y="3816350"/>
            <a:ext cx="63500" cy="190500"/>
          </a:xfrm>
          <a:prstGeom prst="roundRect">
            <a:avLst>
              <a:gd name="adj" fmla="val 40000"/>
            </a:avLst>
          </a:prstGeom>
          <a:solidFill>
            <a:srgbClr val="C9C9D2"/>
          </a:solidFill>
          <a:ln/>
        </p:spPr>
      </p:sp>
      <p:sp>
        <p:nvSpPr>
          <p:cNvPr id="103" name="Shape 101"/>
          <p:cNvSpPr/>
          <p:nvPr/>
        </p:nvSpPr>
        <p:spPr>
          <a:xfrm>
            <a:off x="10160000" y="3771900"/>
            <a:ext cx="114300" cy="279400"/>
          </a:xfrm>
          <a:prstGeom prst="roundRect">
            <a:avLst>
              <a:gd name="adj" fmla="val 16667"/>
            </a:avLst>
          </a:prstGeom>
          <a:solidFill>
            <a:srgbClr val="101014"/>
          </a:solidFill>
          <a:ln w="9525">
            <a:solidFill>
              <a:srgbClr val="2A2A30"/>
            </a:solidFill>
            <a:prstDash val="solid"/>
          </a:ln>
        </p:spPr>
      </p:sp>
      <p:sp>
        <p:nvSpPr>
          <p:cNvPr id="104" name="Shape 102"/>
          <p:cNvSpPr/>
          <p:nvPr/>
        </p:nvSpPr>
        <p:spPr>
          <a:xfrm>
            <a:off x="10312400" y="3771900"/>
            <a:ext cx="114300" cy="279400"/>
          </a:xfrm>
          <a:prstGeom prst="roundRect">
            <a:avLst>
              <a:gd name="adj" fmla="val 16667"/>
            </a:avLst>
          </a:prstGeom>
          <a:solidFill>
            <a:srgbClr val="17171C"/>
          </a:solidFill>
          <a:ln w="9525">
            <a:solidFill>
              <a:srgbClr val="2A2A30"/>
            </a:solidFill>
            <a:prstDash val="solid"/>
          </a:ln>
        </p:spPr>
      </p:sp>
      <p:sp>
        <p:nvSpPr>
          <p:cNvPr id="105" name="Shape 103"/>
          <p:cNvSpPr/>
          <p:nvPr/>
        </p:nvSpPr>
        <p:spPr>
          <a:xfrm>
            <a:off x="10337800" y="3816350"/>
            <a:ext cx="63500" cy="190500"/>
          </a:xfrm>
          <a:prstGeom prst="roundRect">
            <a:avLst>
              <a:gd name="adj" fmla="val 40000"/>
            </a:avLst>
          </a:prstGeom>
          <a:solidFill>
            <a:srgbClr val="C9C9D2"/>
          </a:solidFill>
          <a:ln/>
        </p:spPr>
      </p:sp>
      <p:sp>
        <p:nvSpPr>
          <p:cNvPr id="106" name="Shape 104"/>
          <p:cNvSpPr/>
          <p:nvPr/>
        </p:nvSpPr>
        <p:spPr>
          <a:xfrm>
            <a:off x="10464800" y="3771900"/>
            <a:ext cx="114300" cy="279400"/>
          </a:xfrm>
          <a:prstGeom prst="roundRect">
            <a:avLst>
              <a:gd name="adj" fmla="val 16667"/>
            </a:avLst>
          </a:prstGeom>
          <a:solidFill>
            <a:srgbClr val="17171C"/>
          </a:solidFill>
          <a:ln w="9525">
            <a:solidFill>
              <a:srgbClr val="2A2A30"/>
            </a:solidFill>
            <a:prstDash val="solid"/>
          </a:ln>
        </p:spPr>
      </p:sp>
      <p:sp>
        <p:nvSpPr>
          <p:cNvPr id="107" name="Shape 105"/>
          <p:cNvSpPr/>
          <p:nvPr/>
        </p:nvSpPr>
        <p:spPr>
          <a:xfrm>
            <a:off x="10490200" y="3816350"/>
            <a:ext cx="63500" cy="190500"/>
          </a:xfrm>
          <a:prstGeom prst="roundRect">
            <a:avLst>
              <a:gd name="adj" fmla="val 40000"/>
            </a:avLst>
          </a:prstGeom>
          <a:solidFill>
            <a:srgbClr val="C9C9D2"/>
          </a:solidFill>
          <a:ln/>
        </p:spPr>
      </p:sp>
      <p:sp>
        <p:nvSpPr>
          <p:cNvPr id="108" name="Shape 106"/>
          <p:cNvSpPr/>
          <p:nvPr/>
        </p:nvSpPr>
        <p:spPr>
          <a:xfrm>
            <a:off x="10617200" y="3771900"/>
            <a:ext cx="114300" cy="279400"/>
          </a:xfrm>
          <a:prstGeom prst="roundRect">
            <a:avLst>
              <a:gd name="adj" fmla="val 16667"/>
            </a:avLst>
          </a:prstGeom>
          <a:solidFill>
            <a:srgbClr val="101014"/>
          </a:solidFill>
          <a:ln w="9525">
            <a:solidFill>
              <a:srgbClr val="2A2A30"/>
            </a:solidFill>
            <a:prstDash val="solid"/>
          </a:ln>
        </p:spPr>
      </p:sp>
      <p:sp>
        <p:nvSpPr>
          <p:cNvPr id="109" name="Shape 107"/>
          <p:cNvSpPr/>
          <p:nvPr/>
        </p:nvSpPr>
        <p:spPr>
          <a:xfrm>
            <a:off x="10769600" y="3771900"/>
            <a:ext cx="114300" cy="279400"/>
          </a:xfrm>
          <a:prstGeom prst="roundRect">
            <a:avLst>
              <a:gd name="adj" fmla="val 16667"/>
            </a:avLst>
          </a:prstGeom>
          <a:solidFill>
            <a:srgbClr val="17171C"/>
          </a:solidFill>
          <a:ln w="9525">
            <a:solidFill>
              <a:srgbClr val="2A2A30"/>
            </a:solidFill>
            <a:prstDash val="solid"/>
          </a:ln>
        </p:spPr>
      </p:sp>
      <p:sp>
        <p:nvSpPr>
          <p:cNvPr id="110" name="Shape 108"/>
          <p:cNvSpPr/>
          <p:nvPr/>
        </p:nvSpPr>
        <p:spPr>
          <a:xfrm>
            <a:off x="10795000" y="3816350"/>
            <a:ext cx="63500" cy="190500"/>
          </a:xfrm>
          <a:prstGeom prst="roundRect">
            <a:avLst>
              <a:gd name="adj" fmla="val 40000"/>
            </a:avLst>
          </a:prstGeom>
          <a:solidFill>
            <a:srgbClr val="C9C9D2"/>
          </a:solidFill>
          <a:ln/>
        </p:spPr>
      </p:sp>
      <p:sp>
        <p:nvSpPr>
          <p:cNvPr id="111" name="Shape 109"/>
          <p:cNvSpPr/>
          <p:nvPr/>
        </p:nvSpPr>
        <p:spPr>
          <a:xfrm>
            <a:off x="10922000" y="3771900"/>
            <a:ext cx="114300" cy="279400"/>
          </a:xfrm>
          <a:prstGeom prst="roundRect">
            <a:avLst>
              <a:gd name="adj" fmla="val 16667"/>
            </a:avLst>
          </a:prstGeom>
          <a:solidFill>
            <a:srgbClr val="17171C"/>
          </a:solidFill>
          <a:ln w="9525">
            <a:solidFill>
              <a:srgbClr val="2A2A30"/>
            </a:solidFill>
            <a:prstDash val="solid"/>
          </a:ln>
        </p:spPr>
      </p:sp>
      <p:sp>
        <p:nvSpPr>
          <p:cNvPr id="112" name="Shape 110"/>
          <p:cNvSpPr/>
          <p:nvPr/>
        </p:nvSpPr>
        <p:spPr>
          <a:xfrm>
            <a:off x="10947400" y="3816350"/>
            <a:ext cx="63500" cy="190500"/>
          </a:xfrm>
          <a:prstGeom prst="roundRect">
            <a:avLst>
              <a:gd name="adj" fmla="val 40000"/>
            </a:avLst>
          </a:prstGeom>
          <a:solidFill>
            <a:srgbClr val="C9C9D2"/>
          </a:solidFill>
          <a:ln/>
        </p:spPr>
      </p:sp>
      <p:sp>
        <p:nvSpPr>
          <p:cNvPr id="113" name="Shape 111"/>
          <p:cNvSpPr/>
          <p:nvPr/>
        </p:nvSpPr>
        <p:spPr>
          <a:xfrm>
            <a:off x="9486900" y="4254500"/>
            <a:ext cx="457200" cy="215900"/>
          </a:xfrm>
          <a:prstGeom prst="roundRect">
            <a:avLst>
              <a:gd name="adj" fmla="val 50000"/>
            </a:avLst>
          </a:prstGeom>
          <a:solidFill>
            <a:srgbClr val="121214"/>
          </a:solidFill>
          <a:ln/>
        </p:spPr>
      </p:sp>
      <p:sp>
        <p:nvSpPr>
          <p:cNvPr id="114" name="Shape 112"/>
          <p:cNvSpPr/>
          <p:nvPr/>
        </p:nvSpPr>
        <p:spPr>
          <a:xfrm>
            <a:off x="9740900" y="4279900"/>
            <a:ext cx="165100" cy="165100"/>
          </a:xfrm>
          <a:prstGeom prst="ellipse">
            <a:avLst/>
          </a:prstGeom>
          <a:solidFill>
            <a:srgbClr val="FFD75A"/>
          </a:solidFill>
          <a:ln/>
        </p:spPr>
      </p:sp>
      <p:sp>
        <p:nvSpPr>
          <p:cNvPr id="115" name="Text 113"/>
          <p:cNvSpPr txBox="1"/>
          <p:nvPr/>
        </p:nvSpPr>
        <p:spPr>
          <a:xfrm>
            <a:off x="8280400" y="4292600"/>
            <a:ext cx="1143000" cy="152400"/>
          </a:xfrm>
          <a:prstGeom prst="rect">
            <a:avLst/>
          </a:prstGeom>
          <a:noFill/>
          <a:ln/>
        </p:spPr>
        <p:txBody>
          <a:bodyPr wrap="square" lIns="0" tIns="0" rIns="0" bIns="0" rtlCol="0" anchor="t"/>
          <a:lstStyle/>
          <a:p>
            <a:pPr algn="l" indent="0" marL="0">
              <a:lnSpc>
                <a:spcPct val="112000"/>
              </a:lnSpc>
              <a:buNone/>
            </a:pPr>
            <a:r>
              <a:rPr lang="en-US" sz="900" dirty="0">
                <a:solidFill>
                  <a:srgbClr val="9A9AA1"/>
                </a:solidFill>
                <a:latin typeface="Consolas" pitchFamily="34" charset="0"/>
                <a:ea typeface="Consolas" pitchFamily="34" charset="-122"/>
                <a:cs typeface="Consolas" pitchFamily="34" charset="-120"/>
              </a:rPr>
              <a:t>light</a:t>
            </a:r>
            <a:endParaRPr lang="en-US" sz="900" dirty="0"/>
          </a:p>
        </p:txBody>
      </p:sp>
      <p:sp>
        <p:nvSpPr>
          <p:cNvPr id="116" name="Text 114"/>
          <p:cNvSpPr txBox="1"/>
          <p:nvPr/>
        </p:nvSpPr>
        <p:spPr>
          <a:xfrm>
            <a:off x="9994900" y="4292600"/>
            <a:ext cx="1155700" cy="152400"/>
          </a:xfrm>
          <a:prstGeom prst="rect">
            <a:avLst/>
          </a:prstGeom>
          <a:noFill/>
          <a:ln/>
        </p:spPr>
        <p:txBody>
          <a:bodyPr wrap="square" lIns="0" tIns="0" rIns="0" bIns="0" rtlCol="0" anchor="t"/>
          <a:lstStyle/>
          <a:p>
            <a:pPr algn="r" indent="0" marL="0">
              <a:lnSpc>
                <a:spcPct val="112000"/>
              </a:lnSpc>
              <a:buNone/>
            </a:pPr>
            <a:r>
              <a:rPr lang="en-US" sz="900" dirty="0">
                <a:solidFill>
                  <a:srgbClr val="9A9AA1"/>
                </a:solidFill>
                <a:latin typeface="Consolas" pitchFamily="34" charset="0"/>
                <a:ea typeface="Consolas" pitchFamily="34" charset="-122"/>
                <a:cs typeface="Consolas" pitchFamily="34" charset="-120"/>
              </a:rPr>
              <a:t>dark</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09</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5710144"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042150" y="203200"/>
            <a:ext cx="362585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15645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270750" y="203200"/>
            <a:ext cx="337185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Working prototype</a:t>
            </a:r>
            <a:pPr indent="0" marL="0">
              <a:buNone/>
            </a:pPr>
            <a:r>
              <a:rPr lang="en-US" sz="900" dirty="0">
                <a:solidFill>
                  <a:srgbClr val="3C3C42"/>
                </a:solidFill>
                <a:latin typeface="Consolas" pitchFamily="34" charset="0"/>
                <a:ea typeface="Consolas" pitchFamily="34" charset="-122"/>
                <a:cs typeface="Consolas" pitchFamily="34" charset="-120"/>
              </a:rPr>
              <a:t>  ·  Functionality of prototype</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08</a:t>
            </a:r>
            <a:pPr algn="l" indent="0" marL="0">
              <a:buNone/>
            </a:pPr>
            <a:r>
              <a:rPr lang="en-US" sz="1100" dirty="0">
                <a:solidFill>
                  <a:srgbClr val="62626A"/>
                </a:solidFill>
                <a:latin typeface="Consolas" pitchFamily="34" charset="0"/>
                <a:ea typeface="Consolas" pitchFamily="34" charset="-122"/>
                <a:cs typeface="Consolas" pitchFamily="34" charset="-120"/>
              </a:rPr>
              <a:t>  ——  Booking</a:t>
            </a:r>
            <a:endParaRPr lang="en-US" sz="1100" dirty="0"/>
          </a:p>
        </p:txBody>
      </p:sp>
      <p:sp>
        <p:nvSpPr>
          <p:cNvPr id="8" name="Text 18"/>
          <p:cNvSpPr/>
          <p:nvPr>
            <p:ph idx="120" type="title" hasCustomPrompt="1"/>
          </p:nvPr>
        </p:nvSpPr>
        <p:spPr>
          <a:xfrm>
            <a:off x="762000" y="1295400"/>
            <a:ext cx="5842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Pick your hours.</a:t>
            </a:r>
            <a:endParaRPr lang="en-US" sz="4400" dirty="0"/>
          </a:p>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Get a pass.</a:t>
            </a:r>
            <a:endParaRPr lang="en-US" sz="4400" dirty="0"/>
          </a:p>
        </p:txBody>
      </p:sp>
      <p:sp>
        <p:nvSpPr>
          <p:cNvPr id="9" name="Text 7"/>
          <p:cNvSpPr txBox="1"/>
          <p:nvPr/>
        </p:nvSpPr>
        <p:spPr>
          <a:xfrm>
            <a:off x="762000" y="2730500"/>
            <a:ext cx="4953000" cy="698500"/>
          </a:xfrm>
          <a:prstGeom prst="rect">
            <a:avLst/>
          </a:prstGeom>
          <a:noFill/>
          <a:ln/>
        </p:spPr>
        <p:txBody>
          <a:bodyPr wrap="square" lIns="0" tIns="0" rIns="0" bIns="0" rtlCol="0" anchor="t"/>
          <a:lstStyle/>
          <a:p>
            <a:pPr algn="l" indent="0" marL="0">
              <a:lnSpc>
                <a:spcPct val="112000"/>
              </a:lnSpc>
              <a:buNone/>
            </a:pPr>
            <a:r>
              <a:rPr lang="en-US" sz="1500" dirty="0">
                <a:solidFill>
                  <a:srgbClr val="62626A"/>
                </a:solidFill>
                <a:latin typeface="Segoe UI" pitchFamily="34" charset="0"/>
                <a:ea typeface="Segoe UI" pitchFamily="34" charset="-122"/>
                <a:cs typeface="Segoe UI" pitchFamily="34" charset="-120"/>
              </a:rPr>
              <a:t>Choose when you arrive and how long you stay, add your number plate, and hold the bay. About a minute, start to finish.</a:t>
            </a:r>
            <a:endParaRPr lang="en-US" sz="1500" dirty="0"/>
          </a:p>
        </p:txBody>
      </p:sp>
      <p:sp>
        <p:nvSpPr>
          <p:cNvPr id="10" name="Shape 8"/>
          <p:cNvSpPr/>
          <p:nvPr/>
        </p:nvSpPr>
        <p:spPr>
          <a:xfrm>
            <a:off x="762000" y="3746500"/>
            <a:ext cx="4826000" cy="0"/>
          </a:xfrm>
          <a:prstGeom prst="line">
            <a:avLst/>
          </a:prstGeom>
          <a:noFill/>
          <a:ln w="12700">
            <a:solidFill>
              <a:srgbClr val="C9C9C4"/>
            </a:solidFill>
            <a:prstDash val="solid"/>
          </a:ln>
        </p:spPr>
      </p:sp>
      <p:sp>
        <p:nvSpPr>
          <p:cNvPr id="11" name="Text 9"/>
          <p:cNvSpPr txBox="1"/>
          <p:nvPr/>
        </p:nvSpPr>
        <p:spPr>
          <a:xfrm>
            <a:off x="762000" y="3886200"/>
            <a:ext cx="3175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01</a:t>
            </a:r>
            <a:endParaRPr lang="en-US" sz="1000" dirty="0"/>
          </a:p>
        </p:txBody>
      </p:sp>
      <p:sp>
        <p:nvSpPr>
          <p:cNvPr id="12" name="Text 10"/>
          <p:cNvSpPr txBox="1"/>
          <p:nvPr/>
        </p:nvSpPr>
        <p:spPr>
          <a:xfrm>
            <a:off x="1117600" y="3848100"/>
            <a:ext cx="4445000" cy="254000"/>
          </a:xfrm>
          <a:prstGeom prst="rect">
            <a:avLst/>
          </a:prstGeom>
          <a:noFill/>
          <a:ln/>
        </p:spPr>
        <p:txBody>
          <a:bodyPr wrap="square" lIns="0" tIns="0" rIns="0" bIns="0" rtlCol="0" anchor="t"/>
          <a:lstStyle/>
          <a:p>
            <a:pPr algn="l" indent="0" marL="0">
              <a:lnSpc>
                <a:spcPct val="112000"/>
              </a:lnSpc>
              <a:buNone/>
            </a:pPr>
            <a:r>
              <a:rPr lang="en-US" sz="1700" dirty="0">
                <a:solidFill>
                  <a:srgbClr val="121214"/>
                </a:solidFill>
                <a:latin typeface="Segoe UI Semibold" pitchFamily="34" charset="0"/>
                <a:ea typeface="Segoe UI Semibold" pitchFamily="34" charset="-122"/>
                <a:cs typeface="Segoe UI Semibold" pitchFamily="34" charset="-120"/>
              </a:rPr>
              <a:t>Clashes are crossed out</a:t>
            </a:r>
            <a:endParaRPr lang="en-US" sz="1700" dirty="0"/>
          </a:p>
        </p:txBody>
      </p:sp>
      <p:sp>
        <p:nvSpPr>
          <p:cNvPr id="13" name="Text 11"/>
          <p:cNvSpPr txBox="1"/>
          <p:nvPr/>
        </p:nvSpPr>
        <p:spPr>
          <a:xfrm>
            <a:off x="1117600" y="4127500"/>
            <a:ext cx="4445000" cy="317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Times that overlap someone else's booking can't be picked.</a:t>
            </a:r>
            <a:endParaRPr lang="en-US" sz="1300" dirty="0"/>
          </a:p>
        </p:txBody>
      </p:sp>
      <p:sp>
        <p:nvSpPr>
          <p:cNvPr id="14" name="Shape 12"/>
          <p:cNvSpPr/>
          <p:nvPr/>
        </p:nvSpPr>
        <p:spPr>
          <a:xfrm>
            <a:off x="762000" y="4559300"/>
            <a:ext cx="4826000" cy="0"/>
          </a:xfrm>
          <a:prstGeom prst="line">
            <a:avLst/>
          </a:prstGeom>
          <a:noFill/>
          <a:ln w="12700">
            <a:solidFill>
              <a:srgbClr val="C9C9C4"/>
            </a:solidFill>
            <a:prstDash val="solid"/>
          </a:ln>
        </p:spPr>
      </p:sp>
      <p:sp>
        <p:nvSpPr>
          <p:cNvPr id="15" name="Text 13"/>
          <p:cNvSpPr txBox="1"/>
          <p:nvPr/>
        </p:nvSpPr>
        <p:spPr>
          <a:xfrm>
            <a:off x="762000" y="4699000"/>
            <a:ext cx="3175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02</a:t>
            </a:r>
            <a:endParaRPr lang="en-US" sz="1000" dirty="0"/>
          </a:p>
        </p:txBody>
      </p:sp>
      <p:sp>
        <p:nvSpPr>
          <p:cNvPr id="16" name="Text 14"/>
          <p:cNvSpPr txBox="1"/>
          <p:nvPr/>
        </p:nvSpPr>
        <p:spPr>
          <a:xfrm>
            <a:off x="1117600" y="4660900"/>
            <a:ext cx="4445000" cy="254000"/>
          </a:xfrm>
          <a:prstGeom prst="rect">
            <a:avLst/>
          </a:prstGeom>
          <a:noFill/>
          <a:ln/>
        </p:spPr>
        <p:txBody>
          <a:bodyPr wrap="square" lIns="0" tIns="0" rIns="0" bIns="0" rtlCol="0" anchor="t"/>
          <a:lstStyle/>
          <a:p>
            <a:pPr algn="l" indent="0" marL="0">
              <a:lnSpc>
                <a:spcPct val="112000"/>
              </a:lnSpc>
              <a:buNone/>
            </a:pPr>
            <a:r>
              <a:rPr lang="en-US" sz="1700" dirty="0">
                <a:solidFill>
                  <a:srgbClr val="121214"/>
                </a:solidFill>
                <a:latin typeface="Segoe UI Semibold" pitchFamily="34" charset="0"/>
                <a:ea typeface="Segoe UI Semibold" pitchFamily="34" charset="-122"/>
                <a:cs typeface="Segoe UI Semibold" pitchFamily="34" charset="-120"/>
              </a:rPr>
              <a:t>A pass with a code</a:t>
            </a:r>
            <a:endParaRPr lang="en-US" sz="1700" dirty="0"/>
          </a:p>
        </p:txBody>
      </p:sp>
      <p:sp>
        <p:nvSpPr>
          <p:cNvPr id="17" name="Text 15"/>
          <p:cNvSpPr txBox="1"/>
          <p:nvPr/>
        </p:nvSpPr>
        <p:spPr>
          <a:xfrm>
            <a:off x="1117600" y="4940300"/>
            <a:ext cx="4445000" cy="317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Show it at the gate. Refresh, and it's still there.</a:t>
            </a:r>
            <a:endParaRPr lang="en-US" sz="1300" dirty="0"/>
          </a:p>
        </p:txBody>
      </p:sp>
      <p:sp>
        <p:nvSpPr>
          <p:cNvPr id="18" name="Shape 16"/>
          <p:cNvSpPr/>
          <p:nvPr/>
        </p:nvSpPr>
        <p:spPr>
          <a:xfrm>
            <a:off x="762000" y="5372100"/>
            <a:ext cx="4826000" cy="0"/>
          </a:xfrm>
          <a:prstGeom prst="line">
            <a:avLst/>
          </a:prstGeom>
          <a:noFill/>
          <a:ln w="12700">
            <a:solidFill>
              <a:srgbClr val="C9C9C4"/>
            </a:solidFill>
            <a:prstDash val="solid"/>
          </a:ln>
        </p:spPr>
      </p:sp>
      <p:sp>
        <p:nvSpPr>
          <p:cNvPr id="19" name="Text 17"/>
          <p:cNvSpPr txBox="1"/>
          <p:nvPr/>
        </p:nvSpPr>
        <p:spPr>
          <a:xfrm>
            <a:off x="762000" y="5511800"/>
            <a:ext cx="3175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03</a:t>
            </a:r>
            <a:endParaRPr lang="en-US" sz="1000" dirty="0"/>
          </a:p>
        </p:txBody>
      </p:sp>
      <p:sp>
        <p:nvSpPr>
          <p:cNvPr id="20" name="Text 18"/>
          <p:cNvSpPr txBox="1"/>
          <p:nvPr/>
        </p:nvSpPr>
        <p:spPr>
          <a:xfrm>
            <a:off x="1117600" y="5473700"/>
            <a:ext cx="4445000" cy="254000"/>
          </a:xfrm>
          <a:prstGeom prst="rect">
            <a:avLst/>
          </a:prstGeom>
          <a:noFill/>
          <a:ln/>
        </p:spPr>
        <p:txBody>
          <a:bodyPr wrap="square" lIns="0" tIns="0" rIns="0" bIns="0" rtlCol="0" anchor="t"/>
          <a:lstStyle/>
          <a:p>
            <a:pPr algn="l" indent="0" marL="0">
              <a:lnSpc>
                <a:spcPct val="112000"/>
              </a:lnSpc>
              <a:buNone/>
            </a:pPr>
            <a:r>
              <a:rPr lang="en-US" sz="1700" dirty="0">
                <a:solidFill>
                  <a:srgbClr val="121214"/>
                </a:solidFill>
                <a:latin typeface="Segoe UI Semibold" pitchFamily="34" charset="0"/>
                <a:ea typeface="Segoe UI Semibold" pitchFamily="34" charset="-122"/>
                <a:cs typeface="Segoe UI Semibold" pitchFamily="34" charset="-120"/>
              </a:rPr>
              <a:t>Late? 15 minutes' grace</a:t>
            </a:r>
            <a:endParaRPr lang="en-US" sz="1700" dirty="0"/>
          </a:p>
        </p:txBody>
      </p:sp>
      <p:sp>
        <p:nvSpPr>
          <p:cNvPr id="21" name="Text 19"/>
          <p:cNvSpPr txBox="1"/>
          <p:nvPr/>
        </p:nvSpPr>
        <p:spPr>
          <a:xfrm>
            <a:off x="1117600" y="5753100"/>
            <a:ext cx="4445000" cy="317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After that the bay opens up for someone else.</a:t>
            </a:r>
            <a:endParaRPr lang="en-US" sz="1300" dirty="0"/>
          </a:p>
        </p:txBody>
      </p:sp>
      <p:sp>
        <p:nvSpPr>
          <p:cNvPr id="22" name="Shape 20"/>
          <p:cNvSpPr/>
          <p:nvPr/>
        </p:nvSpPr>
        <p:spPr>
          <a:xfrm>
            <a:off x="6096000" y="952500"/>
            <a:ext cx="5334000" cy="2032000"/>
          </a:xfrm>
          <a:prstGeom prst="roundRect">
            <a:avLst>
              <a:gd name="adj" fmla="val 7500"/>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3" name="Text 21"/>
          <p:cNvSpPr txBox="1"/>
          <p:nvPr/>
        </p:nvSpPr>
        <p:spPr>
          <a:xfrm>
            <a:off x="6350000" y="1130300"/>
            <a:ext cx="2667000" cy="165100"/>
          </a:xfrm>
          <a:prstGeom prst="rect">
            <a:avLst/>
          </a:prstGeom>
          <a:noFill/>
          <a:ln/>
        </p:spPr>
        <p:txBody>
          <a:bodyPr wrap="square" lIns="0" tIns="0" rIns="0" bIns="0" rtlCol="0" anchor="t"/>
          <a:lstStyle/>
          <a:p>
            <a:pPr algn="l" indent="0" marL="0">
              <a:lnSpc>
                <a:spcPct val="112000"/>
              </a:lnSpc>
              <a:buNone/>
            </a:pPr>
            <a:r>
              <a:rPr lang="en-US" sz="1000" dirty="0">
                <a:solidFill>
                  <a:srgbClr val="62626A"/>
                </a:solidFill>
                <a:latin typeface="Consolas" pitchFamily="34" charset="0"/>
                <a:ea typeface="Consolas" pitchFamily="34" charset="-122"/>
                <a:cs typeface="Consolas" pitchFamily="34" charset="-120"/>
              </a:rPr>
              <a:t>TODAY  ·  BAY A-07</a:t>
            </a:r>
            <a:endParaRPr lang="en-US" sz="1000" dirty="0"/>
          </a:p>
        </p:txBody>
      </p:sp>
      <p:sp>
        <p:nvSpPr>
          <p:cNvPr id="24" name="Text 22"/>
          <p:cNvSpPr txBox="1"/>
          <p:nvPr/>
        </p:nvSpPr>
        <p:spPr>
          <a:xfrm>
            <a:off x="9906000" y="1130300"/>
            <a:ext cx="1270000" cy="165100"/>
          </a:xfrm>
          <a:prstGeom prst="rect">
            <a:avLst/>
          </a:prstGeom>
          <a:noFill/>
          <a:ln/>
        </p:spPr>
        <p:txBody>
          <a:bodyPr wrap="square" lIns="0" tIns="0" rIns="0" bIns="0" rtlCol="0" anchor="t"/>
          <a:lstStyle/>
          <a:p>
            <a:pPr algn="r" indent="0" marL="0">
              <a:lnSpc>
                <a:spcPct val="112000"/>
              </a:lnSpc>
              <a:buNone/>
            </a:pPr>
            <a:r>
              <a:rPr lang="en-US" sz="1000" dirty="0">
                <a:solidFill>
                  <a:srgbClr val="9A9AA1"/>
                </a:solidFill>
                <a:latin typeface="Consolas" pitchFamily="34" charset="0"/>
                <a:ea typeface="Consolas" pitchFamily="34" charset="-122"/>
                <a:cs typeface="Consolas" pitchFamily="34" charset="-120"/>
              </a:rPr>
              <a:t>08:00 – 20:00</a:t>
            </a:r>
            <a:endParaRPr lang="en-US" sz="1000" dirty="0"/>
          </a:p>
        </p:txBody>
      </p:sp>
      <p:sp>
        <p:nvSpPr>
          <p:cNvPr id="25" name="Shape 23"/>
          <p:cNvSpPr/>
          <p:nvPr/>
        </p:nvSpPr>
        <p:spPr>
          <a:xfrm>
            <a:off x="6350000" y="1879600"/>
            <a:ext cx="4826000" cy="254000"/>
          </a:xfrm>
          <a:prstGeom prst="roundRect">
            <a:avLst>
              <a:gd name="adj" fmla="val 25000"/>
            </a:avLst>
          </a:prstGeom>
          <a:solidFill>
            <a:srgbClr val="EBEAE5"/>
          </a:solidFill>
          <a:ln/>
        </p:spPr>
      </p:sp>
      <p:sp>
        <p:nvSpPr>
          <p:cNvPr id="26" name="Shape 24"/>
          <p:cNvSpPr/>
          <p:nvPr/>
        </p:nvSpPr>
        <p:spPr>
          <a:xfrm>
            <a:off x="6752167" y="1911350"/>
            <a:ext cx="1005417" cy="190500"/>
          </a:xfrm>
          <a:prstGeom prst="roundRect">
            <a:avLst>
              <a:gd name="adj" fmla="val 23333"/>
            </a:avLst>
          </a:prstGeom>
          <a:solidFill>
            <a:srgbClr val="C9C9C4"/>
          </a:solidFill>
          <a:ln/>
        </p:spPr>
      </p:sp>
      <p:sp>
        <p:nvSpPr>
          <p:cNvPr id="27" name="Shape 25"/>
          <p:cNvSpPr/>
          <p:nvPr/>
        </p:nvSpPr>
        <p:spPr>
          <a:xfrm>
            <a:off x="9768417" y="1911350"/>
            <a:ext cx="603250" cy="190500"/>
          </a:xfrm>
          <a:prstGeom prst="roundRect">
            <a:avLst>
              <a:gd name="adj" fmla="val 23333"/>
            </a:avLst>
          </a:prstGeom>
          <a:solidFill>
            <a:srgbClr val="C9C9C4"/>
          </a:solidFill>
          <a:ln/>
        </p:spPr>
      </p:sp>
      <p:sp>
        <p:nvSpPr>
          <p:cNvPr id="28" name="Shape 26"/>
          <p:cNvSpPr/>
          <p:nvPr/>
        </p:nvSpPr>
        <p:spPr>
          <a:xfrm>
            <a:off x="7355417" y="1841500"/>
            <a:ext cx="804333" cy="330200"/>
          </a:xfrm>
          <a:prstGeom prst="roundRect">
            <a:avLst>
              <a:gd name="adj" fmla="val 17308"/>
            </a:avLst>
          </a:prstGeom>
          <a:ln w="19050">
            <a:solidFill>
              <a:srgbClr val="3C3C42"/>
            </a:solidFill>
            <a:prstDash val="dash"/>
          </a:ln>
        </p:spPr>
      </p:sp>
      <p:sp>
        <p:nvSpPr>
          <p:cNvPr id="29" name="Shape 27"/>
          <p:cNvSpPr/>
          <p:nvPr/>
        </p:nvSpPr>
        <p:spPr>
          <a:xfrm>
            <a:off x="8360833" y="1841500"/>
            <a:ext cx="804333" cy="330200"/>
          </a:xfrm>
          <a:prstGeom prst="roundRect">
            <a:avLst>
              <a:gd name="adj" fmla="val 17308"/>
            </a:avLst>
          </a:prstGeom>
          <a:solidFill>
            <a:srgbClr val="FFD75A"/>
          </a:solidFill>
          <a:ln w="19050">
            <a:solidFill>
              <a:srgbClr val="121214"/>
            </a:solidFill>
            <a:prstDash val="solid"/>
          </a:ln>
        </p:spPr>
      </p:sp>
      <p:sp>
        <p:nvSpPr>
          <p:cNvPr id="30" name="Text 28"/>
          <p:cNvSpPr txBox="1"/>
          <p:nvPr/>
        </p:nvSpPr>
        <p:spPr>
          <a:xfrm>
            <a:off x="7249583" y="1600200"/>
            <a:ext cx="1016000" cy="165100"/>
          </a:xfrm>
          <a:prstGeom prst="rect">
            <a:avLst/>
          </a:prstGeom>
          <a:noFill/>
          <a:ln/>
        </p:spPr>
        <p:txBody>
          <a:bodyPr wrap="square" lIns="0" tIns="0" rIns="0" bIns="0" rtlCol="0" anchor="t"/>
          <a:lstStyle/>
          <a:p>
            <a:pPr algn="ctr" indent="0" marL="0">
              <a:lnSpc>
                <a:spcPct val="112000"/>
              </a:lnSpc>
              <a:buNone/>
            </a:pPr>
            <a:r>
              <a:rPr lang="en-US" sz="1000" dirty="0">
                <a:solidFill>
                  <a:srgbClr val="62626A"/>
                </a:solidFill>
                <a:latin typeface="Consolas" pitchFamily="34" charset="0"/>
                <a:ea typeface="Consolas" pitchFamily="34" charset="-122"/>
                <a:cs typeface="Consolas" pitchFamily="34" charset="-120"/>
              </a:rPr>
              <a:t>✕ clashes</a:t>
            </a:r>
            <a:endParaRPr lang="en-US" sz="1000" dirty="0"/>
          </a:p>
        </p:txBody>
      </p:sp>
      <p:sp>
        <p:nvSpPr>
          <p:cNvPr id="31" name="Text 29"/>
          <p:cNvSpPr txBox="1"/>
          <p:nvPr/>
        </p:nvSpPr>
        <p:spPr>
          <a:xfrm>
            <a:off x="8360833" y="1600200"/>
            <a:ext cx="2159000" cy="165100"/>
          </a:xfrm>
          <a:prstGeom prst="rect">
            <a:avLst/>
          </a:prstGeom>
          <a:noFill/>
          <a:ln/>
        </p:spPr>
        <p:txBody>
          <a:bodyPr wrap="square" lIns="0" tIns="0" rIns="0" bIns="0" rtlCol="0" anchor="t"/>
          <a:lstStyle/>
          <a:p>
            <a:pPr algn="l" indent="0" marL="0">
              <a:lnSpc>
                <a:spcPct val="112000"/>
              </a:lnSpc>
              <a:buNone/>
            </a:pPr>
            <a:r>
              <a:rPr lang="en-US" sz="1000" b="1" dirty="0">
                <a:solidFill>
                  <a:srgbClr val="121214"/>
                </a:solidFill>
                <a:latin typeface="Consolas" pitchFamily="34" charset="0"/>
                <a:ea typeface="Consolas" pitchFamily="34" charset="-122"/>
                <a:cs typeface="Consolas" pitchFamily="34" charset="-120"/>
              </a:rPr>
              <a:t>✓ 13:00–15:00 · yours</a:t>
            </a:r>
            <a:endParaRPr lang="en-US" sz="1000" dirty="0"/>
          </a:p>
        </p:txBody>
      </p:sp>
      <p:sp>
        <p:nvSpPr>
          <p:cNvPr id="32" name="Shape 30"/>
          <p:cNvSpPr/>
          <p:nvPr/>
        </p:nvSpPr>
        <p:spPr>
          <a:xfrm>
            <a:off x="6350000" y="2184400"/>
            <a:ext cx="0" cy="50800"/>
          </a:xfrm>
          <a:prstGeom prst="line">
            <a:avLst/>
          </a:prstGeom>
          <a:noFill/>
          <a:ln w="12700">
            <a:solidFill>
              <a:srgbClr val="9A9AA1"/>
            </a:solidFill>
            <a:prstDash val="solid"/>
          </a:ln>
        </p:spPr>
      </p:sp>
      <p:sp>
        <p:nvSpPr>
          <p:cNvPr id="33" name="Text 31"/>
          <p:cNvSpPr txBox="1"/>
          <p:nvPr/>
        </p:nvSpPr>
        <p:spPr>
          <a:xfrm>
            <a:off x="6223000" y="2247900"/>
            <a:ext cx="254000" cy="139700"/>
          </a:xfrm>
          <a:prstGeom prst="rect">
            <a:avLst/>
          </a:prstGeom>
          <a:noFill/>
          <a:ln/>
        </p:spPr>
        <p:txBody>
          <a:bodyPr wrap="square" lIns="0" tIns="0" rIns="0" bIns="0" rtlCol="0" anchor="t"/>
          <a:lstStyle/>
          <a:p>
            <a:pPr algn="ctr" indent="0" marL="0">
              <a:lnSpc>
                <a:spcPct val="112000"/>
              </a:lnSpc>
              <a:buNone/>
            </a:pPr>
            <a:r>
              <a:rPr lang="en-US" sz="900" dirty="0">
                <a:solidFill>
                  <a:srgbClr val="9A9AA1"/>
                </a:solidFill>
                <a:latin typeface="Consolas" pitchFamily="34" charset="0"/>
                <a:ea typeface="Consolas" pitchFamily="34" charset="-122"/>
                <a:cs typeface="Consolas" pitchFamily="34" charset="-120"/>
              </a:rPr>
              <a:t>08</a:t>
            </a:r>
            <a:endParaRPr lang="en-US" sz="900" dirty="0"/>
          </a:p>
        </p:txBody>
      </p:sp>
      <p:sp>
        <p:nvSpPr>
          <p:cNvPr id="34" name="Shape 32"/>
          <p:cNvSpPr/>
          <p:nvPr/>
        </p:nvSpPr>
        <p:spPr>
          <a:xfrm>
            <a:off x="7154333" y="2184400"/>
            <a:ext cx="0" cy="50800"/>
          </a:xfrm>
          <a:prstGeom prst="line">
            <a:avLst/>
          </a:prstGeom>
          <a:noFill/>
          <a:ln w="12700">
            <a:solidFill>
              <a:srgbClr val="9A9AA1"/>
            </a:solidFill>
            <a:prstDash val="solid"/>
          </a:ln>
        </p:spPr>
      </p:sp>
      <p:sp>
        <p:nvSpPr>
          <p:cNvPr id="35" name="Text 33"/>
          <p:cNvSpPr txBox="1"/>
          <p:nvPr/>
        </p:nvSpPr>
        <p:spPr>
          <a:xfrm>
            <a:off x="7027333" y="2247900"/>
            <a:ext cx="254000" cy="139700"/>
          </a:xfrm>
          <a:prstGeom prst="rect">
            <a:avLst/>
          </a:prstGeom>
          <a:noFill/>
          <a:ln/>
        </p:spPr>
        <p:txBody>
          <a:bodyPr wrap="square" lIns="0" tIns="0" rIns="0" bIns="0" rtlCol="0" anchor="t"/>
          <a:lstStyle/>
          <a:p>
            <a:pPr algn="ctr" indent="0" marL="0">
              <a:lnSpc>
                <a:spcPct val="112000"/>
              </a:lnSpc>
              <a:buNone/>
            </a:pPr>
            <a:r>
              <a:rPr lang="en-US" sz="900" dirty="0">
                <a:solidFill>
                  <a:srgbClr val="9A9AA1"/>
                </a:solidFill>
                <a:latin typeface="Consolas" pitchFamily="34" charset="0"/>
                <a:ea typeface="Consolas" pitchFamily="34" charset="-122"/>
                <a:cs typeface="Consolas" pitchFamily="34" charset="-120"/>
              </a:rPr>
              <a:t>10</a:t>
            </a:r>
            <a:endParaRPr lang="en-US" sz="900" dirty="0"/>
          </a:p>
        </p:txBody>
      </p:sp>
      <p:sp>
        <p:nvSpPr>
          <p:cNvPr id="36" name="Shape 34"/>
          <p:cNvSpPr/>
          <p:nvPr/>
        </p:nvSpPr>
        <p:spPr>
          <a:xfrm>
            <a:off x="7958667" y="2184400"/>
            <a:ext cx="0" cy="50800"/>
          </a:xfrm>
          <a:prstGeom prst="line">
            <a:avLst/>
          </a:prstGeom>
          <a:noFill/>
          <a:ln w="12700">
            <a:solidFill>
              <a:srgbClr val="9A9AA1"/>
            </a:solidFill>
            <a:prstDash val="solid"/>
          </a:ln>
        </p:spPr>
      </p:sp>
      <p:sp>
        <p:nvSpPr>
          <p:cNvPr id="37" name="Text 35"/>
          <p:cNvSpPr txBox="1"/>
          <p:nvPr/>
        </p:nvSpPr>
        <p:spPr>
          <a:xfrm>
            <a:off x="7831667" y="2247900"/>
            <a:ext cx="254000" cy="139700"/>
          </a:xfrm>
          <a:prstGeom prst="rect">
            <a:avLst/>
          </a:prstGeom>
          <a:noFill/>
          <a:ln/>
        </p:spPr>
        <p:txBody>
          <a:bodyPr wrap="square" lIns="0" tIns="0" rIns="0" bIns="0" rtlCol="0" anchor="t"/>
          <a:lstStyle/>
          <a:p>
            <a:pPr algn="ctr" indent="0" marL="0">
              <a:lnSpc>
                <a:spcPct val="112000"/>
              </a:lnSpc>
              <a:buNone/>
            </a:pPr>
            <a:r>
              <a:rPr lang="en-US" sz="900" dirty="0">
                <a:solidFill>
                  <a:srgbClr val="9A9AA1"/>
                </a:solidFill>
                <a:latin typeface="Consolas" pitchFamily="34" charset="0"/>
                <a:ea typeface="Consolas" pitchFamily="34" charset="-122"/>
                <a:cs typeface="Consolas" pitchFamily="34" charset="-120"/>
              </a:rPr>
              <a:t>12</a:t>
            </a:r>
            <a:endParaRPr lang="en-US" sz="900" dirty="0"/>
          </a:p>
        </p:txBody>
      </p:sp>
      <p:sp>
        <p:nvSpPr>
          <p:cNvPr id="38" name="Shape 36"/>
          <p:cNvSpPr/>
          <p:nvPr/>
        </p:nvSpPr>
        <p:spPr>
          <a:xfrm>
            <a:off x="8763000" y="2184400"/>
            <a:ext cx="0" cy="50800"/>
          </a:xfrm>
          <a:prstGeom prst="line">
            <a:avLst/>
          </a:prstGeom>
          <a:noFill/>
          <a:ln w="12700">
            <a:solidFill>
              <a:srgbClr val="9A9AA1"/>
            </a:solidFill>
            <a:prstDash val="solid"/>
          </a:ln>
        </p:spPr>
      </p:sp>
      <p:sp>
        <p:nvSpPr>
          <p:cNvPr id="39" name="Text 37"/>
          <p:cNvSpPr txBox="1"/>
          <p:nvPr/>
        </p:nvSpPr>
        <p:spPr>
          <a:xfrm>
            <a:off x="8636000" y="2247900"/>
            <a:ext cx="254000" cy="139700"/>
          </a:xfrm>
          <a:prstGeom prst="rect">
            <a:avLst/>
          </a:prstGeom>
          <a:noFill/>
          <a:ln/>
        </p:spPr>
        <p:txBody>
          <a:bodyPr wrap="square" lIns="0" tIns="0" rIns="0" bIns="0" rtlCol="0" anchor="t"/>
          <a:lstStyle/>
          <a:p>
            <a:pPr algn="ctr" indent="0" marL="0">
              <a:lnSpc>
                <a:spcPct val="112000"/>
              </a:lnSpc>
              <a:buNone/>
            </a:pPr>
            <a:r>
              <a:rPr lang="en-US" sz="900" dirty="0">
                <a:solidFill>
                  <a:srgbClr val="9A9AA1"/>
                </a:solidFill>
                <a:latin typeface="Consolas" pitchFamily="34" charset="0"/>
                <a:ea typeface="Consolas" pitchFamily="34" charset="-122"/>
                <a:cs typeface="Consolas" pitchFamily="34" charset="-120"/>
              </a:rPr>
              <a:t>14</a:t>
            </a:r>
            <a:endParaRPr lang="en-US" sz="900" dirty="0"/>
          </a:p>
        </p:txBody>
      </p:sp>
      <p:sp>
        <p:nvSpPr>
          <p:cNvPr id="40" name="Shape 38"/>
          <p:cNvSpPr/>
          <p:nvPr/>
        </p:nvSpPr>
        <p:spPr>
          <a:xfrm>
            <a:off x="9567333" y="2184400"/>
            <a:ext cx="0" cy="50800"/>
          </a:xfrm>
          <a:prstGeom prst="line">
            <a:avLst/>
          </a:prstGeom>
          <a:noFill/>
          <a:ln w="12700">
            <a:solidFill>
              <a:srgbClr val="9A9AA1"/>
            </a:solidFill>
            <a:prstDash val="solid"/>
          </a:ln>
        </p:spPr>
      </p:sp>
      <p:sp>
        <p:nvSpPr>
          <p:cNvPr id="41" name="Text 39"/>
          <p:cNvSpPr txBox="1"/>
          <p:nvPr/>
        </p:nvSpPr>
        <p:spPr>
          <a:xfrm>
            <a:off x="9440333" y="2247900"/>
            <a:ext cx="254000" cy="139700"/>
          </a:xfrm>
          <a:prstGeom prst="rect">
            <a:avLst/>
          </a:prstGeom>
          <a:noFill/>
          <a:ln/>
        </p:spPr>
        <p:txBody>
          <a:bodyPr wrap="square" lIns="0" tIns="0" rIns="0" bIns="0" rtlCol="0" anchor="t"/>
          <a:lstStyle/>
          <a:p>
            <a:pPr algn="ctr" indent="0" marL="0">
              <a:lnSpc>
                <a:spcPct val="112000"/>
              </a:lnSpc>
              <a:buNone/>
            </a:pPr>
            <a:r>
              <a:rPr lang="en-US" sz="900" dirty="0">
                <a:solidFill>
                  <a:srgbClr val="9A9AA1"/>
                </a:solidFill>
                <a:latin typeface="Consolas" pitchFamily="34" charset="0"/>
                <a:ea typeface="Consolas" pitchFamily="34" charset="-122"/>
                <a:cs typeface="Consolas" pitchFamily="34" charset="-120"/>
              </a:rPr>
              <a:t>16</a:t>
            </a:r>
            <a:endParaRPr lang="en-US" sz="900" dirty="0"/>
          </a:p>
        </p:txBody>
      </p:sp>
      <p:sp>
        <p:nvSpPr>
          <p:cNvPr id="42" name="Shape 40"/>
          <p:cNvSpPr/>
          <p:nvPr/>
        </p:nvSpPr>
        <p:spPr>
          <a:xfrm>
            <a:off x="10371667" y="2184400"/>
            <a:ext cx="0" cy="50800"/>
          </a:xfrm>
          <a:prstGeom prst="line">
            <a:avLst/>
          </a:prstGeom>
          <a:noFill/>
          <a:ln w="12700">
            <a:solidFill>
              <a:srgbClr val="9A9AA1"/>
            </a:solidFill>
            <a:prstDash val="solid"/>
          </a:ln>
        </p:spPr>
      </p:sp>
      <p:sp>
        <p:nvSpPr>
          <p:cNvPr id="43" name="Text 41"/>
          <p:cNvSpPr txBox="1"/>
          <p:nvPr/>
        </p:nvSpPr>
        <p:spPr>
          <a:xfrm>
            <a:off x="10244667" y="2247900"/>
            <a:ext cx="254000" cy="139700"/>
          </a:xfrm>
          <a:prstGeom prst="rect">
            <a:avLst/>
          </a:prstGeom>
          <a:noFill/>
          <a:ln/>
        </p:spPr>
        <p:txBody>
          <a:bodyPr wrap="square" lIns="0" tIns="0" rIns="0" bIns="0" rtlCol="0" anchor="t"/>
          <a:lstStyle/>
          <a:p>
            <a:pPr algn="ctr" indent="0" marL="0">
              <a:lnSpc>
                <a:spcPct val="112000"/>
              </a:lnSpc>
              <a:buNone/>
            </a:pPr>
            <a:r>
              <a:rPr lang="en-US" sz="900" dirty="0">
                <a:solidFill>
                  <a:srgbClr val="9A9AA1"/>
                </a:solidFill>
                <a:latin typeface="Consolas" pitchFamily="34" charset="0"/>
                <a:ea typeface="Consolas" pitchFamily="34" charset="-122"/>
                <a:cs typeface="Consolas" pitchFamily="34" charset="-120"/>
              </a:rPr>
              <a:t>18</a:t>
            </a:r>
            <a:endParaRPr lang="en-US" sz="900" dirty="0"/>
          </a:p>
        </p:txBody>
      </p:sp>
      <p:sp>
        <p:nvSpPr>
          <p:cNvPr id="44" name="Shape 42"/>
          <p:cNvSpPr/>
          <p:nvPr/>
        </p:nvSpPr>
        <p:spPr>
          <a:xfrm>
            <a:off x="11176000" y="2184400"/>
            <a:ext cx="0" cy="50800"/>
          </a:xfrm>
          <a:prstGeom prst="line">
            <a:avLst/>
          </a:prstGeom>
          <a:noFill/>
          <a:ln w="12700">
            <a:solidFill>
              <a:srgbClr val="9A9AA1"/>
            </a:solidFill>
            <a:prstDash val="solid"/>
          </a:ln>
        </p:spPr>
      </p:sp>
      <p:sp>
        <p:nvSpPr>
          <p:cNvPr id="45" name="Text 43"/>
          <p:cNvSpPr txBox="1"/>
          <p:nvPr/>
        </p:nvSpPr>
        <p:spPr>
          <a:xfrm>
            <a:off x="11049000" y="2247900"/>
            <a:ext cx="254000" cy="139700"/>
          </a:xfrm>
          <a:prstGeom prst="rect">
            <a:avLst/>
          </a:prstGeom>
          <a:noFill/>
          <a:ln/>
        </p:spPr>
        <p:txBody>
          <a:bodyPr wrap="square" lIns="0" tIns="0" rIns="0" bIns="0" rtlCol="0" anchor="t"/>
          <a:lstStyle/>
          <a:p>
            <a:pPr algn="ctr" indent="0" marL="0">
              <a:lnSpc>
                <a:spcPct val="112000"/>
              </a:lnSpc>
              <a:buNone/>
            </a:pPr>
            <a:r>
              <a:rPr lang="en-US" sz="900" dirty="0">
                <a:solidFill>
                  <a:srgbClr val="9A9AA1"/>
                </a:solidFill>
                <a:latin typeface="Consolas" pitchFamily="34" charset="0"/>
                <a:ea typeface="Consolas" pitchFamily="34" charset="-122"/>
                <a:cs typeface="Consolas" pitchFamily="34" charset="-120"/>
              </a:rPr>
              <a:t>20</a:t>
            </a:r>
            <a:endParaRPr lang="en-US" sz="900" dirty="0"/>
          </a:p>
        </p:txBody>
      </p:sp>
      <p:sp>
        <p:nvSpPr>
          <p:cNvPr id="46" name="Shape 44"/>
          <p:cNvSpPr/>
          <p:nvPr/>
        </p:nvSpPr>
        <p:spPr>
          <a:xfrm>
            <a:off x="6350000" y="2667000"/>
            <a:ext cx="139700" cy="101600"/>
          </a:xfrm>
          <a:prstGeom prst="roundRect">
            <a:avLst>
              <a:gd name="adj" fmla="val 25000"/>
            </a:avLst>
          </a:prstGeom>
          <a:solidFill>
            <a:srgbClr val="C9C9C4"/>
          </a:solidFill>
          <a:ln/>
        </p:spPr>
      </p:sp>
      <p:sp>
        <p:nvSpPr>
          <p:cNvPr id="47" name="Text 45"/>
          <p:cNvSpPr txBox="1"/>
          <p:nvPr/>
        </p:nvSpPr>
        <p:spPr>
          <a:xfrm>
            <a:off x="6553200" y="2628900"/>
            <a:ext cx="1651000" cy="177800"/>
          </a:xfrm>
          <a:prstGeom prst="rect">
            <a:avLst/>
          </a:prstGeom>
          <a:noFill/>
          <a:ln/>
        </p:spPr>
        <p:txBody>
          <a:bodyPr wrap="square" lIns="0" tIns="0" rIns="0" bIns="0" rtlCol="0" anchor="ctr"/>
          <a:lstStyle/>
          <a:p>
            <a:pPr algn="l" indent="0" marL="0">
              <a:lnSpc>
                <a:spcPct val="112000"/>
              </a:lnSpc>
              <a:buNone/>
            </a:pPr>
            <a:r>
              <a:rPr lang="en-US" sz="950" dirty="0">
                <a:solidFill>
                  <a:srgbClr val="62626A"/>
                </a:solidFill>
                <a:latin typeface="Consolas" pitchFamily="34" charset="0"/>
                <a:ea typeface="Consolas" pitchFamily="34" charset="-122"/>
                <a:cs typeface="Consolas" pitchFamily="34" charset="-120"/>
              </a:rPr>
              <a:t>taken</a:t>
            </a:r>
            <a:endParaRPr lang="en-US" sz="950" dirty="0"/>
          </a:p>
        </p:txBody>
      </p:sp>
      <p:sp>
        <p:nvSpPr>
          <p:cNvPr id="48" name="Shape 46"/>
          <p:cNvSpPr/>
          <p:nvPr/>
        </p:nvSpPr>
        <p:spPr>
          <a:xfrm>
            <a:off x="7156450" y="2667000"/>
            <a:ext cx="139700" cy="101600"/>
          </a:xfrm>
          <a:prstGeom prst="roundRect">
            <a:avLst>
              <a:gd name="adj" fmla="val 25000"/>
            </a:avLst>
          </a:prstGeom>
          <a:solidFill>
            <a:srgbClr val="FFD75A"/>
          </a:solidFill>
          <a:ln w="12700">
            <a:solidFill>
              <a:srgbClr val="121214"/>
            </a:solidFill>
            <a:prstDash val="solid"/>
          </a:ln>
        </p:spPr>
      </p:sp>
      <p:sp>
        <p:nvSpPr>
          <p:cNvPr id="49" name="Text 47"/>
          <p:cNvSpPr txBox="1"/>
          <p:nvPr/>
        </p:nvSpPr>
        <p:spPr>
          <a:xfrm>
            <a:off x="7359650" y="2628900"/>
            <a:ext cx="1651000" cy="177800"/>
          </a:xfrm>
          <a:prstGeom prst="rect">
            <a:avLst/>
          </a:prstGeom>
          <a:noFill/>
          <a:ln/>
        </p:spPr>
        <p:txBody>
          <a:bodyPr wrap="square" lIns="0" tIns="0" rIns="0" bIns="0" rtlCol="0" anchor="ctr"/>
          <a:lstStyle/>
          <a:p>
            <a:pPr algn="l" indent="0" marL="0">
              <a:lnSpc>
                <a:spcPct val="112000"/>
              </a:lnSpc>
              <a:buNone/>
            </a:pPr>
            <a:r>
              <a:rPr lang="en-US" sz="950" dirty="0">
                <a:solidFill>
                  <a:srgbClr val="62626A"/>
                </a:solidFill>
                <a:latin typeface="Consolas" pitchFamily="34" charset="0"/>
                <a:ea typeface="Consolas" pitchFamily="34" charset="-122"/>
                <a:cs typeface="Consolas" pitchFamily="34" charset="-120"/>
              </a:rPr>
              <a:t>your window</a:t>
            </a:r>
            <a:endParaRPr lang="en-US" sz="950" dirty="0"/>
          </a:p>
        </p:txBody>
      </p:sp>
      <p:sp>
        <p:nvSpPr>
          <p:cNvPr id="50" name="Shape 48"/>
          <p:cNvSpPr/>
          <p:nvPr/>
        </p:nvSpPr>
        <p:spPr>
          <a:xfrm>
            <a:off x="8382000" y="2667000"/>
            <a:ext cx="139700" cy="101600"/>
          </a:xfrm>
          <a:prstGeom prst="roundRect">
            <a:avLst>
              <a:gd name="adj" fmla="val 25000"/>
            </a:avLst>
          </a:prstGeom>
          <a:ln w="12700">
            <a:solidFill>
              <a:srgbClr val="3C3C42"/>
            </a:solidFill>
            <a:prstDash val="dash"/>
          </a:ln>
        </p:spPr>
      </p:sp>
      <p:sp>
        <p:nvSpPr>
          <p:cNvPr id="51" name="Text 49"/>
          <p:cNvSpPr txBox="1"/>
          <p:nvPr/>
        </p:nvSpPr>
        <p:spPr>
          <a:xfrm>
            <a:off x="8585200" y="2628900"/>
            <a:ext cx="1651000" cy="177800"/>
          </a:xfrm>
          <a:prstGeom prst="rect">
            <a:avLst/>
          </a:prstGeom>
          <a:noFill/>
          <a:ln/>
        </p:spPr>
        <p:txBody>
          <a:bodyPr wrap="square" lIns="0" tIns="0" rIns="0" bIns="0" rtlCol="0" anchor="ctr"/>
          <a:lstStyle/>
          <a:p>
            <a:pPr algn="l" indent="0" marL="0">
              <a:lnSpc>
                <a:spcPct val="112000"/>
              </a:lnSpc>
              <a:buNone/>
            </a:pPr>
            <a:r>
              <a:rPr lang="en-US" sz="950" dirty="0">
                <a:solidFill>
                  <a:srgbClr val="62626A"/>
                </a:solidFill>
                <a:latin typeface="Consolas" pitchFamily="34" charset="0"/>
                <a:ea typeface="Consolas" pitchFamily="34" charset="-122"/>
                <a:cs typeface="Consolas" pitchFamily="34" charset="-120"/>
              </a:rPr>
              <a:t>clash · can't pick</a:t>
            </a:r>
            <a:endParaRPr lang="en-US" sz="950" dirty="0"/>
          </a:p>
        </p:txBody>
      </p:sp>
      <p:sp>
        <p:nvSpPr>
          <p:cNvPr id="52" name="Shape 50"/>
          <p:cNvSpPr/>
          <p:nvPr/>
        </p:nvSpPr>
        <p:spPr>
          <a:xfrm>
            <a:off x="6096000" y="3238500"/>
            <a:ext cx="3886200" cy="2349500"/>
          </a:xfrm>
          <a:prstGeom prst="roundRect">
            <a:avLst>
              <a:gd name="adj" fmla="val 5946"/>
            </a:avLst>
          </a:prstGeom>
          <a:solidFill>
            <a:srgbClr val="FFD75A"/>
          </a:solidFill>
          <a:ln/>
          <a:effectLst>
            <a:outerShdw sx="100000" sy="100000" kx="0" ky="0" algn="bl" rotWithShape="0" blurRad="203200" dist="101600" dir="5400000">
              <a:srgbClr val="000000">
                <a:alpha val="14000"/>
              </a:srgbClr>
            </a:outerShdw>
          </a:effectLst>
        </p:spPr>
      </p:sp>
      <p:sp>
        <p:nvSpPr>
          <p:cNvPr id="53" name="Shape 51"/>
          <p:cNvSpPr/>
          <p:nvPr/>
        </p:nvSpPr>
        <p:spPr>
          <a:xfrm>
            <a:off x="10045700" y="3238500"/>
            <a:ext cx="1384300" cy="2349500"/>
          </a:xfrm>
          <a:prstGeom prst="roundRect">
            <a:avLst>
              <a:gd name="adj" fmla="val 10092"/>
            </a:avLst>
          </a:prstGeom>
          <a:solidFill>
            <a:srgbClr val="FDFDFB"/>
          </a:solidFill>
          <a:ln w="9525">
            <a:solidFill>
              <a:srgbClr val="C9C9C4"/>
            </a:solidFill>
            <a:prstDash val="solid"/>
          </a:ln>
          <a:effectLst>
            <a:outerShdw sx="100000" sy="100000" kx="0" ky="0" algn="bl" rotWithShape="0" blurRad="203200" dist="101600" dir="5400000">
              <a:srgbClr val="000000">
                <a:alpha val="14000"/>
              </a:srgbClr>
            </a:outerShdw>
          </a:effectLst>
        </p:spPr>
      </p:sp>
      <p:sp>
        <p:nvSpPr>
          <p:cNvPr id="54" name="Shape 52"/>
          <p:cNvSpPr/>
          <p:nvPr/>
        </p:nvSpPr>
        <p:spPr>
          <a:xfrm>
            <a:off x="10013950" y="3390900"/>
            <a:ext cx="0" cy="2044700"/>
          </a:xfrm>
          <a:prstGeom prst="line">
            <a:avLst/>
          </a:prstGeom>
          <a:noFill/>
          <a:ln w="15875">
            <a:solidFill>
              <a:srgbClr val="9A9AA1"/>
            </a:solidFill>
            <a:prstDash val="dash"/>
          </a:ln>
        </p:spPr>
      </p:sp>
      <p:sp>
        <p:nvSpPr>
          <p:cNvPr id="55" name="Text 53"/>
          <p:cNvSpPr txBox="1"/>
          <p:nvPr/>
        </p:nvSpPr>
        <p:spPr>
          <a:xfrm>
            <a:off x="6324600" y="3429000"/>
            <a:ext cx="2286000" cy="152400"/>
          </a:xfrm>
          <a:prstGeom prst="rect">
            <a:avLst/>
          </a:prstGeom>
          <a:noFill/>
          <a:ln/>
        </p:spPr>
        <p:txBody>
          <a:bodyPr wrap="square" lIns="0" tIns="0" rIns="0" bIns="0" rtlCol="0" anchor="t"/>
          <a:lstStyle/>
          <a:p>
            <a:pPr algn="l" indent="0" marL="0">
              <a:lnSpc>
                <a:spcPct val="112000"/>
              </a:lnSpc>
              <a:buNone/>
            </a:pPr>
            <a:r>
              <a:rPr lang="en-US" sz="900" dirty="0">
                <a:solidFill>
                  <a:srgbClr val="6B5A1E"/>
                </a:solidFill>
                <a:latin typeface="Consolas" pitchFamily="34" charset="0"/>
                <a:ea typeface="Consolas" pitchFamily="34" charset="-122"/>
                <a:cs typeface="Consolas" pitchFamily="34" charset="-120"/>
              </a:rPr>
              <a:t>ARRIVO  ·  BAY PASS</a:t>
            </a:r>
            <a:endParaRPr lang="en-US" sz="900" dirty="0"/>
          </a:p>
        </p:txBody>
      </p:sp>
      <p:sp>
        <p:nvSpPr>
          <p:cNvPr id="56" name="Text 54"/>
          <p:cNvSpPr txBox="1"/>
          <p:nvPr/>
        </p:nvSpPr>
        <p:spPr>
          <a:xfrm>
            <a:off x="8509000" y="3429000"/>
            <a:ext cx="1270000" cy="152400"/>
          </a:xfrm>
          <a:prstGeom prst="rect">
            <a:avLst/>
          </a:prstGeom>
          <a:noFill/>
          <a:ln/>
        </p:spPr>
        <p:txBody>
          <a:bodyPr wrap="square" lIns="0" tIns="0" rIns="0" bIns="0" rtlCol="0" anchor="t"/>
          <a:lstStyle/>
          <a:p>
            <a:pPr algn="r" indent="0" marL="0">
              <a:lnSpc>
                <a:spcPct val="112000"/>
              </a:lnSpc>
              <a:buNone/>
            </a:pPr>
            <a:r>
              <a:rPr lang="en-US" sz="900" dirty="0">
                <a:solidFill>
                  <a:srgbClr val="6B5A1E"/>
                </a:solidFill>
                <a:latin typeface="Consolas" pitchFamily="34" charset="0"/>
                <a:ea typeface="Consolas" pitchFamily="34" charset="-122"/>
                <a:cs typeface="Consolas" pitchFamily="34" charset="-120"/>
              </a:rPr>
              <a:t>KIET MAIN LOT</a:t>
            </a:r>
            <a:endParaRPr lang="en-US" sz="900" dirty="0"/>
          </a:p>
        </p:txBody>
      </p:sp>
      <p:sp>
        <p:nvSpPr>
          <p:cNvPr id="57" name="Text 55"/>
          <p:cNvSpPr txBox="1"/>
          <p:nvPr/>
        </p:nvSpPr>
        <p:spPr>
          <a:xfrm>
            <a:off x="6286500" y="3632200"/>
            <a:ext cx="2667000" cy="825500"/>
          </a:xfrm>
          <a:prstGeom prst="rect">
            <a:avLst/>
          </a:prstGeom>
          <a:noFill/>
          <a:ln/>
        </p:spPr>
        <p:txBody>
          <a:bodyPr wrap="square" lIns="0" tIns="0" rIns="0" bIns="0" rtlCol="0" anchor="ctr"/>
          <a:lstStyle/>
          <a:p>
            <a:pPr algn="l" indent="0" marL="0">
              <a:lnSpc>
                <a:spcPct val="112000"/>
              </a:lnSpc>
              <a:buNone/>
            </a:pPr>
            <a:r>
              <a:rPr lang="en-US" sz="6600" spc="-300" kern="0" dirty="0">
                <a:solidFill>
                  <a:srgbClr val="16160E"/>
                </a:solidFill>
                <a:latin typeface="Segoe UI Semibold" pitchFamily="34" charset="0"/>
                <a:ea typeface="Segoe UI Semibold" pitchFamily="34" charset="-122"/>
                <a:cs typeface="Segoe UI Semibold" pitchFamily="34" charset="-120"/>
              </a:rPr>
              <a:t>A-07</a:t>
            </a:r>
            <a:endParaRPr lang="en-US" sz="6600" dirty="0"/>
          </a:p>
        </p:txBody>
      </p:sp>
      <p:sp>
        <p:nvSpPr>
          <p:cNvPr id="58" name="Text 56"/>
          <p:cNvSpPr txBox="1"/>
          <p:nvPr/>
        </p:nvSpPr>
        <p:spPr>
          <a:xfrm>
            <a:off x="6324600" y="4584700"/>
            <a:ext cx="1143000" cy="139700"/>
          </a:xfrm>
          <a:prstGeom prst="rect">
            <a:avLst/>
          </a:prstGeom>
          <a:noFill/>
          <a:ln/>
        </p:spPr>
        <p:txBody>
          <a:bodyPr wrap="square" lIns="0" tIns="0" rIns="0" bIns="0" rtlCol="0" anchor="t"/>
          <a:lstStyle/>
          <a:p>
            <a:pPr algn="l" indent="0" marL="0">
              <a:lnSpc>
                <a:spcPct val="112000"/>
              </a:lnSpc>
              <a:buNone/>
            </a:pPr>
            <a:r>
              <a:rPr lang="en-US" sz="800" dirty="0">
                <a:solidFill>
                  <a:srgbClr val="6B5A1E"/>
                </a:solidFill>
                <a:latin typeface="Consolas" pitchFamily="34" charset="0"/>
                <a:ea typeface="Consolas" pitchFamily="34" charset="-122"/>
                <a:cs typeface="Consolas" pitchFamily="34" charset="-120"/>
              </a:rPr>
              <a:t>ARRIVE</a:t>
            </a:r>
            <a:endParaRPr lang="en-US" sz="800" dirty="0"/>
          </a:p>
        </p:txBody>
      </p:sp>
      <p:sp>
        <p:nvSpPr>
          <p:cNvPr id="59" name="Text 57"/>
          <p:cNvSpPr txBox="1"/>
          <p:nvPr/>
        </p:nvSpPr>
        <p:spPr>
          <a:xfrm>
            <a:off x="6324600" y="4724400"/>
            <a:ext cx="1193800" cy="203200"/>
          </a:xfrm>
          <a:prstGeom prst="rect">
            <a:avLst/>
          </a:prstGeom>
          <a:noFill/>
          <a:ln/>
        </p:spPr>
        <p:txBody>
          <a:bodyPr wrap="square" lIns="0" tIns="0" rIns="0" bIns="0" rtlCol="0" anchor="t"/>
          <a:lstStyle/>
          <a:p>
            <a:pPr algn="l" indent="0" marL="0">
              <a:lnSpc>
                <a:spcPct val="112000"/>
              </a:lnSpc>
              <a:buNone/>
            </a:pPr>
            <a:r>
              <a:rPr lang="en-US" sz="1300" dirty="0">
                <a:solidFill>
                  <a:srgbClr val="16160E"/>
                </a:solidFill>
                <a:latin typeface="Segoe UI Semibold" pitchFamily="34" charset="0"/>
                <a:ea typeface="Segoe UI Semibold" pitchFamily="34" charset="-122"/>
                <a:cs typeface="Segoe UI Semibold" pitchFamily="34" charset="-120"/>
              </a:rPr>
              <a:t>13:00</a:t>
            </a:r>
            <a:endParaRPr lang="en-US" sz="1300" dirty="0"/>
          </a:p>
        </p:txBody>
      </p:sp>
      <p:sp>
        <p:nvSpPr>
          <p:cNvPr id="60" name="Text 58"/>
          <p:cNvSpPr txBox="1"/>
          <p:nvPr/>
        </p:nvSpPr>
        <p:spPr>
          <a:xfrm>
            <a:off x="7531100" y="4584700"/>
            <a:ext cx="1143000" cy="139700"/>
          </a:xfrm>
          <a:prstGeom prst="rect">
            <a:avLst/>
          </a:prstGeom>
          <a:noFill/>
          <a:ln/>
        </p:spPr>
        <p:txBody>
          <a:bodyPr wrap="square" lIns="0" tIns="0" rIns="0" bIns="0" rtlCol="0" anchor="t"/>
          <a:lstStyle/>
          <a:p>
            <a:pPr algn="l" indent="0" marL="0">
              <a:lnSpc>
                <a:spcPct val="112000"/>
              </a:lnSpc>
              <a:buNone/>
            </a:pPr>
            <a:r>
              <a:rPr lang="en-US" sz="800" dirty="0">
                <a:solidFill>
                  <a:srgbClr val="6B5A1E"/>
                </a:solidFill>
                <a:latin typeface="Consolas" pitchFamily="34" charset="0"/>
                <a:ea typeface="Consolas" pitchFamily="34" charset="-122"/>
                <a:cs typeface="Consolas" pitchFamily="34" charset="-120"/>
              </a:rPr>
              <a:t>LEAVE</a:t>
            </a:r>
            <a:endParaRPr lang="en-US" sz="800" dirty="0"/>
          </a:p>
        </p:txBody>
      </p:sp>
      <p:sp>
        <p:nvSpPr>
          <p:cNvPr id="61" name="Text 59"/>
          <p:cNvSpPr txBox="1"/>
          <p:nvPr/>
        </p:nvSpPr>
        <p:spPr>
          <a:xfrm>
            <a:off x="7531100" y="4724400"/>
            <a:ext cx="1193800" cy="203200"/>
          </a:xfrm>
          <a:prstGeom prst="rect">
            <a:avLst/>
          </a:prstGeom>
          <a:noFill/>
          <a:ln/>
        </p:spPr>
        <p:txBody>
          <a:bodyPr wrap="square" lIns="0" tIns="0" rIns="0" bIns="0" rtlCol="0" anchor="t"/>
          <a:lstStyle/>
          <a:p>
            <a:pPr algn="l" indent="0" marL="0">
              <a:lnSpc>
                <a:spcPct val="112000"/>
              </a:lnSpc>
              <a:buNone/>
            </a:pPr>
            <a:r>
              <a:rPr lang="en-US" sz="1300" dirty="0">
                <a:solidFill>
                  <a:srgbClr val="16160E"/>
                </a:solidFill>
                <a:latin typeface="Segoe UI Semibold" pitchFamily="34" charset="0"/>
                <a:ea typeface="Segoe UI Semibold" pitchFamily="34" charset="-122"/>
                <a:cs typeface="Segoe UI Semibold" pitchFamily="34" charset="-120"/>
              </a:rPr>
              <a:t>15:00</a:t>
            </a:r>
            <a:endParaRPr lang="en-US" sz="1300" dirty="0"/>
          </a:p>
        </p:txBody>
      </p:sp>
      <p:sp>
        <p:nvSpPr>
          <p:cNvPr id="62" name="Text 60"/>
          <p:cNvSpPr txBox="1"/>
          <p:nvPr/>
        </p:nvSpPr>
        <p:spPr>
          <a:xfrm>
            <a:off x="8737600" y="4584700"/>
            <a:ext cx="1143000" cy="139700"/>
          </a:xfrm>
          <a:prstGeom prst="rect">
            <a:avLst/>
          </a:prstGeom>
          <a:noFill/>
          <a:ln/>
        </p:spPr>
        <p:txBody>
          <a:bodyPr wrap="square" lIns="0" tIns="0" rIns="0" bIns="0" rtlCol="0" anchor="t"/>
          <a:lstStyle/>
          <a:p>
            <a:pPr algn="l" indent="0" marL="0">
              <a:lnSpc>
                <a:spcPct val="112000"/>
              </a:lnSpc>
              <a:buNone/>
            </a:pPr>
            <a:r>
              <a:rPr lang="en-US" sz="800" dirty="0">
                <a:solidFill>
                  <a:srgbClr val="6B5A1E"/>
                </a:solidFill>
                <a:latin typeface="Consolas" pitchFamily="34" charset="0"/>
                <a:ea typeface="Consolas" pitchFamily="34" charset="-122"/>
                <a:cs typeface="Consolas" pitchFamily="34" charset="-120"/>
              </a:rPr>
              <a:t>VEHICLE</a:t>
            </a:r>
            <a:endParaRPr lang="en-US" sz="800" dirty="0"/>
          </a:p>
        </p:txBody>
      </p:sp>
      <p:sp>
        <p:nvSpPr>
          <p:cNvPr id="63" name="Text 61"/>
          <p:cNvSpPr txBox="1"/>
          <p:nvPr/>
        </p:nvSpPr>
        <p:spPr>
          <a:xfrm>
            <a:off x="8737600" y="4724400"/>
            <a:ext cx="1193800" cy="203200"/>
          </a:xfrm>
          <a:prstGeom prst="rect">
            <a:avLst/>
          </a:prstGeom>
          <a:noFill/>
          <a:ln/>
        </p:spPr>
        <p:txBody>
          <a:bodyPr wrap="square" lIns="0" tIns="0" rIns="0" bIns="0" rtlCol="0" anchor="t"/>
          <a:lstStyle/>
          <a:p>
            <a:pPr algn="l" indent="0" marL="0">
              <a:lnSpc>
                <a:spcPct val="112000"/>
              </a:lnSpc>
              <a:buNone/>
            </a:pPr>
            <a:r>
              <a:rPr lang="en-US" sz="1300" dirty="0">
                <a:solidFill>
                  <a:srgbClr val="16160E"/>
                </a:solidFill>
                <a:latin typeface="Segoe UI Semibold" pitchFamily="34" charset="0"/>
                <a:ea typeface="Segoe UI Semibold" pitchFamily="34" charset="-122"/>
                <a:cs typeface="Segoe UI Semibold" pitchFamily="34" charset="-120"/>
              </a:rPr>
              <a:t>UP14 AB 1234</a:t>
            </a:r>
            <a:endParaRPr lang="en-US" sz="1300" dirty="0"/>
          </a:p>
        </p:txBody>
      </p:sp>
      <p:sp>
        <p:nvSpPr>
          <p:cNvPr id="64" name="Text 62"/>
          <p:cNvSpPr txBox="1"/>
          <p:nvPr/>
        </p:nvSpPr>
        <p:spPr>
          <a:xfrm>
            <a:off x="6324600" y="5041900"/>
            <a:ext cx="1143000" cy="139700"/>
          </a:xfrm>
          <a:prstGeom prst="rect">
            <a:avLst/>
          </a:prstGeom>
          <a:noFill/>
          <a:ln/>
        </p:spPr>
        <p:txBody>
          <a:bodyPr wrap="square" lIns="0" tIns="0" rIns="0" bIns="0" rtlCol="0" anchor="t"/>
          <a:lstStyle/>
          <a:p>
            <a:pPr algn="l" indent="0" marL="0">
              <a:lnSpc>
                <a:spcPct val="112000"/>
              </a:lnSpc>
              <a:buNone/>
            </a:pPr>
            <a:r>
              <a:rPr lang="en-US" sz="800" dirty="0">
                <a:solidFill>
                  <a:srgbClr val="6B5A1E"/>
                </a:solidFill>
                <a:latin typeface="Consolas" pitchFamily="34" charset="0"/>
                <a:ea typeface="Consolas" pitchFamily="34" charset="-122"/>
                <a:cs typeface="Consolas" pitchFamily="34" charset="-120"/>
              </a:rPr>
              <a:t>ROW A</a:t>
            </a:r>
            <a:endParaRPr lang="en-US" sz="800" dirty="0"/>
          </a:p>
        </p:txBody>
      </p:sp>
      <p:sp>
        <p:nvSpPr>
          <p:cNvPr id="65" name="Text 63"/>
          <p:cNvSpPr txBox="1"/>
          <p:nvPr/>
        </p:nvSpPr>
        <p:spPr>
          <a:xfrm>
            <a:off x="6324600" y="5181600"/>
            <a:ext cx="1193800" cy="203200"/>
          </a:xfrm>
          <a:prstGeom prst="rect">
            <a:avLst/>
          </a:prstGeom>
          <a:noFill/>
          <a:ln/>
        </p:spPr>
        <p:txBody>
          <a:bodyPr wrap="square" lIns="0" tIns="0" rIns="0" bIns="0" rtlCol="0" anchor="t"/>
          <a:lstStyle/>
          <a:p>
            <a:pPr algn="l" indent="0" marL="0">
              <a:lnSpc>
                <a:spcPct val="112000"/>
              </a:lnSpc>
              <a:buNone/>
            </a:pPr>
            <a:r>
              <a:rPr lang="en-US" sz="1300" dirty="0">
                <a:solidFill>
                  <a:srgbClr val="16160E"/>
                </a:solidFill>
                <a:latin typeface="Segoe UI Semibold" pitchFamily="34" charset="0"/>
                <a:ea typeface="Segoe UI Semibold" pitchFamily="34" charset="-122"/>
                <a:cs typeface="Segoe UI Semibold" pitchFamily="34" charset="-120"/>
              </a:rPr>
              <a:t>Ground Edge</a:t>
            </a:r>
            <a:endParaRPr lang="en-US" sz="1300" dirty="0"/>
          </a:p>
        </p:txBody>
      </p:sp>
      <p:sp>
        <p:nvSpPr>
          <p:cNvPr id="66" name="Text 64"/>
          <p:cNvSpPr txBox="1"/>
          <p:nvPr/>
        </p:nvSpPr>
        <p:spPr>
          <a:xfrm>
            <a:off x="7531100" y="5041900"/>
            <a:ext cx="1143000" cy="139700"/>
          </a:xfrm>
          <a:prstGeom prst="rect">
            <a:avLst/>
          </a:prstGeom>
          <a:noFill/>
          <a:ln/>
        </p:spPr>
        <p:txBody>
          <a:bodyPr wrap="square" lIns="0" tIns="0" rIns="0" bIns="0" rtlCol="0" anchor="t"/>
          <a:lstStyle/>
          <a:p>
            <a:pPr algn="l" indent="0" marL="0">
              <a:lnSpc>
                <a:spcPct val="112000"/>
              </a:lnSpc>
              <a:buNone/>
            </a:pPr>
            <a:r>
              <a:rPr lang="en-US" sz="800" dirty="0">
                <a:solidFill>
                  <a:srgbClr val="6B5A1E"/>
                </a:solidFill>
                <a:latin typeface="Consolas" pitchFamily="34" charset="0"/>
                <a:ea typeface="Consolas" pitchFamily="34" charset="-122"/>
                <a:cs typeface="Consolas" pitchFamily="34" charset="-120"/>
              </a:rPr>
              <a:t>DATE</a:t>
            </a:r>
            <a:endParaRPr lang="en-US" sz="800" dirty="0"/>
          </a:p>
        </p:txBody>
      </p:sp>
      <p:sp>
        <p:nvSpPr>
          <p:cNvPr id="67" name="Text 65"/>
          <p:cNvSpPr txBox="1"/>
          <p:nvPr/>
        </p:nvSpPr>
        <p:spPr>
          <a:xfrm>
            <a:off x="7531100" y="5181600"/>
            <a:ext cx="1193800" cy="203200"/>
          </a:xfrm>
          <a:prstGeom prst="rect">
            <a:avLst/>
          </a:prstGeom>
          <a:noFill/>
          <a:ln/>
        </p:spPr>
        <p:txBody>
          <a:bodyPr wrap="square" lIns="0" tIns="0" rIns="0" bIns="0" rtlCol="0" anchor="t"/>
          <a:lstStyle/>
          <a:p>
            <a:pPr algn="l" indent="0" marL="0">
              <a:lnSpc>
                <a:spcPct val="112000"/>
              </a:lnSpc>
              <a:buNone/>
            </a:pPr>
            <a:r>
              <a:rPr lang="en-US" sz="1300" dirty="0">
                <a:solidFill>
                  <a:srgbClr val="16160E"/>
                </a:solidFill>
                <a:latin typeface="Segoe UI Semibold" pitchFamily="34" charset="0"/>
                <a:ea typeface="Segoe UI Semibold" pitchFamily="34" charset="-122"/>
                <a:cs typeface="Segoe UI Semibold" pitchFamily="34" charset="-120"/>
              </a:rPr>
              <a:t>30 Oct</a:t>
            </a:r>
            <a:endParaRPr lang="en-US" sz="1300" dirty="0"/>
          </a:p>
        </p:txBody>
      </p:sp>
      <p:sp>
        <p:nvSpPr>
          <p:cNvPr id="68" name="Text 66"/>
          <p:cNvSpPr txBox="1"/>
          <p:nvPr/>
        </p:nvSpPr>
        <p:spPr>
          <a:xfrm>
            <a:off x="8737600" y="5041900"/>
            <a:ext cx="1143000" cy="139700"/>
          </a:xfrm>
          <a:prstGeom prst="rect">
            <a:avLst/>
          </a:prstGeom>
          <a:noFill/>
          <a:ln/>
        </p:spPr>
        <p:txBody>
          <a:bodyPr wrap="square" lIns="0" tIns="0" rIns="0" bIns="0" rtlCol="0" anchor="t"/>
          <a:lstStyle/>
          <a:p>
            <a:pPr algn="l" indent="0" marL="0">
              <a:lnSpc>
                <a:spcPct val="112000"/>
              </a:lnSpc>
              <a:buNone/>
            </a:pPr>
            <a:r>
              <a:rPr lang="en-US" sz="800" dirty="0">
                <a:solidFill>
                  <a:srgbClr val="6B5A1E"/>
                </a:solidFill>
                <a:latin typeface="Consolas" pitchFamily="34" charset="0"/>
                <a:ea typeface="Consolas" pitchFamily="34" charset="-122"/>
                <a:cs typeface="Consolas" pitchFamily="34" charset="-120"/>
              </a:rPr>
              <a:t>PAID</a:t>
            </a:r>
            <a:endParaRPr lang="en-US" sz="800" dirty="0"/>
          </a:p>
        </p:txBody>
      </p:sp>
      <p:sp>
        <p:nvSpPr>
          <p:cNvPr id="69" name="Text 67"/>
          <p:cNvSpPr txBox="1"/>
          <p:nvPr/>
        </p:nvSpPr>
        <p:spPr>
          <a:xfrm>
            <a:off x="8737600" y="5181600"/>
            <a:ext cx="1193800" cy="203200"/>
          </a:xfrm>
          <a:prstGeom prst="rect">
            <a:avLst/>
          </a:prstGeom>
          <a:noFill/>
          <a:ln/>
        </p:spPr>
        <p:txBody>
          <a:bodyPr wrap="square" lIns="0" tIns="0" rIns="0" bIns="0" rtlCol="0" anchor="t"/>
          <a:lstStyle/>
          <a:p>
            <a:pPr algn="l" indent="0" marL="0">
              <a:lnSpc>
                <a:spcPct val="112000"/>
              </a:lnSpc>
              <a:buNone/>
            </a:pPr>
            <a:r>
              <a:rPr lang="en-US" sz="1300" dirty="0">
                <a:solidFill>
                  <a:srgbClr val="16160E"/>
                </a:solidFill>
                <a:latin typeface="Segoe UI Semibold" pitchFamily="34" charset="0"/>
                <a:ea typeface="Segoe UI Semibold" pitchFamily="34" charset="-122"/>
                <a:cs typeface="Segoe UI Semibold" pitchFamily="34" charset="-120"/>
              </a:rPr>
              <a:t>₹45</a:t>
            </a:r>
            <a:endParaRPr lang="en-US" sz="1300" dirty="0"/>
          </a:p>
        </p:txBody>
      </p:sp>
      <p:sp>
        <p:nvSpPr>
          <p:cNvPr id="70" name="Shape 68"/>
          <p:cNvSpPr/>
          <p:nvPr/>
        </p:nvSpPr>
        <p:spPr>
          <a:xfrm>
            <a:off x="10223500" y="3594100"/>
            <a:ext cx="19050" cy="952500"/>
          </a:xfrm>
          <a:prstGeom prst="rect">
            <a:avLst/>
          </a:prstGeom>
          <a:solidFill>
            <a:srgbClr val="121214"/>
          </a:solidFill>
          <a:ln/>
        </p:spPr>
      </p:sp>
      <p:sp>
        <p:nvSpPr>
          <p:cNvPr id="71" name="Shape 69"/>
          <p:cNvSpPr/>
          <p:nvPr/>
        </p:nvSpPr>
        <p:spPr>
          <a:xfrm>
            <a:off x="10261600" y="3594100"/>
            <a:ext cx="12700" cy="952500"/>
          </a:xfrm>
          <a:prstGeom prst="rect">
            <a:avLst/>
          </a:prstGeom>
          <a:solidFill>
            <a:srgbClr val="121214"/>
          </a:solidFill>
          <a:ln/>
        </p:spPr>
      </p:sp>
      <p:sp>
        <p:nvSpPr>
          <p:cNvPr id="72" name="Shape 70"/>
          <p:cNvSpPr/>
          <p:nvPr/>
        </p:nvSpPr>
        <p:spPr>
          <a:xfrm>
            <a:off x="10287000" y="3594100"/>
            <a:ext cx="19050" cy="952500"/>
          </a:xfrm>
          <a:prstGeom prst="rect">
            <a:avLst/>
          </a:prstGeom>
          <a:solidFill>
            <a:srgbClr val="121214"/>
          </a:solidFill>
          <a:ln/>
        </p:spPr>
      </p:sp>
      <p:sp>
        <p:nvSpPr>
          <p:cNvPr id="73" name="Shape 71"/>
          <p:cNvSpPr/>
          <p:nvPr/>
        </p:nvSpPr>
        <p:spPr>
          <a:xfrm>
            <a:off x="10325100" y="3594100"/>
            <a:ext cx="12700" cy="952500"/>
          </a:xfrm>
          <a:prstGeom prst="rect">
            <a:avLst/>
          </a:prstGeom>
          <a:solidFill>
            <a:srgbClr val="121214"/>
          </a:solidFill>
          <a:ln/>
        </p:spPr>
      </p:sp>
      <p:sp>
        <p:nvSpPr>
          <p:cNvPr id="74" name="Shape 72"/>
          <p:cNvSpPr/>
          <p:nvPr/>
        </p:nvSpPr>
        <p:spPr>
          <a:xfrm>
            <a:off x="10363200" y="3594100"/>
            <a:ext cx="25400" cy="952500"/>
          </a:xfrm>
          <a:prstGeom prst="rect">
            <a:avLst/>
          </a:prstGeom>
          <a:solidFill>
            <a:srgbClr val="121214"/>
          </a:solidFill>
          <a:ln/>
        </p:spPr>
      </p:sp>
      <p:sp>
        <p:nvSpPr>
          <p:cNvPr id="75" name="Shape 73"/>
          <p:cNvSpPr/>
          <p:nvPr/>
        </p:nvSpPr>
        <p:spPr>
          <a:xfrm>
            <a:off x="10407650" y="3594100"/>
            <a:ext cx="19050" cy="952500"/>
          </a:xfrm>
          <a:prstGeom prst="rect">
            <a:avLst/>
          </a:prstGeom>
          <a:solidFill>
            <a:srgbClr val="121214"/>
          </a:solidFill>
          <a:ln/>
        </p:spPr>
      </p:sp>
      <p:sp>
        <p:nvSpPr>
          <p:cNvPr id="76" name="Shape 74"/>
          <p:cNvSpPr/>
          <p:nvPr/>
        </p:nvSpPr>
        <p:spPr>
          <a:xfrm>
            <a:off x="10452100" y="3594100"/>
            <a:ext cx="25400" cy="952500"/>
          </a:xfrm>
          <a:prstGeom prst="rect">
            <a:avLst/>
          </a:prstGeom>
          <a:solidFill>
            <a:srgbClr val="121214"/>
          </a:solidFill>
          <a:ln/>
        </p:spPr>
      </p:sp>
      <p:sp>
        <p:nvSpPr>
          <p:cNvPr id="77" name="Shape 75"/>
          <p:cNvSpPr/>
          <p:nvPr/>
        </p:nvSpPr>
        <p:spPr>
          <a:xfrm>
            <a:off x="10490200" y="3594100"/>
            <a:ext cx="19050" cy="952500"/>
          </a:xfrm>
          <a:prstGeom prst="rect">
            <a:avLst/>
          </a:prstGeom>
          <a:solidFill>
            <a:srgbClr val="121214"/>
          </a:solidFill>
          <a:ln/>
        </p:spPr>
      </p:sp>
      <p:sp>
        <p:nvSpPr>
          <p:cNvPr id="78" name="Shape 76"/>
          <p:cNvSpPr/>
          <p:nvPr/>
        </p:nvSpPr>
        <p:spPr>
          <a:xfrm>
            <a:off x="10521950" y="3594100"/>
            <a:ext cx="25400" cy="952500"/>
          </a:xfrm>
          <a:prstGeom prst="rect">
            <a:avLst/>
          </a:prstGeom>
          <a:solidFill>
            <a:srgbClr val="121214"/>
          </a:solidFill>
          <a:ln/>
        </p:spPr>
      </p:sp>
      <p:sp>
        <p:nvSpPr>
          <p:cNvPr id="79" name="Shape 77"/>
          <p:cNvSpPr/>
          <p:nvPr/>
        </p:nvSpPr>
        <p:spPr>
          <a:xfrm>
            <a:off x="10560050" y="3594100"/>
            <a:ext cx="25400" cy="952500"/>
          </a:xfrm>
          <a:prstGeom prst="rect">
            <a:avLst/>
          </a:prstGeom>
          <a:solidFill>
            <a:srgbClr val="121214"/>
          </a:solidFill>
          <a:ln/>
        </p:spPr>
      </p:sp>
      <p:sp>
        <p:nvSpPr>
          <p:cNvPr id="80" name="Shape 78"/>
          <p:cNvSpPr/>
          <p:nvPr/>
        </p:nvSpPr>
        <p:spPr>
          <a:xfrm>
            <a:off x="10604500" y="3594100"/>
            <a:ext cx="12700" cy="952500"/>
          </a:xfrm>
          <a:prstGeom prst="rect">
            <a:avLst/>
          </a:prstGeom>
          <a:solidFill>
            <a:srgbClr val="121214"/>
          </a:solidFill>
          <a:ln/>
        </p:spPr>
      </p:sp>
      <p:sp>
        <p:nvSpPr>
          <p:cNvPr id="81" name="Shape 79"/>
          <p:cNvSpPr/>
          <p:nvPr/>
        </p:nvSpPr>
        <p:spPr>
          <a:xfrm>
            <a:off x="10629900" y="3594100"/>
            <a:ext cx="31750" cy="952500"/>
          </a:xfrm>
          <a:prstGeom prst="rect">
            <a:avLst/>
          </a:prstGeom>
          <a:solidFill>
            <a:srgbClr val="121214"/>
          </a:solidFill>
          <a:ln/>
        </p:spPr>
      </p:sp>
      <p:sp>
        <p:nvSpPr>
          <p:cNvPr id="82" name="Shape 80"/>
          <p:cNvSpPr/>
          <p:nvPr/>
        </p:nvSpPr>
        <p:spPr>
          <a:xfrm>
            <a:off x="10687050" y="3594100"/>
            <a:ext cx="12700" cy="952500"/>
          </a:xfrm>
          <a:prstGeom prst="rect">
            <a:avLst/>
          </a:prstGeom>
          <a:solidFill>
            <a:srgbClr val="121214"/>
          </a:solidFill>
          <a:ln/>
        </p:spPr>
      </p:sp>
      <p:sp>
        <p:nvSpPr>
          <p:cNvPr id="83" name="Shape 81"/>
          <p:cNvSpPr/>
          <p:nvPr/>
        </p:nvSpPr>
        <p:spPr>
          <a:xfrm>
            <a:off x="10718800" y="3594100"/>
            <a:ext cx="31750" cy="952500"/>
          </a:xfrm>
          <a:prstGeom prst="rect">
            <a:avLst/>
          </a:prstGeom>
          <a:solidFill>
            <a:srgbClr val="121214"/>
          </a:solidFill>
          <a:ln/>
        </p:spPr>
      </p:sp>
      <p:sp>
        <p:nvSpPr>
          <p:cNvPr id="84" name="Shape 82"/>
          <p:cNvSpPr/>
          <p:nvPr/>
        </p:nvSpPr>
        <p:spPr>
          <a:xfrm>
            <a:off x="10763250" y="3594100"/>
            <a:ext cx="19050" cy="952500"/>
          </a:xfrm>
          <a:prstGeom prst="rect">
            <a:avLst/>
          </a:prstGeom>
          <a:solidFill>
            <a:srgbClr val="121214"/>
          </a:solidFill>
          <a:ln/>
        </p:spPr>
      </p:sp>
      <p:sp>
        <p:nvSpPr>
          <p:cNvPr id="85" name="Shape 83"/>
          <p:cNvSpPr/>
          <p:nvPr/>
        </p:nvSpPr>
        <p:spPr>
          <a:xfrm>
            <a:off x="10801350" y="3594100"/>
            <a:ext cx="25400" cy="952500"/>
          </a:xfrm>
          <a:prstGeom prst="rect">
            <a:avLst/>
          </a:prstGeom>
          <a:solidFill>
            <a:srgbClr val="121214"/>
          </a:solidFill>
          <a:ln/>
        </p:spPr>
      </p:sp>
      <p:sp>
        <p:nvSpPr>
          <p:cNvPr id="86" name="Shape 84"/>
          <p:cNvSpPr/>
          <p:nvPr/>
        </p:nvSpPr>
        <p:spPr>
          <a:xfrm>
            <a:off x="10839450" y="3594100"/>
            <a:ext cx="12700" cy="952500"/>
          </a:xfrm>
          <a:prstGeom prst="rect">
            <a:avLst/>
          </a:prstGeom>
          <a:solidFill>
            <a:srgbClr val="121214"/>
          </a:solidFill>
          <a:ln/>
        </p:spPr>
      </p:sp>
      <p:sp>
        <p:nvSpPr>
          <p:cNvPr id="87" name="Shape 85"/>
          <p:cNvSpPr/>
          <p:nvPr/>
        </p:nvSpPr>
        <p:spPr>
          <a:xfrm>
            <a:off x="10877550" y="3594100"/>
            <a:ext cx="19050" cy="952500"/>
          </a:xfrm>
          <a:prstGeom prst="rect">
            <a:avLst/>
          </a:prstGeom>
          <a:solidFill>
            <a:srgbClr val="121214"/>
          </a:solidFill>
          <a:ln/>
        </p:spPr>
      </p:sp>
      <p:sp>
        <p:nvSpPr>
          <p:cNvPr id="88" name="Shape 86"/>
          <p:cNvSpPr/>
          <p:nvPr/>
        </p:nvSpPr>
        <p:spPr>
          <a:xfrm>
            <a:off x="10909300" y="3594100"/>
            <a:ext cx="25400" cy="952500"/>
          </a:xfrm>
          <a:prstGeom prst="rect">
            <a:avLst/>
          </a:prstGeom>
          <a:solidFill>
            <a:srgbClr val="121214"/>
          </a:solidFill>
          <a:ln/>
        </p:spPr>
      </p:sp>
      <p:sp>
        <p:nvSpPr>
          <p:cNvPr id="89" name="Shape 87"/>
          <p:cNvSpPr/>
          <p:nvPr/>
        </p:nvSpPr>
        <p:spPr>
          <a:xfrm>
            <a:off x="10947400" y="3594100"/>
            <a:ext cx="12700" cy="952500"/>
          </a:xfrm>
          <a:prstGeom prst="rect">
            <a:avLst/>
          </a:prstGeom>
          <a:solidFill>
            <a:srgbClr val="121214"/>
          </a:solidFill>
          <a:ln/>
        </p:spPr>
      </p:sp>
      <p:sp>
        <p:nvSpPr>
          <p:cNvPr id="90" name="Shape 88"/>
          <p:cNvSpPr/>
          <p:nvPr/>
        </p:nvSpPr>
        <p:spPr>
          <a:xfrm>
            <a:off x="10985500" y="3594100"/>
            <a:ext cx="19050" cy="952500"/>
          </a:xfrm>
          <a:prstGeom prst="rect">
            <a:avLst/>
          </a:prstGeom>
          <a:solidFill>
            <a:srgbClr val="121214"/>
          </a:solidFill>
          <a:ln/>
        </p:spPr>
      </p:sp>
      <p:sp>
        <p:nvSpPr>
          <p:cNvPr id="91" name="Shape 89"/>
          <p:cNvSpPr/>
          <p:nvPr/>
        </p:nvSpPr>
        <p:spPr>
          <a:xfrm>
            <a:off x="11023600" y="3594100"/>
            <a:ext cx="12700" cy="952500"/>
          </a:xfrm>
          <a:prstGeom prst="rect">
            <a:avLst/>
          </a:prstGeom>
          <a:solidFill>
            <a:srgbClr val="121214"/>
          </a:solidFill>
          <a:ln/>
        </p:spPr>
      </p:sp>
      <p:sp>
        <p:nvSpPr>
          <p:cNvPr id="92" name="Shape 90"/>
          <p:cNvSpPr/>
          <p:nvPr/>
        </p:nvSpPr>
        <p:spPr>
          <a:xfrm>
            <a:off x="11061700" y="3594100"/>
            <a:ext cx="12700" cy="952500"/>
          </a:xfrm>
          <a:prstGeom prst="rect">
            <a:avLst/>
          </a:prstGeom>
          <a:solidFill>
            <a:srgbClr val="121214"/>
          </a:solidFill>
          <a:ln/>
        </p:spPr>
      </p:sp>
      <p:sp>
        <p:nvSpPr>
          <p:cNvPr id="93" name="Shape 91"/>
          <p:cNvSpPr/>
          <p:nvPr/>
        </p:nvSpPr>
        <p:spPr>
          <a:xfrm>
            <a:off x="11099800" y="3594100"/>
            <a:ext cx="19050" cy="952500"/>
          </a:xfrm>
          <a:prstGeom prst="rect">
            <a:avLst/>
          </a:prstGeom>
          <a:solidFill>
            <a:srgbClr val="121214"/>
          </a:solidFill>
          <a:ln/>
        </p:spPr>
      </p:sp>
      <p:sp>
        <p:nvSpPr>
          <p:cNvPr id="94" name="Shape 92"/>
          <p:cNvSpPr/>
          <p:nvPr/>
        </p:nvSpPr>
        <p:spPr>
          <a:xfrm>
            <a:off x="11131550" y="3594100"/>
            <a:ext cx="25400" cy="952500"/>
          </a:xfrm>
          <a:prstGeom prst="rect">
            <a:avLst/>
          </a:prstGeom>
          <a:solidFill>
            <a:srgbClr val="121214"/>
          </a:solidFill>
          <a:ln/>
        </p:spPr>
      </p:sp>
      <p:sp>
        <p:nvSpPr>
          <p:cNvPr id="95" name="Shape 93"/>
          <p:cNvSpPr/>
          <p:nvPr/>
        </p:nvSpPr>
        <p:spPr>
          <a:xfrm>
            <a:off x="11176000" y="3594100"/>
            <a:ext cx="31750" cy="952500"/>
          </a:xfrm>
          <a:prstGeom prst="rect">
            <a:avLst/>
          </a:prstGeom>
          <a:solidFill>
            <a:srgbClr val="121214"/>
          </a:solidFill>
          <a:ln/>
        </p:spPr>
      </p:sp>
      <p:sp>
        <p:nvSpPr>
          <p:cNvPr id="96" name="Shape 94"/>
          <p:cNvSpPr/>
          <p:nvPr/>
        </p:nvSpPr>
        <p:spPr>
          <a:xfrm>
            <a:off x="11226800" y="3594100"/>
            <a:ext cx="12700" cy="952500"/>
          </a:xfrm>
          <a:prstGeom prst="rect">
            <a:avLst/>
          </a:prstGeom>
          <a:solidFill>
            <a:srgbClr val="121214"/>
          </a:solidFill>
          <a:ln/>
        </p:spPr>
      </p:sp>
      <p:sp>
        <p:nvSpPr>
          <p:cNvPr id="97" name="Text 95"/>
          <p:cNvSpPr txBox="1"/>
          <p:nvPr/>
        </p:nvSpPr>
        <p:spPr>
          <a:xfrm>
            <a:off x="10045700" y="4648200"/>
            <a:ext cx="1384300" cy="190500"/>
          </a:xfrm>
          <a:prstGeom prst="rect">
            <a:avLst/>
          </a:prstGeom>
          <a:noFill/>
          <a:ln/>
        </p:spPr>
        <p:txBody>
          <a:bodyPr wrap="square" lIns="0" tIns="0" rIns="0" bIns="0" rtlCol="0" anchor="t"/>
          <a:lstStyle/>
          <a:p>
            <a:pPr algn="ctr" indent="0" marL="0">
              <a:lnSpc>
                <a:spcPct val="112000"/>
              </a:lnSpc>
              <a:buNone/>
            </a:pPr>
            <a:r>
              <a:rPr lang="en-US" sz="1200" dirty="0">
                <a:solidFill>
                  <a:srgbClr val="121214"/>
                </a:solidFill>
                <a:latin typeface="Consolas" pitchFamily="34" charset="0"/>
                <a:ea typeface="Consolas" pitchFamily="34" charset="-122"/>
                <a:cs typeface="Consolas" pitchFamily="34" charset="-120"/>
              </a:rPr>
              <a:t>PS-7KQ2M</a:t>
            </a:r>
            <a:endParaRPr lang="en-US" sz="1200" dirty="0"/>
          </a:p>
        </p:txBody>
      </p:sp>
      <p:sp>
        <p:nvSpPr>
          <p:cNvPr id="98" name="Text 96"/>
          <p:cNvSpPr txBox="1"/>
          <p:nvPr/>
        </p:nvSpPr>
        <p:spPr>
          <a:xfrm>
            <a:off x="10045700" y="4953000"/>
            <a:ext cx="1384300" cy="254000"/>
          </a:xfrm>
          <a:prstGeom prst="rect">
            <a:avLst/>
          </a:prstGeom>
          <a:noFill/>
          <a:ln/>
        </p:spPr>
        <p:txBody>
          <a:bodyPr wrap="square" lIns="0" tIns="0" rIns="0" bIns="0" rtlCol="0" anchor="t"/>
          <a:lstStyle/>
          <a:p>
            <a:pPr algn="ctr" indent="0" marL="0">
              <a:lnSpc>
                <a:spcPct val="112000"/>
              </a:lnSpc>
              <a:buNone/>
            </a:pPr>
            <a:r>
              <a:rPr lang="en-US" sz="1300" dirty="0">
                <a:solidFill>
                  <a:srgbClr val="8A6400"/>
                </a:solidFill>
                <a:latin typeface="Segoe Print" pitchFamily="34" charset="0"/>
                <a:ea typeface="Segoe Print" pitchFamily="34" charset="-122"/>
                <a:cs typeface="Segoe Print" pitchFamily="34" charset="-120"/>
              </a:rPr>
              <a:t>show at the gate</a:t>
            </a:r>
            <a:endParaRPr lang="en-US" sz="1300" dirty="0"/>
          </a:p>
        </p:txBody>
      </p:sp>
      <p:sp>
        <p:nvSpPr>
          <p:cNvPr id="99" name="Text 97"/>
          <p:cNvSpPr txBox="1"/>
          <p:nvPr/>
        </p:nvSpPr>
        <p:spPr>
          <a:xfrm>
            <a:off x="8763000" y="5791200"/>
            <a:ext cx="2667000" cy="317500"/>
          </a:xfrm>
          <a:prstGeom prst="rect">
            <a:avLst/>
          </a:prstGeom>
          <a:noFill/>
          <a:ln/>
        </p:spPr>
        <p:txBody>
          <a:bodyPr wrap="square" lIns="0" tIns="0" rIns="0" bIns="0" rtlCol="0" anchor="t"/>
          <a:lstStyle/>
          <a:p>
            <a:pPr algn="r" indent="0" marL="0">
              <a:lnSpc>
                <a:spcPct val="112000"/>
              </a:lnSpc>
              <a:buNone/>
            </a:pPr>
            <a:r>
              <a:rPr lang="en-US" sz="1600" dirty="0">
                <a:solidFill>
                  <a:srgbClr val="8A6400"/>
                </a:solidFill>
                <a:latin typeface="Segoe Print" pitchFamily="34" charset="0"/>
                <a:ea typeface="Segoe Print" pitchFamily="34" charset="-122"/>
                <a:cs typeface="Segoe Print" pitchFamily="34" charset="-120"/>
              </a:rPr>
              <a:t>nobody else can take it.</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10</a:t>
            </a:r>
            <a:pPr algn="r" indent="0" marL="0">
              <a:buNone/>
            </a:pPr>
            <a:r>
              <a:rPr lang="en-US" sz="1000" dirty="0">
                <a:solidFill>
                  <a:srgbClr val="5E5E67"/>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6367556"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937500" y="203200"/>
            <a:ext cx="2730500" cy="279400"/>
          </a:xfrm>
          <a:prstGeom prst="roundRect">
            <a:avLst>
              <a:gd name="adj" fmla="val 50000"/>
            </a:avLst>
          </a:prstGeom>
          <a:solidFill>
            <a:srgbClr val="060608"/>
          </a:solidFill>
          <a:ln w="12700">
            <a:solidFill>
              <a:srgbClr val="3A3A42"/>
            </a:solidFill>
            <a:prstDash val="solid"/>
          </a:ln>
        </p:spPr>
      </p:sp>
      <p:sp>
        <p:nvSpPr>
          <p:cNvPr id="5" name="!!tagdot"/>
          <p:cNvSpPr/>
          <p:nvPr/>
        </p:nvSpPr>
        <p:spPr>
          <a:xfrm>
            <a:off x="80518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166100" y="203200"/>
            <a:ext cx="2476500" cy="279400"/>
          </a:xfrm>
          <a:prstGeom prst="rect">
            <a:avLst/>
          </a:prstGeom>
          <a:noFill/>
          <a:ln/>
        </p:spPr>
        <p:txBody>
          <a:bodyPr wrap="none" lIns="0" tIns="0" rIns="0" bIns="0" rtlCol="0" anchor="ctr"/>
          <a:lstStyle/>
          <a:p>
            <a:pPr indent="0" marL="0">
              <a:buNone/>
            </a:pPr>
            <a:r>
              <a:rPr lang="en-US" sz="900" b="1" dirty="0">
                <a:solidFill>
                  <a:srgbClr val="F0F0F3"/>
                </a:solidFill>
                <a:latin typeface="Consolas" pitchFamily="34" charset="0"/>
                <a:ea typeface="Consolas" pitchFamily="34" charset="-122"/>
                <a:cs typeface="Consolas" pitchFamily="34" charset="-120"/>
              </a:rPr>
              <a:t>Working prototype</a:t>
            </a:r>
            <a:pPr indent="0" marL="0">
              <a:buNone/>
            </a:pPr>
            <a:r>
              <a:rPr lang="en-US" sz="900" dirty="0">
                <a:solidFill>
                  <a:srgbClr val="B7B7BF"/>
                </a:solidFill>
                <a:latin typeface="Consolas" pitchFamily="34" charset="0"/>
                <a:ea typeface="Consolas" pitchFamily="34" charset="-122"/>
                <a:cs typeface="Consolas" pitchFamily="34" charset="-120"/>
              </a:rPr>
              <a:t>  ·  Demonstration</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F3CF6B"/>
                </a:solidFill>
                <a:latin typeface="Consolas" pitchFamily="34" charset="0"/>
                <a:ea typeface="Consolas" pitchFamily="34" charset="-122"/>
                <a:cs typeface="Consolas" pitchFamily="34" charset="-120"/>
              </a:rPr>
              <a:t>09</a:t>
            </a:r>
            <a:pPr algn="l" indent="0" marL="0">
              <a:buNone/>
            </a:pPr>
            <a:r>
              <a:rPr lang="en-US" sz="1100" dirty="0">
                <a:solidFill>
                  <a:srgbClr val="8A8A94"/>
                </a:solidFill>
                <a:latin typeface="Consolas" pitchFamily="34" charset="0"/>
                <a:ea typeface="Consolas" pitchFamily="34" charset="-122"/>
                <a:cs typeface="Consolas" pitchFamily="34" charset="-120"/>
              </a:rPr>
              <a:t>  ——  Demonstration</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F0F0F3"/>
                </a:solidFill>
                <a:latin typeface="Segoe UI Semibold" pitchFamily="34" charset="0"/>
                <a:ea typeface="Segoe UI Semibold" pitchFamily="34" charset="-122"/>
                <a:cs typeface="Segoe UI Semibold" pitchFamily="34" charset="-120"/>
              </a:rPr>
              <a:t>Now, live.</a:t>
            </a:r>
            <a:endParaRPr lang="en-US" sz="4400" dirty="0"/>
          </a:p>
        </p:txBody>
      </p:sp>
      <p:sp>
        <p:nvSpPr>
          <p:cNvPr id="9" name="Text 7"/>
          <p:cNvSpPr txBox="1"/>
          <p:nvPr/>
        </p:nvSpPr>
        <p:spPr>
          <a:xfrm>
            <a:off x="762000" y="2095500"/>
            <a:ext cx="4826000" cy="508000"/>
          </a:xfrm>
          <a:prstGeom prst="rect">
            <a:avLst/>
          </a:prstGeom>
          <a:noFill/>
          <a:ln/>
        </p:spPr>
        <p:txBody>
          <a:bodyPr wrap="square" lIns="0" tIns="0" rIns="0" bIns="0" rtlCol="0" anchor="t"/>
          <a:lstStyle/>
          <a:p>
            <a:pPr algn="l" indent="0" marL="0">
              <a:lnSpc>
                <a:spcPct val="112000"/>
              </a:lnSpc>
              <a:buNone/>
            </a:pPr>
            <a:r>
              <a:rPr lang="en-US" sz="1700" dirty="0">
                <a:solidFill>
                  <a:srgbClr val="B7B7BF"/>
                </a:solidFill>
                <a:latin typeface="Segoe UI" pitchFamily="34" charset="0"/>
                <a:ea typeface="Segoe UI" pitchFamily="34" charset="-122"/>
                <a:cs typeface="Segoe UI" pitchFamily="34" charset="-120"/>
              </a:rPr>
              <a:t>What we'll show on the real site, running on this laptop.</a:t>
            </a:r>
            <a:endParaRPr lang="en-US" sz="1700" dirty="0"/>
          </a:p>
        </p:txBody>
      </p:sp>
      <p:sp>
        <p:nvSpPr>
          <p:cNvPr id="10" name="Shape 8"/>
          <p:cNvSpPr/>
          <p:nvPr/>
        </p:nvSpPr>
        <p:spPr>
          <a:xfrm>
            <a:off x="762000" y="2794000"/>
            <a:ext cx="4826000" cy="1905000"/>
          </a:xfrm>
          <a:prstGeom prst="roundRect">
            <a:avLst>
              <a:gd name="adj" fmla="val 8000"/>
            </a:avLst>
          </a:prstGeom>
          <a:solidFill>
            <a:srgbClr val="101014"/>
          </a:solidFill>
          <a:ln w="12700">
            <a:solidFill>
              <a:srgbClr val="26262C"/>
            </a:solidFill>
            <a:prstDash val="solid"/>
          </a:ln>
          <a:effectLst>
            <a:outerShdw sx="100000" sy="100000" kx="0" ky="0" algn="bl" rotWithShape="0" blurRad="177800" dist="76200" dir="5400000">
              <a:srgbClr val="000000">
                <a:alpha val="50000"/>
              </a:srgbClr>
            </a:outerShdw>
          </a:effectLst>
        </p:spPr>
      </p:sp>
      <p:sp>
        <p:nvSpPr>
          <p:cNvPr id="11" name="Shape 9"/>
          <p:cNvSpPr/>
          <p:nvPr/>
        </p:nvSpPr>
        <p:spPr>
          <a:xfrm>
            <a:off x="952500" y="2971800"/>
            <a:ext cx="76200" cy="76200"/>
          </a:xfrm>
          <a:prstGeom prst="ellipse">
            <a:avLst/>
          </a:prstGeom>
          <a:solidFill>
            <a:srgbClr val="3A3A42"/>
          </a:solidFill>
          <a:ln/>
        </p:spPr>
      </p:sp>
      <p:sp>
        <p:nvSpPr>
          <p:cNvPr id="12" name="Shape 10"/>
          <p:cNvSpPr/>
          <p:nvPr/>
        </p:nvSpPr>
        <p:spPr>
          <a:xfrm>
            <a:off x="1092200" y="2971800"/>
            <a:ext cx="76200" cy="76200"/>
          </a:xfrm>
          <a:prstGeom prst="ellipse">
            <a:avLst/>
          </a:prstGeom>
          <a:solidFill>
            <a:srgbClr val="3A3A42"/>
          </a:solidFill>
          <a:ln/>
        </p:spPr>
      </p:sp>
      <p:sp>
        <p:nvSpPr>
          <p:cNvPr id="13" name="Shape 11"/>
          <p:cNvSpPr/>
          <p:nvPr/>
        </p:nvSpPr>
        <p:spPr>
          <a:xfrm>
            <a:off x="1231900" y="2971800"/>
            <a:ext cx="76200" cy="76200"/>
          </a:xfrm>
          <a:prstGeom prst="ellipse">
            <a:avLst/>
          </a:prstGeom>
          <a:solidFill>
            <a:srgbClr val="3A3A42"/>
          </a:solidFill>
          <a:ln/>
        </p:spPr>
      </p:sp>
      <p:sp>
        <p:nvSpPr>
          <p:cNvPr id="14" name="Text 12"/>
          <p:cNvSpPr txBox="1"/>
          <p:nvPr/>
        </p:nvSpPr>
        <p:spPr>
          <a:xfrm>
            <a:off x="965200" y="3213100"/>
            <a:ext cx="4445000" cy="1333500"/>
          </a:xfrm>
          <a:prstGeom prst="rect">
            <a:avLst/>
          </a:prstGeom>
          <a:noFill/>
          <a:ln/>
        </p:spPr>
        <p:txBody>
          <a:bodyPr wrap="square" lIns="0" tIns="0" rIns="0" bIns="0" rtlCol="0" anchor="t"/>
          <a:lstStyle/>
          <a:p>
            <a:pPr indent="0" marL="0">
              <a:lnSpc>
                <a:spcPct val="150000"/>
              </a:lnSpc>
              <a:buNone/>
            </a:pPr>
            <a:r>
              <a:rPr lang="en-US" sz="1300" dirty="0">
                <a:solidFill>
                  <a:srgbClr val="FFD75A"/>
                </a:solidFill>
                <a:latin typeface="Consolas" pitchFamily="34" charset="0"/>
                <a:ea typeface="Consolas" pitchFamily="34" charset="-122"/>
                <a:cs typeface="Consolas" pitchFamily="34" charset="-120"/>
              </a:rPr>
              <a:t>$ </a:t>
            </a:r>
            <a:pPr indent="0" marL="0">
              <a:lnSpc>
                <a:spcPct val="150000"/>
              </a:lnSpc>
              <a:buNone/>
            </a:pPr>
            <a:r>
              <a:rPr lang="en-US" sz="1300" dirty="0">
                <a:solidFill>
                  <a:srgbClr val="E6E6EA"/>
                </a:solidFill>
                <a:latin typeface="Consolas" pitchFamily="34" charset="0"/>
                <a:ea typeface="Consolas" pitchFamily="34" charset="-122"/>
                <a:cs typeface="Consolas" pitchFamily="34" charset="-120"/>
              </a:rPr>
              <a:t>cd backend</a:t>
            </a:r>
            <a:endParaRPr lang="en-US" sz="1300" dirty="0"/>
          </a:p>
          <a:p>
            <a:pPr indent="0" marL="0">
              <a:lnSpc>
                <a:spcPct val="150000"/>
              </a:lnSpc>
              <a:buNone/>
            </a:pPr>
            <a:r>
              <a:rPr lang="en-US" sz="1300" dirty="0">
                <a:solidFill>
                  <a:srgbClr val="FFD75A"/>
                </a:solidFill>
                <a:latin typeface="Consolas" pitchFamily="34" charset="0"/>
                <a:ea typeface="Consolas" pitchFamily="34" charset="-122"/>
                <a:cs typeface="Consolas" pitchFamily="34" charset="-120"/>
              </a:rPr>
              <a:t>$ </a:t>
            </a:r>
            <a:pPr indent="0" marL="0">
              <a:lnSpc>
                <a:spcPct val="150000"/>
              </a:lnSpc>
              <a:buNone/>
            </a:pPr>
            <a:r>
              <a:rPr lang="en-US" sz="1300" dirty="0">
                <a:solidFill>
                  <a:srgbClr val="E6E6EA"/>
                </a:solidFill>
                <a:latin typeface="Consolas" pitchFamily="34" charset="0"/>
                <a:ea typeface="Consolas" pitchFamily="34" charset="-122"/>
                <a:cs typeface="Consolas" pitchFamily="34" charset="-120"/>
              </a:rPr>
              <a:t>python server.py</a:t>
            </a:r>
            <a:endParaRPr lang="en-US" sz="1300" dirty="0"/>
          </a:p>
          <a:p>
            <a:pPr indent="0" marL="0">
              <a:lnSpc>
                <a:spcPct val="150000"/>
              </a:lnSpc>
              <a:buNone/>
            </a:pPr>
            <a:r>
              <a:rPr lang="en-US" sz="1300" dirty="0">
                <a:solidFill>
                  <a:srgbClr val="6E6E78"/>
                </a:solidFill>
                <a:latin typeface="Consolas" pitchFamily="34" charset="0"/>
                <a:ea typeface="Consolas" pitchFamily="34" charset="-122"/>
                <a:cs typeface="Consolas" pitchFamily="34" charset="-120"/>
              </a:rPr>
              <a:t> </a:t>
            </a:r>
            <a:endParaRPr lang="en-US" sz="1300" dirty="0"/>
          </a:p>
          <a:p>
            <a:pPr indent="0" marL="0">
              <a:lnSpc>
                <a:spcPct val="150000"/>
              </a:lnSpc>
              <a:buNone/>
            </a:pPr>
            <a:r>
              <a:rPr lang="en-US" sz="1300" dirty="0">
                <a:solidFill>
                  <a:srgbClr val="6E6E78"/>
                </a:solidFill>
                <a:latin typeface="Consolas" pitchFamily="34" charset="0"/>
                <a:ea typeface="Consolas" pitchFamily="34" charset="-122"/>
                <a:cs typeface="Consolas" pitchFamily="34" charset="-120"/>
              </a:rPr>
              <a:t>→ </a:t>
            </a:r>
            <a:pPr indent="0" marL="0">
              <a:lnSpc>
                <a:spcPct val="150000"/>
              </a:lnSpc>
              <a:buNone/>
            </a:pPr>
            <a:r>
              <a:rPr lang="en-US" sz="1300" dirty="0">
                <a:solidFill>
                  <a:srgbClr val="E6E6EA"/>
                </a:solidFill>
                <a:latin typeface="Consolas" pitchFamily="34" charset="0"/>
                <a:ea typeface="Consolas" pitchFamily="34" charset="-122"/>
                <a:cs typeface="Consolas" pitchFamily="34" charset="-120"/>
              </a:rPr>
              <a:t>http://localhost:8787</a:t>
            </a:r>
            <a:endParaRPr lang="en-US" sz="1300" dirty="0"/>
          </a:p>
          <a:p>
            <a:pPr indent="0" marL="0">
              <a:lnSpc>
                <a:spcPct val="150000"/>
              </a:lnSpc>
              <a:buNone/>
            </a:pPr>
            <a:r>
              <a:rPr lang="en-US" sz="1300" dirty="0">
                <a:solidFill>
                  <a:srgbClr val="6E6E78"/>
                </a:solidFill>
                <a:latin typeface="Consolas" pitchFamily="34" charset="0"/>
                <a:ea typeface="Consolas" pitchFamily="34" charset="-122"/>
                <a:cs typeface="Consolas" pitchFamily="34" charset="-120"/>
              </a:rPr>
              <a:t>  96 bays · live updates on</a:t>
            </a:r>
            <a:endParaRPr lang="en-US" sz="1300" dirty="0"/>
          </a:p>
        </p:txBody>
      </p:sp>
      <p:sp>
        <p:nvSpPr>
          <p:cNvPr id="15" name="Shape 13"/>
          <p:cNvSpPr/>
          <p:nvPr/>
        </p:nvSpPr>
        <p:spPr>
          <a:xfrm>
            <a:off x="762000" y="4953000"/>
            <a:ext cx="2413000" cy="330200"/>
          </a:xfrm>
          <a:prstGeom prst="roundRect">
            <a:avLst>
              <a:gd name="adj" fmla="val 50000"/>
            </a:avLst>
          </a:prstGeom>
          <a:ln w="12700">
            <a:solidFill>
              <a:srgbClr val="3A3A42"/>
            </a:solidFill>
            <a:prstDash val="solid"/>
          </a:ln>
        </p:spPr>
      </p:sp>
      <p:sp>
        <p:nvSpPr>
          <p:cNvPr id="16" name="Shape 14"/>
          <p:cNvSpPr/>
          <p:nvPr/>
        </p:nvSpPr>
        <p:spPr>
          <a:xfrm>
            <a:off x="927100" y="5080000"/>
            <a:ext cx="76200" cy="76200"/>
          </a:xfrm>
          <a:prstGeom prst="ellipse">
            <a:avLst/>
          </a:prstGeom>
          <a:solidFill>
            <a:srgbClr val="D9A91A"/>
          </a:solidFill>
          <a:ln w="38100">
            <a:solidFill>
              <a:srgbClr val="FFD75A"/>
            </a:solidFill>
            <a:prstDash val="solid"/>
          </a:ln>
        </p:spPr>
      </p:sp>
      <p:sp>
        <p:nvSpPr>
          <p:cNvPr id="17" name="Text 15"/>
          <p:cNvSpPr txBox="1"/>
          <p:nvPr/>
        </p:nvSpPr>
        <p:spPr>
          <a:xfrm>
            <a:off x="1092200" y="4953000"/>
            <a:ext cx="2032000" cy="330200"/>
          </a:xfrm>
          <a:prstGeom prst="rect">
            <a:avLst/>
          </a:prstGeom>
          <a:noFill/>
          <a:ln/>
        </p:spPr>
        <p:txBody>
          <a:bodyPr wrap="square" lIns="0" tIns="0" rIns="0" bIns="0" rtlCol="0" anchor="ctr"/>
          <a:lstStyle/>
          <a:p>
            <a:pPr algn="l" indent="0" marL="0">
              <a:lnSpc>
                <a:spcPct val="112000"/>
              </a:lnSpc>
              <a:buNone/>
            </a:pPr>
            <a:r>
              <a:rPr lang="en-US" sz="1100" dirty="0">
                <a:solidFill>
                  <a:srgbClr val="B7B7BF"/>
                </a:solidFill>
                <a:latin typeface="Consolas" pitchFamily="34" charset="0"/>
                <a:ea typeface="Consolas" pitchFamily="34" charset="-122"/>
                <a:cs typeface="Consolas" pitchFamily="34" charset="-120"/>
              </a:rPr>
              <a:t>localhost:8787  ·  live</a:t>
            </a:r>
            <a:endParaRPr lang="en-US" sz="1100" dirty="0"/>
          </a:p>
        </p:txBody>
      </p:sp>
      <p:sp>
        <p:nvSpPr>
          <p:cNvPr id="18" name="Text 16"/>
          <p:cNvSpPr txBox="1"/>
          <p:nvPr/>
        </p:nvSpPr>
        <p:spPr>
          <a:xfrm>
            <a:off x="762000" y="5511800"/>
            <a:ext cx="3810000" cy="317500"/>
          </a:xfrm>
          <a:prstGeom prst="rect">
            <a:avLst/>
          </a:prstGeom>
          <a:noFill/>
          <a:ln/>
        </p:spPr>
        <p:txBody>
          <a:bodyPr wrap="square" lIns="0" tIns="0" rIns="0" bIns="0" rtlCol="0" anchor="t"/>
          <a:lstStyle/>
          <a:p>
            <a:pPr algn="l" indent="0" marL="0">
              <a:lnSpc>
                <a:spcPct val="112000"/>
              </a:lnSpc>
              <a:buNone/>
            </a:pPr>
            <a:r>
              <a:rPr lang="en-US" sz="1600" dirty="0">
                <a:solidFill>
                  <a:srgbClr val="F3CF6B"/>
                </a:solidFill>
                <a:latin typeface="Segoe Print" pitchFamily="34" charset="0"/>
                <a:ea typeface="Segoe Print" pitchFamily="34" charset="-122"/>
                <a:cs typeface="Segoe Print" pitchFamily="34" charset="-120"/>
              </a:rPr>
              <a:t>one laptop, the real lot.</a:t>
            </a:r>
            <a:endParaRPr lang="en-US" sz="1600" dirty="0"/>
          </a:p>
        </p:txBody>
      </p:sp>
      <p:sp>
        <p:nvSpPr>
          <p:cNvPr id="19" name="Shape 17"/>
          <p:cNvSpPr/>
          <p:nvPr/>
        </p:nvSpPr>
        <p:spPr>
          <a:xfrm>
            <a:off x="6350000" y="2095500"/>
            <a:ext cx="5080000" cy="0"/>
          </a:xfrm>
          <a:prstGeom prst="line">
            <a:avLst/>
          </a:prstGeom>
          <a:noFill/>
          <a:ln w="12700">
            <a:solidFill>
              <a:srgbClr val="3A3A42"/>
            </a:solidFill>
            <a:prstDash val="solid"/>
          </a:ln>
        </p:spPr>
      </p:sp>
      <p:sp>
        <p:nvSpPr>
          <p:cNvPr id="20" name="Text 18"/>
          <p:cNvSpPr txBox="1"/>
          <p:nvPr/>
        </p:nvSpPr>
        <p:spPr>
          <a:xfrm>
            <a:off x="6350000" y="2247900"/>
            <a:ext cx="381000" cy="165100"/>
          </a:xfrm>
          <a:prstGeom prst="rect">
            <a:avLst/>
          </a:prstGeom>
          <a:noFill/>
          <a:ln/>
        </p:spPr>
        <p:txBody>
          <a:bodyPr wrap="square" lIns="0" tIns="0" rIns="0" bIns="0" rtlCol="0" anchor="t"/>
          <a:lstStyle/>
          <a:p>
            <a:pPr algn="l" indent="0" marL="0">
              <a:lnSpc>
                <a:spcPct val="112000"/>
              </a:lnSpc>
              <a:buNone/>
            </a:pPr>
            <a:r>
              <a:rPr lang="en-US" sz="1100" dirty="0">
                <a:solidFill>
                  <a:srgbClr val="F3CF6B"/>
                </a:solidFill>
                <a:latin typeface="Consolas" pitchFamily="34" charset="0"/>
                <a:ea typeface="Consolas" pitchFamily="34" charset="-122"/>
                <a:cs typeface="Consolas" pitchFamily="34" charset="-120"/>
              </a:rPr>
              <a:t>01</a:t>
            </a:r>
            <a:endParaRPr lang="en-US" sz="1100" dirty="0"/>
          </a:p>
        </p:txBody>
      </p:sp>
      <p:sp>
        <p:nvSpPr>
          <p:cNvPr id="21" name="Text 19"/>
          <p:cNvSpPr txBox="1"/>
          <p:nvPr/>
        </p:nvSpPr>
        <p:spPr>
          <a:xfrm>
            <a:off x="6756400" y="2197100"/>
            <a:ext cx="3302000" cy="254000"/>
          </a:xfrm>
          <a:prstGeom prst="rect">
            <a:avLst/>
          </a:prstGeom>
          <a:noFill/>
          <a:ln/>
        </p:spPr>
        <p:txBody>
          <a:bodyPr wrap="square" lIns="0" tIns="0" rIns="0" bIns="0" rtlCol="0" anchor="t"/>
          <a:lstStyle/>
          <a:p>
            <a:pPr algn="l" indent="0" marL="0">
              <a:lnSpc>
                <a:spcPct val="112000"/>
              </a:lnSpc>
              <a:buNone/>
            </a:pPr>
            <a:r>
              <a:rPr lang="en-US" sz="2000" spc="-50" kern="0" dirty="0">
                <a:solidFill>
                  <a:srgbClr val="F0F0F3"/>
                </a:solidFill>
                <a:latin typeface="Segoe UI Semibold" pitchFamily="34" charset="0"/>
                <a:ea typeface="Segoe UI Semibold" pitchFamily="34" charset="-122"/>
                <a:cs typeface="Segoe UI Semibold" pitchFamily="34" charset="-120"/>
              </a:rPr>
              <a:t>Tap a free bay</a:t>
            </a:r>
            <a:endParaRPr lang="en-US" sz="2000" dirty="0"/>
          </a:p>
        </p:txBody>
      </p:sp>
      <p:sp>
        <p:nvSpPr>
          <p:cNvPr id="22" name="Text 20"/>
          <p:cNvSpPr txBox="1"/>
          <p:nvPr/>
        </p:nvSpPr>
        <p:spPr>
          <a:xfrm>
            <a:off x="6756400" y="2489200"/>
            <a:ext cx="4673600" cy="355600"/>
          </a:xfrm>
          <a:prstGeom prst="rect">
            <a:avLst/>
          </a:prstGeom>
          <a:noFill/>
          <a:ln/>
        </p:spPr>
        <p:txBody>
          <a:bodyPr wrap="square" lIns="0" tIns="0" rIns="0" bIns="0" rtlCol="0" anchor="t"/>
          <a:lstStyle/>
          <a:p>
            <a:pPr algn="l" indent="0" marL="0">
              <a:lnSpc>
                <a:spcPct val="112000"/>
              </a:lnSpc>
              <a:buNone/>
            </a:pPr>
            <a:r>
              <a:rPr lang="en-US" sz="1300" dirty="0">
                <a:solidFill>
                  <a:srgbClr val="8A8A94"/>
                </a:solidFill>
                <a:latin typeface="Segoe UI" pitchFamily="34" charset="0"/>
                <a:ea typeface="Segoe UI" pitchFamily="34" charset="-122"/>
                <a:cs typeface="Segoe UI" pitchFamily="34" charset="-120"/>
              </a:rPr>
              <a:t>Straight from the live plan of the KIET lot.</a:t>
            </a:r>
            <a:endParaRPr lang="en-US" sz="1300" dirty="0"/>
          </a:p>
        </p:txBody>
      </p:sp>
      <p:sp>
        <p:nvSpPr>
          <p:cNvPr id="23" name="Text 21"/>
          <p:cNvSpPr txBox="1"/>
          <p:nvPr/>
        </p:nvSpPr>
        <p:spPr>
          <a:xfrm>
            <a:off x="10160000" y="2247900"/>
            <a:ext cx="1270000" cy="165100"/>
          </a:xfrm>
          <a:prstGeom prst="rect">
            <a:avLst/>
          </a:prstGeom>
          <a:noFill/>
          <a:ln/>
        </p:spPr>
        <p:txBody>
          <a:bodyPr wrap="square" lIns="0" tIns="0" rIns="0" bIns="0" rtlCol="0" anchor="t"/>
          <a:lstStyle/>
          <a:p>
            <a:pPr algn="r" indent="0" marL="0">
              <a:lnSpc>
                <a:spcPct val="112000"/>
              </a:lnSpc>
              <a:buNone/>
            </a:pPr>
            <a:r>
              <a:rPr lang="en-US" sz="1000" dirty="0">
                <a:solidFill>
                  <a:srgbClr val="5E5E67"/>
                </a:solidFill>
                <a:latin typeface="Consolas" pitchFamily="34" charset="0"/>
                <a:ea typeface="Consolas" pitchFamily="34" charset="-122"/>
                <a:cs typeface="Consolas" pitchFamily="34" charset="-120"/>
              </a:rPr>
              <a:t>VAIBHAV</a:t>
            </a:r>
            <a:endParaRPr lang="en-US" sz="1000" dirty="0"/>
          </a:p>
        </p:txBody>
      </p:sp>
      <p:sp>
        <p:nvSpPr>
          <p:cNvPr id="24" name="Shape 22"/>
          <p:cNvSpPr/>
          <p:nvPr/>
        </p:nvSpPr>
        <p:spPr>
          <a:xfrm>
            <a:off x="6350000" y="2882900"/>
            <a:ext cx="5080000" cy="0"/>
          </a:xfrm>
          <a:prstGeom prst="line">
            <a:avLst/>
          </a:prstGeom>
          <a:noFill/>
          <a:ln w="12700">
            <a:solidFill>
              <a:srgbClr val="3A3A42"/>
            </a:solidFill>
            <a:prstDash val="solid"/>
          </a:ln>
        </p:spPr>
      </p:sp>
      <p:sp>
        <p:nvSpPr>
          <p:cNvPr id="25" name="Text 23"/>
          <p:cNvSpPr txBox="1"/>
          <p:nvPr/>
        </p:nvSpPr>
        <p:spPr>
          <a:xfrm>
            <a:off x="6350000" y="3035300"/>
            <a:ext cx="381000" cy="165100"/>
          </a:xfrm>
          <a:prstGeom prst="rect">
            <a:avLst/>
          </a:prstGeom>
          <a:noFill/>
          <a:ln/>
        </p:spPr>
        <p:txBody>
          <a:bodyPr wrap="square" lIns="0" tIns="0" rIns="0" bIns="0" rtlCol="0" anchor="t"/>
          <a:lstStyle/>
          <a:p>
            <a:pPr algn="l" indent="0" marL="0">
              <a:lnSpc>
                <a:spcPct val="112000"/>
              </a:lnSpc>
              <a:buNone/>
            </a:pPr>
            <a:r>
              <a:rPr lang="en-US" sz="1100" dirty="0">
                <a:solidFill>
                  <a:srgbClr val="F3CF6B"/>
                </a:solidFill>
                <a:latin typeface="Consolas" pitchFamily="34" charset="0"/>
                <a:ea typeface="Consolas" pitchFamily="34" charset="-122"/>
                <a:cs typeface="Consolas" pitchFamily="34" charset="-120"/>
              </a:rPr>
              <a:t>02</a:t>
            </a:r>
            <a:endParaRPr lang="en-US" sz="1100" dirty="0"/>
          </a:p>
        </p:txBody>
      </p:sp>
      <p:sp>
        <p:nvSpPr>
          <p:cNvPr id="26" name="Text 24"/>
          <p:cNvSpPr txBox="1"/>
          <p:nvPr/>
        </p:nvSpPr>
        <p:spPr>
          <a:xfrm>
            <a:off x="6756400" y="2984500"/>
            <a:ext cx="3302000" cy="254000"/>
          </a:xfrm>
          <a:prstGeom prst="rect">
            <a:avLst/>
          </a:prstGeom>
          <a:noFill/>
          <a:ln/>
        </p:spPr>
        <p:txBody>
          <a:bodyPr wrap="square" lIns="0" tIns="0" rIns="0" bIns="0" rtlCol="0" anchor="t"/>
          <a:lstStyle/>
          <a:p>
            <a:pPr algn="l" indent="0" marL="0">
              <a:lnSpc>
                <a:spcPct val="112000"/>
              </a:lnSpc>
              <a:buNone/>
            </a:pPr>
            <a:r>
              <a:rPr lang="en-US" sz="2000" spc="-50" kern="0" dirty="0">
                <a:solidFill>
                  <a:srgbClr val="F0F0F3"/>
                </a:solidFill>
                <a:latin typeface="Segoe UI Semibold" pitchFamily="34" charset="0"/>
                <a:ea typeface="Segoe UI Semibold" pitchFamily="34" charset="-122"/>
                <a:cs typeface="Segoe UI Semibold" pitchFamily="34" charset="-120"/>
              </a:rPr>
              <a:t>Hold it, get a pass</a:t>
            </a:r>
            <a:endParaRPr lang="en-US" sz="2000" dirty="0"/>
          </a:p>
        </p:txBody>
      </p:sp>
      <p:sp>
        <p:nvSpPr>
          <p:cNvPr id="27" name="Text 25"/>
          <p:cNvSpPr txBox="1"/>
          <p:nvPr/>
        </p:nvSpPr>
        <p:spPr>
          <a:xfrm>
            <a:off x="6756400" y="3276600"/>
            <a:ext cx="4673600" cy="355600"/>
          </a:xfrm>
          <a:prstGeom prst="rect">
            <a:avLst/>
          </a:prstGeom>
          <a:noFill/>
          <a:ln/>
        </p:spPr>
        <p:txBody>
          <a:bodyPr wrap="square" lIns="0" tIns="0" rIns="0" bIns="0" rtlCol="0" anchor="t"/>
          <a:lstStyle/>
          <a:p>
            <a:pPr algn="l" indent="0" marL="0">
              <a:lnSpc>
                <a:spcPct val="112000"/>
              </a:lnSpc>
              <a:buNone/>
            </a:pPr>
            <a:r>
              <a:rPr lang="en-US" sz="1300" dirty="0">
                <a:solidFill>
                  <a:srgbClr val="8A8A94"/>
                </a:solidFill>
                <a:latin typeface="Segoe UI" pitchFamily="34" charset="0"/>
                <a:ea typeface="Segoe UI" pitchFamily="34" charset="-122"/>
                <a:cs typeface="Segoe UI" pitchFamily="34" charset="-120"/>
              </a:rPr>
              <a:t>Hours, number plate and total, then the bay pass and its code.</a:t>
            </a:r>
            <a:endParaRPr lang="en-US" sz="1300" dirty="0"/>
          </a:p>
        </p:txBody>
      </p:sp>
      <p:sp>
        <p:nvSpPr>
          <p:cNvPr id="28" name="Text 26"/>
          <p:cNvSpPr txBox="1"/>
          <p:nvPr/>
        </p:nvSpPr>
        <p:spPr>
          <a:xfrm>
            <a:off x="10160000" y="3035300"/>
            <a:ext cx="1270000" cy="165100"/>
          </a:xfrm>
          <a:prstGeom prst="rect">
            <a:avLst/>
          </a:prstGeom>
          <a:noFill/>
          <a:ln/>
        </p:spPr>
        <p:txBody>
          <a:bodyPr wrap="square" lIns="0" tIns="0" rIns="0" bIns="0" rtlCol="0" anchor="t"/>
          <a:lstStyle/>
          <a:p>
            <a:pPr algn="r" indent="0" marL="0">
              <a:lnSpc>
                <a:spcPct val="112000"/>
              </a:lnSpc>
              <a:buNone/>
            </a:pPr>
            <a:r>
              <a:rPr lang="en-US" sz="1000" dirty="0">
                <a:solidFill>
                  <a:srgbClr val="5E5E67"/>
                </a:solidFill>
                <a:latin typeface="Consolas" pitchFamily="34" charset="0"/>
                <a:ea typeface="Consolas" pitchFamily="34" charset="-122"/>
                <a:cs typeface="Consolas" pitchFamily="34" charset="-120"/>
              </a:rPr>
              <a:t>VAIBHAV</a:t>
            </a:r>
            <a:endParaRPr lang="en-US" sz="1000" dirty="0"/>
          </a:p>
        </p:txBody>
      </p:sp>
      <p:sp>
        <p:nvSpPr>
          <p:cNvPr id="29" name="Shape 27"/>
          <p:cNvSpPr/>
          <p:nvPr/>
        </p:nvSpPr>
        <p:spPr>
          <a:xfrm>
            <a:off x="6350000" y="3670300"/>
            <a:ext cx="5080000" cy="0"/>
          </a:xfrm>
          <a:prstGeom prst="line">
            <a:avLst/>
          </a:prstGeom>
          <a:noFill/>
          <a:ln w="12700">
            <a:solidFill>
              <a:srgbClr val="3A3A42"/>
            </a:solidFill>
            <a:prstDash val="solid"/>
          </a:ln>
        </p:spPr>
      </p:sp>
      <p:sp>
        <p:nvSpPr>
          <p:cNvPr id="30" name="Text 28"/>
          <p:cNvSpPr txBox="1"/>
          <p:nvPr/>
        </p:nvSpPr>
        <p:spPr>
          <a:xfrm>
            <a:off x="6350000" y="3822700"/>
            <a:ext cx="381000" cy="165100"/>
          </a:xfrm>
          <a:prstGeom prst="rect">
            <a:avLst/>
          </a:prstGeom>
          <a:noFill/>
          <a:ln/>
        </p:spPr>
        <p:txBody>
          <a:bodyPr wrap="square" lIns="0" tIns="0" rIns="0" bIns="0" rtlCol="0" anchor="t"/>
          <a:lstStyle/>
          <a:p>
            <a:pPr algn="l" indent="0" marL="0">
              <a:lnSpc>
                <a:spcPct val="112000"/>
              </a:lnSpc>
              <a:buNone/>
            </a:pPr>
            <a:r>
              <a:rPr lang="en-US" sz="1100" dirty="0">
                <a:solidFill>
                  <a:srgbClr val="F3CF6B"/>
                </a:solidFill>
                <a:latin typeface="Consolas" pitchFamily="34" charset="0"/>
                <a:ea typeface="Consolas" pitchFamily="34" charset="-122"/>
                <a:cs typeface="Consolas" pitchFamily="34" charset="-120"/>
              </a:rPr>
              <a:t>03</a:t>
            </a:r>
            <a:endParaRPr lang="en-US" sz="1100" dirty="0"/>
          </a:p>
        </p:txBody>
      </p:sp>
      <p:sp>
        <p:nvSpPr>
          <p:cNvPr id="31" name="Text 29"/>
          <p:cNvSpPr txBox="1"/>
          <p:nvPr/>
        </p:nvSpPr>
        <p:spPr>
          <a:xfrm>
            <a:off x="6756400" y="3771900"/>
            <a:ext cx="3302000" cy="254000"/>
          </a:xfrm>
          <a:prstGeom prst="rect">
            <a:avLst/>
          </a:prstGeom>
          <a:noFill/>
          <a:ln/>
        </p:spPr>
        <p:txBody>
          <a:bodyPr wrap="square" lIns="0" tIns="0" rIns="0" bIns="0" rtlCol="0" anchor="t"/>
          <a:lstStyle/>
          <a:p>
            <a:pPr algn="l" indent="0" marL="0">
              <a:lnSpc>
                <a:spcPct val="112000"/>
              </a:lnSpc>
              <a:buNone/>
            </a:pPr>
            <a:r>
              <a:rPr lang="en-US" sz="2000" spc="-50" kern="0" dirty="0">
                <a:solidFill>
                  <a:srgbClr val="F0F0F3"/>
                </a:solidFill>
                <a:latin typeface="Segoe UI Semibold" pitchFamily="34" charset="0"/>
                <a:ea typeface="Segoe UI Semibold" pitchFamily="34" charset="-122"/>
                <a:cs typeface="Segoe UI Semibold" pitchFamily="34" charset="-120"/>
              </a:rPr>
              <a:t>Sweep the lens</a:t>
            </a:r>
            <a:endParaRPr lang="en-US" sz="2000" dirty="0"/>
          </a:p>
        </p:txBody>
      </p:sp>
      <p:sp>
        <p:nvSpPr>
          <p:cNvPr id="32" name="Text 30"/>
          <p:cNvSpPr txBox="1"/>
          <p:nvPr/>
        </p:nvSpPr>
        <p:spPr>
          <a:xfrm>
            <a:off x="6756400" y="4064000"/>
            <a:ext cx="4673600" cy="355600"/>
          </a:xfrm>
          <a:prstGeom prst="rect">
            <a:avLst/>
          </a:prstGeom>
          <a:noFill/>
          <a:ln/>
        </p:spPr>
        <p:txBody>
          <a:bodyPr wrap="square" lIns="0" tIns="0" rIns="0" bIns="0" rtlCol="0" anchor="t"/>
          <a:lstStyle/>
          <a:p>
            <a:pPr algn="l" indent="0" marL="0">
              <a:lnSpc>
                <a:spcPct val="112000"/>
              </a:lnSpc>
              <a:buNone/>
            </a:pPr>
            <a:r>
              <a:rPr lang="en-US" sz="1300" dirty="0">
                <a:solidFill>
                  <a:srgbClr val="8A8A94"/>
                </a:solidFill>
                <a:latin typeface="Segoe UI" pitchFamily="34" charset="0"/>
                <a:ea typeface="Segoe UI" pitchFamily="34" charset="-122"/>
                <a:cs typeface="Segoe UI" pitchFamily="34" charset="-120"/>
              </a:rPr>
              <a:t>X-ray the lot, then let go to open the bay under it.</a:t>
            </a:r>
            <a:endParaRPr lang="en-US" sz="1300" dirty="0"/>
          </a:p>
        </p:txBody>
      </p:sp>
      <p:sp>
        <p:nvSpPr>
          <p:cNvPr id="33" name="Text 31"/>
          <p:cNvSpPr txBox="1"/>
          <p:nvPr/>
        </p:nvSpPr>
        <p:spPr>
          <a:xfrm>
            <a:off x="10160000" y="3822700"/>
            <a:ext cx="1270000" cy="165100"/>
          </a:xfrm>
          <a:prstGeom prst="rect">
            <a:avLst/>
          </a:prstGeom>
          <a:noFill/>
          <a:ln/>
        </p:spPr>
        <p:txBody>
          <a:bodyPr wrap="square" lIns="0" tIns="0" rIns="0" bIns="0" rtlCol="0" anchor="t"/>
          <a:lstStyle/>
          <a:p>
            <a:pPr algn="r" indent="0" marL="0">
              <a:lnSpc>
                <a:spcPct val="112000"/>
              </a:lnSpc>
              <a:buNone/>
            </a:pPr>
            <a:r>
              <a:rPr lang="en-US" sz="1000" dirty="0">
                <a:solidFill>
                  <a:srgbClr val="5E5E67"/>
                </a:solidFill>
                <a:latin typeface="Consolas" pitchFamily="34" charset="0"/>
                <a:ea typeface="Consolas" pitchFamily="34" charset="-122"/>
                <a:cs typeface="Consolas" pitchFamily="34" charset="-120"/>
              </a:rPr>
              <a:t>KRITIKA</a:t>
            </a:r>
            <a:endParaRPr lang="en-US" sz="1000" dirty="0"/>
          </a:p>
        </p:txBody>
      </p:sp>
      <p:sp>
        <p:nvSpPr>
          <p:cNvPr id="34" name="Shape 32"/>
          <p:cNvSpPr/>
          <p:nvPr/>
        </p:nvSpPr>
        <p:spPr>
          <a:xfrm>
            <a:off x="6350000" y="4457700"/>
            <a:ext cx="5080000" cy="0"/>
          </a:xfrm>
          <a:prstGeom prst="line">
            <a:avLst/>
          </a:prstGeom>
          <a:noFill/>
          <a:ln w="12700">
            <a:solidFill>
              <a:srgbClr val="3A3A42"/>
            </a:solidFill>
            <a:prstDash val="solid"/>
          </a:ln>
        </p:spPr>
      </p:sp>
      <p:sp>
        <p:nvSpPr>
          <p:cNvPr id="35" name="Text 33"/>
          <p:cNvSpPr txBox="1"/>
          <p:nvPr/>
        </p:nvSpPr>
        <p:spPr>
          <a:xfrm>
            <a:off x="6350000" y="4610100"/>
            <a:ext cx="381000" cy="165100"/>
          </a:xfrm>
          <a:prstGeom prst="rect">
            <a:avLst/>
          </a:prstGeom>
          <a:noFill/>
          <a:ln/>
        </p:spPr>
        <p:txBody>
          <a:bodyPr wrap="square" lIns="0" tIns="0" rIns="0" bIns="0" rtlCol="0" anchor="t"/>
          <a:lstStyle/>
          <a:p>
            <a:pPr algn="l" indent="0" marL="0">
              <a:lnSpc>
                <a:spcPct val="112000"/>
              </a:lnSpc>
              <a:buNone/>
            </a:pPr>
            <a:r>
              <a:rPr lang="en-US" sz="1100" dirty="0">
                <a:solidFill>
                  <a:srgbClr val="F3CF6B"/>
                </a:solidFill>
                <a:latin typeface="Consolas" pitchFamily="34" charset="0"/>
                <a:ea typeface="Consolas" pitchFamily="34" charset="-122"/>
                <a:cs typeface="Consolas" pitchFamily="34" charset="-120"/>
              </a:rPr>
              <a:t>04</a:t>
            </a:r>
            <a:endParaRPr lang="en-US" sz="1100" dirty="0"/>
          </a:p>
        </p:txBody>
      </p:sp>
      <p:sp>
        <p:nvSpPr>
          <p:cNvPr id="36" name="Text 34"/>
          <p:cNvSpPr txBox="1"/>
          <p:nvPr/>
        </p:nvSpPr>
        <p:spPr>
          <a:xfrm>
            <a:off x="6756400" y="4559300"/>
            <a:ext cx="3302000" cy="254000"/>
          </a:xfrm>
          <a:prstGeom prst="rect">
            <a:avLst/>
          </a:prstGeom>
          <a:noFill/>
          <a:ln/>
        </p:spPr>
        <p:txBody>
          <a:bodyPr wrap="square" lIns="0" tIns="0" rIns="0" bIns="0" rtlCol="0" anchor="t"/>
          <a:lstStyle/>
          <a:p>
            <a:pPr algn="l" indent="0" marL="0">
              <a:lnSpc>
                <a:spcPct val="112000"/>
              </a:lnSpc>
              <a:buNone/>
            </a:pPr>
            <a:r>
              <a:rPr lang="en-US" sz="2000" spc="-50" kern="0" dirty="0">
                <a:solidFill>
                  <a:srgbClr val="F0F0F3"/>
                </a:solidFill>
                <a:latin typeface="Segoe UI Semibold" pitchFamily="34" charset="0"/>
                <a:ea typeface="Segoe UI Semibold" pitchFamily="34" charset="-122"/>
                <a:cs typeface="Segoe UI Semibold" pitchFamily="34" charset="-120"/>
              </a:rPr>
              <a:t>Tilt it to 3D</a:t>
            </a:r>
            <a:endParaRPr lang="en-US" sz="2000" dirty="0"/>
          </a:p>
        </p:txBody>
      </p:sp>
      <p:sp>
        <p:nvSpPr>
          <p:cNvPr id="37" name="Text 35"/>
          <p:cNvSpPr txBox="1"/>
          <p:nvPr/>
        </p:nvSpPr>
        <p:spPr>
          <a:xfrm>
            <a:off x="6756400" y="4851400"/>
            <a:ext cx="4673600" cy="355600"/>
          </a:xfrm>
          <a:prstGeom prst="rect">
            <a:avLst/>
          </a:prstGeom>
          <a:noFill/>
          <a:ln/>
        </p:spPr>
        <p:txBody>
          <a:bodyPr wrap="square" lIns="0" tIns="0" rIns="0" bIns="0" rtlCol="0" anchor="t"/>
          <a:lstStyle/>
          <a:p>
            <a:pPr algn="l" indent="0" marL="0">
              <a:lnSpc>
                <a:spcPct val="112000"/>
              </a:lnSpc>
              <a:buNone/>
            </a:pPr>
            <a:r>
              <a:rPr lang="en-US" sz="1300" dirty="0">
                <a:solidFill>
                  <a:srgbClr val="8A8A94"/>
                </a:solidFill>
                <a:latin typeface="Segoe UI" pitchFamily="34" charset="0"/>
                <a:ea typeface="Segoe UI" pitchFamily="34" charset="-122"/>
                <a:cs typeface="Segoe UI" pitchFamily="34" charset="-120"/>
              </a:rPr>
              <a:t>The campus buildings rise out of the plan.</a:t>
            </a:r>
            <a:endParaRPr lang="en-US" sz="1300" dirty="0"/>
          </a:p>
        </p:txBody>
      </p:sp>
      <p:sp>
        <p:nvSpPr>
          <p:cNvPr id="38" name="Text 36"/>
          <p:cNvSpPr txBox="1"/>
          <p:nvPr/>
        </p:nvSpPr>
        <p:spPr>
          <a:xfrm>
            <a:off x="10160000" y="4610100"/>
            <a:ext cx="1270000" cy="165100"/>
          </a:xfrm>
          <a:prstGeom prst="rect">
            <a:avLst/>
          </a:prstGeom>
          <a:noFill/>
          <a:ln/>
        </p:spPr>
        <p:txBody>
          <a:bodyPr wrap="square" lIns="0" tIns="0" rIns="0" bIns="0" rtlCol="0" anchor="t"/>
          <a:lstStyle/>
          <a:p>
            <a:pPr algn="r" indent="0" marL="0">
              <a:lnSpc>
                <a:spcPct val="112000"/>
              </a:lnSpc>
              <a:buNone/>
            </a:pPr>
            <a:r>
              <a:rPr lang="en-US" sz="1000" dirty="0">
                <a:solidFill>
                  <a:srgbClr val="5E5E67"/>
                </a:solidFill>
                <a:latin typeface="Consolas" pitchFamily="34" charset="0"/>
                <a:ea typeface="Consolas" pitchFamily="34" charset="-122"/>
                <a:cs typeface="Consolas" pitchFamily="34" charset="-120"/>
              </a:rPr>
              <a:t>KRITIKA</a:t>
            </a:r>
            <a:endParaRPr lang="en-US" sz="1000" dirty="0"/>
          </a:p>
        </p:txBody>
      </p:sp>
      <p:sp>
        <p:nvSpPr>
          <p:cNvPr id="39" name="Shape 37"/>
          <p:cNvSpPr/>
          <p:nvPr/>
        </p:nvSpPr>
        <p:spPr>
          <a:xfrm>
            <a:off x="6350000" y="5245100"/>
            <a:ext cx="5080000" cy="0"/>
          </a:xfrm>
          <a:prstGeom prst="line">
            <a:avLst/>
          </a:prstGeom>
          <a:noFill/>
          <a:ln w="12700">
            <a:solidFill>
              <a:srgbClr val="3A3A42"/>
            </a:solidFill>
            <a:prstDash val="solid"/>
          </a:ln>
        </p:spPr>
      </p:sp>
      <p:sp>
        <p:nvSpPr>
          <p:cNvPr id="40" name="Text 38"/>
          <p:cNvSpPr txBox="1"/>
          <p:nvPr/>
        </p:nvSpPr>
        <p:spPr>
          <a:xfrm>
            <a:off x="6350000" y="5397500"/>
            <a:ext cx="381000" cy="165100"/>
          </a:xfrm>
          <a:prstGeom prst="rect">
            <a:avLst/>
          </a:prstGeom>
          <a:noFill/>
          <a:ln/>
        </p:spPr>
        <p:txBody>
          <a:bodyPr wrap="square" lIns="0" tIns="0" rIns="0" bIns="0" rtlCol="0" anchor="t"/>
          <a:lstStyle/>
          <a:p>
            <a:pPr algn="l" indent="0" marL="0">
              <a:lnSpc>
                <a:spcPct val="112000"/>
              </a:lnSpc>
              <a:buNone/>
            </a:pPr>
            <a:r>
              <a:rPr lang="en-US" sz="1100" dirty="0">
                <a:solidFill>
                  <a:srgbClr val="F3CF6B"/>
                </a:solidFill>
                <a:latin typeface="Consolas" pitchFamily="34" charset="0"/>
                <a:ea typeface="Consolas" pitchFamily="34" charset="-122"/>
                <a:cs typeface="Consolas" pitchFamily="34" charset="-120"/>
              </a:rPr>
              <a:t>05</a:t>
            </a:r>
            <a:endParaRPr lang="en-US" sz="1100" dirty="0"/>
          </a:p>
        </p:txBody>
      </p:sp>
      <p:sp>
        <p:nvSpPr>
          <p:cNvPr id="41" name="Text 39"/>
          <p:cNvSpPr txBox="1"/>
          <p:nvPr/>
        </p:nvSpPr>
        <p:spPr>
          <a:xfrm>
            <a:off x="6756400" y="5346700"/>
            <a:ext cx="3302000" cy="254000"/>
          </a:xfrm>
          <a:prstGeom prst="rect">
            <a:avLst/>
          </a:prstGeom>
          <a:noFill/>
          <a:ln/>
        </p:spPr>
        <p:txBody>
          <a:bodyPr wrap="square" lIns="0" tIns="0" rIns="0" bIns="0" rtlCol="0" anchor="t"/>
          <a:lstStyle/>
          <a:p>
            <a:pPr algn="l" indent="0" marL="0">
              <a:lnSpc>
                <a:spcPct val="112000"/>
              </a:lnSpc>
              <a:buNone/>
            </a:pPr>
            <a:r>
              <a:rPr lang="en-US" sz="2000" spc="-50" kern="0" dirty="0">
                <a:solidFill>
                  <a:srgbClr val="F0F0F3"/>
                </a:solidFill>
                <a:latin typeface="Segoe UI Semibold" pitchFamily="34" charset="0"/>
                <a:ea typeface="Segoe UI Semibold" pitchFamily="34" charset="-122"/>
                <a:cs typeface="Segoe UI Semibold" pitchFamily="34" charset="-120"/>
              </a:rPr>
              <a:t>Book it twice</a:t>
            </a:r>
            <a:endParaRPr lang="en-US" sz="2000" dirty="0"/>
          </a:p>
        </p:txBody>
      </p:sp>
      <p:sp>
        <p:nvSpPr>
          <p:cNvPr id="42" name="Text 40"/>
          <p:cNvSpPr txBox="1"/>
          <p:nvPr/>
        </p:nvSpPr>
        <p:spPr>
          <a:xfrm>
            <a:off x="6756400" y="5638800"/>
            <a:ext cx="4673600" cy="355600"/>
          </a:xfrm>
          <a:prstGeom prst="rect">
            <a:avLst/>
          </a:prstGeom>
          <a:noFill/>
          <a:ln/>
        </p:spPr>
        <p:txBody>
          <a:bodyPr wrap="square" lIns="0" tIns="0" rIns="0" bIns="0" rtlCol="0" anchor="t"/>
          <a:lstStyle/>
          <a:p>
            <a:pPr algn="l" indent="0" marL="0">
              <a:lnSpc>
                <a:spcPct val="112000"/>
              </a:lnSpc>
              <a:buNone/>
            </a:pPr>
            <a:r>
              <a:rPr lang="en-US" sz="1300" dirty="0">
                <a:solidFill>
                  <a:srgbClr val="8A8A94"/>
                </a:solidFill>
                <a:latin typeface="Segoe UI" pitchFamily="34" charset="0"/>
                <a:ea typeface="Segoe UI" pitchFamily="34" charset="-122"/>
                <a:cs typeface="Segoe UI" pitchFamily="34" charset="-120"/>
              </a:rPr>
              <a:t>Same bay, same time, from a second window: refused (409).</a:t>
            </a:r>
            <a:endParaRPr lang="en-US" sz="1300" dirty="0"/>
          </a:p>
        </p:txBody>
      </p:sp>
      <p:sp>
        <p:nvSpPr>
          <p:cNvPr id="43" name="Text 41"/>
          <p:cNvSpPr txBox="1"/>
          <p:nvPr/>
        </p:nvSpPr>
        <p:spPr>
          <a:xfrm>
            <a:off x="10160000" y="5397500"/>
            <a:ext cx="1270000" cy="165100"/>
          </a:xfrm>
          <a:prstGeom prst="rect">
            <a:avLst/>
          </a:prstGeom>
          <a:noFill/>
          <a:ln/>
        </p:spPr>
        <p:txBody>
          <a:bodyPr wrap="square" lIns="0" tIns="0" rIns="0" bIns="0" rtlCol="0" anchor="t"/>
          <a:lstStyle/>
          <a:p>
            <a:pPr algn="r" indent="0" marL="0">
              <a:lnSpc>
                <a:spcPct val="112000"/>
              </a:lnSpc>
              <a:buNone/>
            </a:pPr>
            <a:r>
              <a:rPr lang="en-US" sz="1000" dirty="0">
                <a:solidFill>
                  <a:srgbClr val="5E5E67"/>
                </a:solidFill>
                <a:latin typeface="Consolas" pitchFamily="34" charset="0"/>
                <a:ea typeface="Consolas" pitchFamily="34" charset="-122"/>
                <a:cs typeface="Consolas" pitchFamily="34" charset="-120"/>
              </a:rPr>
              <a:t>PRISHA</a:t>
            </a:r>
            <a:endParaRPr lang="en-US" sz="1000" dirty="0"/>
          </a:p>
        </p:txBody>
      </p:sp>
      <p:sp>
        <p:nvSpPr>
          <p:cNvPr id="44" name="Shape 42"/>
          <p:cNvSpPr/>
          <p:nvPr/>
        </p:nvSpPr>
        <p:spPr>
          <a:xfrm>
            <a:off x="6350000" y="6032500"/>
            <a:ext cx="5080000" cy="0"/>
          </a:xfrm>
          <a:prstGeom prst="line">
            <a:avLst/>
          </a:prstGeom>
          <a:noFill/>
          <a:ln w="12700">
            <a:solidFill>
              <a:srgbClr val="3A3A42"/>
            </a:solidFill>
            <a:prstDash val="solid"/>
          </a:ln>
        </p:spPr>
      </p:sp>
    </p:spTree>
  </p:cSld>
  <p:clrMapOvr>
    <a:masterClrMapping/>
  </p:clrMapOvr>
  <p:transition xmlns:p14="http://schemas.microsoft.com/office/powerpoint/2010/main" spd="slow" p14:dur="1100">
    <p:fade thruBlk="1"/>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11</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7024968"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315200" y="203200"/>
            <a:ext cx="33528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4295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543800" y="203200"/>
            <a:ext cx="30988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Working prototype</a:t>
            </a:r>
            <a:pPr indent="0" marL="0">
              <a:buNone/>
            </a:pPr>
            <a:r>
              <a:rPr lang="en-US" sz="900" dirty="0">
                <a:solidFill>
                  <a:srgbClr val="3C3C42"/>
                </a:solidFill>
                <a:latin typeface="Consolas" pitchFamily="34" charset="0"/>
                <a:ea typeface="Consolas" pitchFamily="34" charset="-122"/>
                <a:cs typeface="Consolas" pitchFamily="34" charset="-120"/>
              </a:rPr>
              <a:t>  ·  Effort &amp; build quality</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10</a:t>
            </a:r>
            <a:pPr algn="l" indent="0" marL="0">
              <a:buNone/>
            </a:pPr>
            <a:r>
              <a:rPr lang="en-US" sz="1100" dirty="0">
                <a:solidFill>
                  <a:srgbClr val="62626A"/>
                </a:solidFill>
                <a:latin typeface="Consolas" pitchFamily="34" charset="0"/>
                <a:ea typeface="Consolas" pitchFamily="34" charset="-122"/>
                <a:cs typeface="Consolas" pitchFamily="34" charset="-120"/>
              </a:rPr>
              <a:t>  ——  Tech stack</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What it's built with.</a:t>
            </a:r>
            <a:endParaRPr lang="en-US" sz="4400" dirty="0"/>
          </a:p>
        </p:txBody>
      </p:sp>
      <p:sp>
        <p:nvSpPr>
          <p:cNvPr id="9" name="Shape 7"/>
          <p:cNvSpPr/>
          <p:nvPr/>
        </p:nvSpPr>
        <p:spPr>
          <a:xfrm>
            <a:off x="762000" y="2349500"/>
            <a:ext cx="7493000" cy="0"/>
          </a:xfrm>
          <a:prstGeom prst="line">
            <a:avLst/>
          </a:prstGeom>
          <a:noFill/>
          <a:ln w="12700">
            <a:solidFill>
              <a:srgbClr val="C9C9C4"/>
            </a:solidFill>
            <a:prstDash val="solid"/>
          </a:ln>
        </p:spPr>
      </p:sp>
      <p:sp>
        <p:nvSpPr>
          <p:cNvPr id="10" name="Text 8"/>
          <p:cNvSpPr txBox="1"/>
          <p:nvPr/>
        </p:nvSpPr>
        <p:spPr>
          <a:xfrm>
            <a:off x="762000" y="2514600"/>
            <a:ext cx="114300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Languages</a:t>
            </a:r>
            <a:endParaRPr lang="en-US" sz="1100" dirty="0"/>
          </a:p>
        </p:txBody>
      </p:sp>
      <p:sp>
        <p:nvSpPr>
          <p:cNvPr id="11" name="Shape 9"/>
          <p:cNvSpPr/>
          <p:nvPr/>
        </p:nvSpPr>
        <p:spPr>
          <a:xfrm>
            <a:off x="1905000" y="2451100"/>
            <a:ext cx="965200" cy="254000"/>
          </a:xfrm>
          <a:prstGeom prst="roundRect">
            <a:avLst>
              <a:gd name="adj" fmla="val 50000"/>
            </a:avLst>
          </a:prstGeom>
          <a:solidFill>
            <a:srgbClr val="FFD75A"/>
          </a:solidFill>
          <a:ln w="12700">
            <a:solidFill>
              <a:srgbClr val="D9A91A"/>
            </a:solidFill>
            <a:prstDash val="solid"/>
          </a:ln>
        </p:spPr>
      </p:sp>
      <p:sp>
        <p:nvSpPr>
          <p:cNvPr id="12" name="Text 10"/>
          <p:cNvSpPr txBox="1"/>
          <p:nvPr/>
        </p:nvSpPr>
        <p:spPr>
          <a:xfrm>
            <a:off x="1905000" y="2451100"/>
            <a:ext cx="965200" cy="254000"/>
          </a:xfrm>
          <a:prstGeom prst="rect">
            <a:avLst/>
          </a:prstGeom>
          <a:noFill/>
          <a:ln/>
        </p:spPr>
        <p:txBody>
          <a:bodyPr wrap="none" lIns="0" tIns="0" rIns="0" bIns="0" rtlCol="0" anchor="ctr"/>
          <a:lstStyle/>
          <a:p>
            <a:pPr algn="ctr" indent="0" marL="0">
              <a:buNone/>
            </a:pPr>
            <a:r>
              <a:rPr lang="en-US" sz="1100" b="1" dirty="0">
                <a:solidFill>
                  <a:srgbClr val="17170F"/>
                </a:solidFill>
                <a:latin typeface="Segoe UI" pitchFamily="34" charset="0"/>
                <a:ea typeface="Segoe UI" pitchFamily="34" charset="-122"/>
                <a:cs typeface="Segoe UI" pitchFamily="34" charset="-120"/>
              </a:rPr>
              <a:t>JavaScript</a:t>
            </a:r>
            <a:endParaRPr lang="en-US" sz="1100" dirty="0"/>
          </a:p>
        </p:txBody>
      </p:sp>
      <p:sp>
        <p:nvSpPr>
          <p:cNvPr id="13" name="Shape 11"/>
          <p:cNvSpPr/>
          <p:nvPr/>
        </p:nvSpPr>
        <p:spPr>
          <a:xfrm>
            <a:off x="2946400" y="2451100"/>
            <a:ext cx="679450" cy="254000"/>
          </a:xfrm>
          <a:prstGeom prst="roundRect">
            <a:avLst>
              <a:gd name="adj" fmla="val 50000"/>
            </a:avLst>
          </a:prstGeom>
          <a:solidFill>
            <a:srgbClr val="FFD75A"/>
          </a:solidFill>
          <a:ln w="12700">
            <a:solidFill>
              <a:srgbClr val="D9A91A"/>
            </a:solidFill>
            <a:prstDash val="solid"/>
          </a:ln>
        </p:spPr>
      </p:sp>
      <p:sp>
        <p:nvSpPr>
          <p:cNvPr id="14" name="Text 12"/>
          <p:cNvSpPr txBox="1"/>
          <p:nvPr/>
        </p:nvSpPr>
        <p:spPr>
          <a:xfrm>
            <a:off x="2946400" y="2451100"/>
            <a:ext cx="679450" cy="254000"/>
          </a:xfrm>
          <a:prstGeom prst="rect">
            <a:avLst/>
          </a:prstGeom>
          <a:noFill/>
          <a:ln/>
        </p:spPr>
        <p:txBody>
          <a:bodyPr wrap="none" lIns="0" tIns="0" rIns="0" bIns="0" rtlCol="0" anchor="ctr"/>
          <a:lstStyle/>
          <a:p>
            <a:pPr algn="ctr" indent="0" marL="0">
              <a:buNone/>
            </a:pPr>
            <a:r>
              <a:rPr lang="en-US" sz="1100" b="1" dirty="0">
                <a:solidFill>
                  <a:srgbClr val="17170F"/>
                </a:solidFill>
                <a:latin typeface="Segoe UI" pitchFamily="34" charset="0"/>
                <a:ea typeface="Segoe UI" pitchFamily="34" charset="-122"/>
                <a:cs typeface="Segoe UI" pitchFamily="34" charset="-120"/>
              </a:rPr>
              <a:t>Python</a:t>
            </a:r>
            <a:endParaRPr lang="en-US" sz="1100" dirty="0"/>
          </a:p>
        </p:txBody>
      </p:sp>
      <p:sp>
        <p:nvSpPr>
          <p:cNvPr id="15" name="Shape 13"/>
          <p:cNvSpPr/>
          <p:nvPr/>
        </p:nvSpPr>
        <p:spPr>
          <a:xfrm>
            <a:off x="3702050" y="2451100"/>
            <a:ext cx="539750" cy="254000"/>
          </a:xfrm>
          <a:prstGeom prst="roundRect">
            <a:avLst>
              <a:gd name="adj" fmla="val 50000"/>
            </a:avLst>
          </a:prstGeom>
          <a:solidFill>
            <a:srgbClr val="FDFDFB"/>
          </a:solidFill>
          <a:ln w="12700">
            <a:solidFill>
              <a:srgbClr val="C9C9C4"/>
            </a:solidFill>
            <a:prstDash val="solid"/>
          </a:ln>
        </p:spPr>
      </p:sp>
      <p:sp>
        <p:nvSpPr>
          <p:cNvPr id="16" name="Text 14"/>
          <p:cNvSpPr txBox="1"/>
          <p:nvPr/>
        </p:nvSpPr>
        <p:spPr>
          <a:xfrm>
            <a:off x="3702050" y="2451100"/>
            <a:ext cx="5397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HTML</a:t>
            </a:r>
            <a:endParaRPr lang="en-US" sz="1100" dirty="0"/>
          </a:p>
        </p:txBody>
      </p:sp>
      <p:sp>
        <p:nvSpPr>
          <p:cNvPr id="17" name="Shape 15"/>
          <p:cNvSpPr/>
          <p:nvPr/>
        </p:nvSpPr>
        <p:spPr>
          <a:xfrm>
            <a:off x="4318000" y="2451100"/>
            <a:ext cx="469900" cy="254000"/>
          </a:xfrm>
          <a:prstGeom prst="roundRect">
            <a:avLst>
              <a:gd name="adj" fmla="val 50000"/>
            </a:avLst>
          </a:prstGeom>
          <a:solidFill>
            <a:srgbClr val="FDFDFB"/>
          </a:solidFill>
          <a:ln w="12700">
            <a:solidFill>
              <a:srgbClr val="C9C9C4"/>
            </a:solidFill>
            <a:prstDash val="solid"/>
          </a:ln>
        </p:spPr>
      </p:sp>
      <p:sp>
        <p:nvSpPr>
          <p:cNvPr id="18" name="Text 16"/>
          <p:cNvSpPr txBox="1"/>
          <p:nvPr/>
        </p:nvSpPr>
        <p:spPr>
          <a:xfrm>
            <a:off x="4318000" y="2451100"/>
            <a:ext cx="4699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CSS</a:t>
            </a:r>
            <a:endParaRPr lang="en-US" sz="1100" dirty="0"/>
          </a:p>
        </p:txBody>
      </p:sp>
      <p:sp>
        <p:nvSpPr>
          <p:cNvPr id="19" name="Shape 17"/>
          <p:cNvSpPr/>
          <p:nvPr/>
        </p:nvSpPr>
        <p:spPr>
          <a:xfrm>
            <a:off x="4864100" y="2451100"/>
            <a:ext cx="469900" cy="254000"/>
          </a:xfrm>
          <a:prstGeom prst="roundRect">
            <a:avLst>
              <a:gd name="adj" fmla="val 50000"/>
            </a:avLst>
          </a:prstGeom>
          <a:solidFill>
            <a:srgbClr val="FDFDFB"/>
          </a:solidFill>
          <a:ln w="12700">
            <a:solidFill>
              <a:srgbClr val="C9C9C4"/>
            </a:solidFill>
            <a:prstDash val="solid"/>
          </a:ln>
        </p:spPr>
      </p:sp>
      <p:sp>
        <p:nvSpPr>
          <p:cNvPr id="20" name="Text 18"/>
          <p:cNvSpPr txBox="1"/>
          <p:nvPr/>
        </p:nvSpPr>
        <p:spPr>
          <a:xfrm>
            <a:off x="4864100" y="2451100"/>
            <a:ext cx="4699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SQL</a:t>
            </a:r>
            <a:endParaRPr lang="en-US" sz="1100" dirty="0"/>
          </a:p>
        </p:txBody>
      </p:sp>
      <p:sp>
        <p:nvSpPr>
          <p:cNvPr id="21" name="Shape 19"/>
          <p:cNvSpPr/>
          <p:nvPr/>
        </p:nvSpPr>
        <p:spPr>
          <a:xfrm>
            <a:off x="762000" y="2832100"/>
            <a:ext cx="7493000" cy="0"/>
          </a:xfrm>
          <a:prstGeom prst="line">
            <a:avLst/>
          </a:prstGeom>
          <a:noFill/>
          <a:ln w="12700">
            <a:solidFill>
              <a:srgbClr val="C9C9C4"/>
            </a:solidFill>
            <a:prstDash val="solid"/>
          </a:ln>
        </p:spPr>
      </p:sp>
      <p:sp>
        <p:nvSpPr>
          <p:cNvPr id="22" name="Text 20"/>
          <p:cNvSpPr txBox="1"/>
          <p:nvPr/>
        </p:nvSpPr>
        <p:spPr>
          <a:xfrm>
            <a:off x="762000" y="2997200"/>
            <a:ext cx="114300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Frontend</a:t>
            </a:r>
            <a:endParaRPr lang="en-US" sz="1100" dirty="0"/>
          </a:p>
        </p:txBody>
      </p:sp>
      <p:sp>
        <p:nvSpPr>
          <p:cNvPr id="23" name="Shape 21"/>
          <p:cNvSpPr/>
          <p:nvPr/>
        </p:nvSpPr>
        <p:spPr>
          <a:xfrm>
            <a:off x="1905000" y="2933700"/>
            <a:ext cx="2178050" cy="254000"/>
          </a:xfrm>
          <a:prstGeom prst="roundRect">
            <a:avLst>
              <a:gd name="adj" fmla="val 50000"/>
            </a:avLst>
          </a:prstGeom>
          <a:solidFill>
            <a:srgbClr val="FDFDFB"/>
          </a:solidFill>
          <a:ln w="12700">
            <a:solidFill>
              <a:srgbClr val="C9C9C4"/>
            </a:solidFill>
            <a:prstDash val="solid"/>
          </a:ln>
        </p:spPr>
      </p:sp>
      <p:sp>
        <p:nvSpPr>
          <p:cNvPr id="24" name="Text 22"/>
          <p:cNvSpPr txBox="1"/>
          <p:nvPr/>
        </p:nvSpPr>
        <p:spPr>
          <a:xfrm>
            <a:off x="1905000" y="2933700"/>
            <a:ext cx="21780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React 19 · live map &amp; panel</a:t>
            </a:r>
            <a:endParaRPr lang="en-US" sz="1100" dirty="0"/>
          </a:p>
        </p:txBody>
      </p:sp>
      <p:sp>
        <p:nvSpPr>
          <p:cNvPr id="25" name="Shape 23"/>
          <p:cNvSpPr/>
          <p:nvPr/>
        </p:nvSpPr>
        <p:spPr>
          <a:xfrm>
            <a:off x="4159250" y="2933700"/>
            <a:ext cx="1250950" cy="254000"/>
          </a:xfrm>
          <a:prstGeom prst="roundRect">
            <a:avLst>
              <a:gd name="adj" fmla="val 50000"/>
            </a:avLst>
          </a:prstGeom>
          <a:solidFill>
            <a:srgbClr val="FDFDFB"/>
          </a:solidFill>
          <a:ln w="12700">
            <a:solidFill>
              <a:srgbClr val="C9C9C4"/>
            </a:solidFill>
            <a:prstDash val="solid"/>
          </a:ln>
        </p:spPr>
      </p:sp>
      <p:sp>
        <p:nvSpPr>
          <p:cNvPr id="26" name="Text 24"/>
          <p:cNvSpPr txBox="1"/>
          <p:nvPr/>
        </p:nvSpPr>
        <p:spPr>
          <a:xfrm>
            <a:off x="4159250" y="2933700"/>
            <a:ext cx="12509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Vite 8 · build</a:t>
            </a:r>
            <a:endParaRPr lang="en-US" sz="1100" dirty="0"/>
          </a:p>
        </p:txBody>
      </p:sp>
      <p:sp>
        <p:nvSpPr>
          <p:cNvPr id="27" name="Shape 25"/>
          <p:cNvSpPr/>
          <p:nvPr/>
        </p:nvSpPr>
        <p:spPr>
          <a:xfrm>
            <a:off x="5486400" y="2933700"/>
            <a:ext cx="1536700" cy="254000"/>
          </a:xfrm>
          <a:prstGeom prst="roundRect">
            <a:avLst>
              <a:gd name="adj" fmla="val 50000"/>
            </a:avLst>
          </a:prstGeom>
          <a:solidFill>
            <a:srgbClr val="FDFDFB"/>
          </a:solidFill>
          <a:ln w="12700">
            <a:solidFill>
              <a:srgbClr val="C9C9C4"/>
            </a:solidFill>
            <a:prstDash val="solid"/>
          </a:ln>
        </p:spPr>
      </p:sp>
      <p:sp>
        <p:nvSpPr>
          <p:cNvPr id="28" name="Text 26"/>
          <p:cNvSpPr txBox="1"/>
          <p:nvPr/>
        </p:nvSpPr>
        <p:spPr>
          <a:xfrm>
            <a:off x="5486400" y="2933700"/>
            <a:ext cx="15367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Motion · animation</a:t>
            </a:r>
            <a:endParaRPr lang="en-US" sz="1100" dirty="0"/>
          </a:p>
        </p:txBody>
      </p:sp>
      <p:sp>
        <p:nvSpPr>
          <p:cNvPr id="29" name="Shape 27"/>
          <p:cNvSpPr/>
          <p:nvPr/>
        </p:nvSpPr>
        <p:spPr>
          <a:xfrm>
            <a:off x="1905000" y="3263900"/>
            <a:ext cx="1752600" cy="254000"/>
          </a:xfrm>
          <a:prstGeom prst="roundRect">
            <a:avLst>
              <a:gd name="adj" fmla="val 50000"/>
            </a:avLst>
          </a:prstGeom>
          <a:solidFill>
            <a:srgbClr val="FDFDFB"/>
          </a:solidFill>
          <a:ln w="12700">
            <a:solidFill>
              <a:srgbClr val="C9C9C4"/>
            </a:solidFill>
            <a:prstDash val="solid"/>
          </a:ln>
        </p:spPr>
      </p:sp>
      <p:sp>
        <p:nvSpPr>
          <p:cNvPr id="30" name="Text 28"/>
          <p:cNvSpPr txBox="1"/>
          <p:nvPr/>
        </p:nvSpPr>
        <p:spPr>
          <a:xfrm>
            <a:off x="1905000" y="3263900"/>
            <a:ext cx="17526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Lenis · smooth scroll</a:t>
            </a:r>
            <a:endParaRPr lang="en-US" sz="1100" dirty="0"/>
          </a:p>
        </p:txBody>
      </p:sp>
      <p:sp>
        <p:nvSpPr>
          <p:cNvPr id="31" name="Shape 29"/>
          <p:cNvSpPr/>
          <p:nvPr/>
        </p:nvSpPr>
        <p:spPr>
          <a:xfrm>
            <a:off x="3733800" y="3263900"/>
            <a:ext cx="1892300" cy="254000"/>
          </a:xfrm>
          <a:prstGeom prst="roundRect">
            <a:avLst>
              <a:gd name="adj" fmla="val 50000"/>
            </a:avLst>
          </a:prstGeom>
          <a:solidFill>
            <a:srgbClr val="FDFDFB"/>
          </a:solidFill>
          <a:ln w="12700">
            <a:solidFill>
              <a:srgbClr val="C9C9C4"/>
            </a:solidFill>
            <a:prstDash val="solid"/>
          </a:ln>
        </p:spPr>
      </p:sp>
      <p:sp>
        <p:nvSpPr>
          <p:cNvPr id="32" name="Text 30"/>
          <p:cNvSpPr txBox="1"/>
          <p:nvPr/>
        </p:nvSpPr>
        <p:spPr>
          <a:xfrm>
            <a:off x="3733800" y="3263900"/>
            <a:ext cx="18923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SVG · the plan, by hand</a:t>
            </a:r>
            <a:endParaRPr lang="en-US" sz="1100" dirty="0"/>
          </a:p>
        </p:txBody>
      </p:sp>
      <p:sp>
        <p:nvSpPr>
          <p:cNvPr id="33" name="Shape 31"/>
          <p:cNvSpPr/>
          <p:nvPr/>
        </p:nvSpPr>
        <p:spPr>
          <a:xfrm>
            <a:off x="762000" y="3644900"/>
            <a:ext cx="7493000" cy="0"/>
          </a:xfrm>
          <a:prstGeom prst="line">
            <a:avLst/>
          </a:prstGeom>
          <a:noFill/>
          <a:ln w="12700">
            <a:solidFill>
              <a:srgbClr val="C9C9C4"/>
            </a:solidFill>
            <a:prstDash val="solid"/>
          </a:ln>
        </p:spPr>
      </p:sp>
      <p:sp>
        <p:nvSpPr>
          <p:cNvPr id="34" name="Text 32"/>
          <p:cNvSpPr txBox="1"/>
          <p:nvPr/>
        </p:nvSpPr>
        <p:spPr>
          <a:xfrm>
            <a:off x="762000" y="3810000"/>
            <a:ext cx="114300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Backend</a:t>
            </a:r>
            <a:endParaRPr lang="en-US" sz="1100" dirty="0"/>
          </a:p>
        </p:txBody>
      </p:sp>
      <p:sp>
        <p:nvSpPr>
          <p:cNvPr id="35" name="Shape 33"/>
          <p:cNvSpPr/>
          <p:nvPr/>
        </p:nvSpPr>
        <p:spPr>
          <a:xfrm>
            <a:off x="1905000" y="3746500"/>
            <a:ext cx="2533650" cy="254000"/>
          </a:xfrm>
          <a:prstGeom prst="roundRect">
            <a:avLst>
              <a:gd name="adj" fmla="val 50000"/>
            </a:avLst>
          </a:prstGeom>
          <a:solidFill>
            <a:srgbClr val="FDFDFB"/>
          </a:solidFill>
          <a:ln w="12700">
            <a:solidFill>
              <a:srgbClr val="C9C9C4"/>
            </a:solidFill>
            <a:prstDash val="solid"/>
          </a:ln>
        </p:spPr>
      </p:sp>
      <p:sp>
        <p:nvSpPr>
          <p:cNvPr id="36" name="Text 34"/>
          <p:cNvSpPr txBox="1"/>
          <p:nvPr/>
        </p:nvSpPr>
        <p:spPr>
          <a:xfrm>
            <a:off x="1905000" y="3746500"/>
            <a:ext cx="25336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Python 3 · standard library only</a:t>
            </a:r>
            <a:endParaRPr lang="en-US" sz="1100" dirty="0"/>
          </a:p>
        </p:txBody>
      </p:sp>
      <p:sp>
        <p:nvSpPr>
          <p:cNvPr id="37" name="Shape 35"/>
          <p:cNvSpPr/>
          <p:nvPr/>
        </p:nvSpPr>
        <p:spPr>
          <a:xfrm>
            <a:off x="4514850" y="3746500"/>
            <a:ext cx="1035050" cy="254000"/>
          </a:xfrm>
          <a:prstGeom prst="roundRect">
            <a:avLst>
              <a:gd name="adj" fmla="val 50000"/>
            </a:avLst>
          </a:prstGeom>
          <a:solidFill>
            <a:srgbClr val="FDFDFB"/>
          </a:solidFill>
          <a:ln w="12700">
            <a:solidFill>
              <a:srgbClr val="C9C9C4"/>
            </a:solidFill>
            <a:prstDash val="solid"/>
          </a:ln>
        </p:spPr>
      </p:sp>
      <p:sp>
        <p:nvSpPr>
          <p:cNvPr id="38" name="Text 36"/>
          <p:cNvSpPr txBox="1"/>
          <p:nvPr/>
        </p:nvSpPr>
        <p:spPr>
          <a:xfrm>
            <a:off x="4514850" y="3746500"/>
            <a:ext cx="10350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http.server</a:t>
            </a:r>
            <a:endParaRPr lang="en-US" sz="1100" dirty="0"/>
          </a:p>
        </p:txBody>
      </p:sp>
      <p:sp>
        <p:nvSpPr>
          <p:cNvPr id="39" name="Shape 37"/>
          <p:cNvSpPr/>
          <p:nvPr/>
        </p:nvSpPr>
        <p:spPr>
          <a:xfrm>
            <a:off x="5626100" y="3746500"/>
            <a:ext cx="755650" cy="254000"/>
          </a:xfrm>
          <a:prstGeom prst="roundRect">
            <a:avLst>
              <a:gd name="adj" fmla="val 50000"/>
            </a:avLst>
          </a:prstGeom>
          <a:solidFill>
            <a:srgbClr val="FDFDFB"/>
          </a:solidFill>
          <a:ln w="12700">
            <a:solidFill>
              <a:srgbClr val="C9C9C4"/>
            </a:solidFill>
            <a:prstDash val="solid"/>
          </a:ln>
        </p:spPr>
      </p:sp>
      <p:sp>
        <p:nvSpPr>
          <p:cNvPr id="40" name="Text 38"/>
          <p:cNvSpPr txBox="1"/>
          <p:nvPr/>
        </p:nvSpPr>
        <p:spPr>
          <a:xfrm>
            <a:off x="5626100" y="3746500"/>
            <a:ext cx="7556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sqlite3</a:t>
            </a:r>
            <a:endParaRPr lang="en-US" sz="1100" dirty="0"/>
          </a:p>
        </p:txBody>
      </p:sp>
      <p:sp>
        <p:nvSpPr>
          <p:cNvPr id="41" name="Shape 39"/>
          <p:cNvSpPr/>
          <p:nvPr/>
        </p:nvSpPr>
        <p:spPr>
          <a:xfrm>
            <a:off x="6457950" y="3746500"/>
            <a:ext cx="895350" cy="254000"/>
          </a:xfrm>
          <a:prstGeom prst="roundRect">
            <a:avLst>
              <a:gd name="adj" fmla="val 50000"/>
            </a:avLst>
          </a:prstGeom>
          <a:solidFill>
            <a:srgbClr val="FDFDFB"/>
          </a:solidFill>
          <a:ln w="12700">
            <a:solidFill>
              <a:srgbClr val="C9C9C4"/>
            </a:solidFill>
            <a:prstDash val="solid"/>
          </a:ln>
        </p:spPr>
      </p:sp>
      <p:sp>
        <p:nvSpPr>
          <p:cNvPr id="42" name="Text 40"/>
          <p:cNvSpPr txBox="1"/>
          <p:nvPr/>
        </p:nvSpPr>
        <p:spPr>
          <a:xfrm>
            <a:off x="6457950" y="3746500"/>
            <a:ext cx="8953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threading</a:t>
            </a:r>
            <a:endParaRPr lang="en-US" sz="1100" dirty="0"/>
          </a:p>
        </p:txBody>
      </p:sp>
      <p:sp>
        <p:nvSpPr>
          <p:cNvPr id="43" name="Shape 41"/>
          <p:cNvSpPr/>
          <p:nvPr/>
        </p:nvSpPr>
        <p:spPr>
          <a:xfrm>
            <a:off x="1905000" y="4076700"/>
            <a:ext cx="2393950" cy="254000"/>
          </a:xfrm>
          <a:prstGeom prst="roundRect">
            <a:avLst>
              <a:gd name="adj" fmla="val 50000"/>
            </a:avLst>
          </a:prstGeom>
          <a:solidFill>
            <a:srgbClr val="FDFDFB"/>
          </a:solidFill>
          <a:ln w="12700">
            <a:solidFill>
              <a:srgbClr val="C9C9C4"/>
            </a:solidFill>
            <a:prstDash val="solid"/>
          </a:ln>
        </p:spPr>
      </p:sp>
      <p:sp>
        <p:nvSpPr>
          <p:cNvPr id="44" name="Text 42"/>
          <p:cNvSpPr txBox="1"/>
          <p:nvPr/>
        </p:nvSpPr>
        <p:spPr>
          <a:xfrm>
            <a:off x="1905000" y="4076700"/>
            <a:ext cx="23939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Server-Sent Events · live push</a:t>
            </a:r>
            <a:endParaRPr lang="en-US" sz="1100" dirty="0"/>
          </a:p>
        </p:txBody>
      </p:sp>
      <p:sp>
        <p:nvSpPr>
          <p:cNvPr id="45" name="Shape 43"/>
          <p:cNvSpPr/>
          <p:nvPr/>
        </p:nvSpPr>
        <p:spPr>
          <a:xfrm>
            <a:off x="762000" y="4457700"/>
            <a:ext cx="7493000" cy="0"/>
          </a:xfrm>
          <a:prstGeom prst="line">
            <a:avLst/>
          </a:prstGeom>
          <a:noFill/>
          <a:ln w="12700">
            <a:solidFill>
              <a:srgbClr val="C9C9C4"/>
            </a:solidFill>
            <a:prstDash val="solid"/>
          </a:ln>
        </p:spPr>
      </p:sp>
      <p:sp>
        <p:nvSpPr>
          <p:cNvPr id="46" name="Text 44"/>
          <p:cNvSpPr txBox="1"/>
          <p:nvPr/>
        </p:nvSpPr>
        <p:spPr>
          <a:xfrm>
            <a:off x="762000" y="4622800"/>
            <a:ext cx="114300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Design</a:t>
            </a:r>
            <a:endParaRPr lang="en-US" sz="1100" dirty="0"/>
          </a:p>
        </p:txBody>
      </p:sp>
      <p:sp>
        <p:nvSpPr>
          <p:cNvPr id="47" name="Shape 45"/>
          <p:cNvSpPr/>
          <p:nvPr/>
        </p:nvSpPr>
        <p:spPr>
          <a:xfrm>
            <a:off x="1905000" y="4559300"/>
            <a:ext cx="1606550" cy="254000"/>
          </a:xfrm>
          <a:prstGeom prst="roundRect">
            <a:avLst>
              <a:gd name="adj" fmla="val 50000"/>
            </a:avLst>
          </a:prstGeom>
          <a:solidFill>
            <a:srgbClr val="FDFDFB"/>
          </a:solidFill>
          <a:ln w="12700">
            <a:solidFill>
              <a:srgbClr val="C9C9C4"/>
            </a:solidFill>
            <a:prstDash val="solid"/>
          </a:ln>
        </p:spPr>
      </p:sp>
      <p:sp>
        <p:nvSpPr>
          <p:cNvPr id="48" name="Text 46"/>
          <p:cNvSpPr txBox="1"/>
          <p:nvPr/>
        </p:nvSpPr>
        <p:spPr>
          <a:xfrm>
            <a:off x="1905000" y="4559300"/>
            <a:ext cx="16065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Bricolage Grotesque</a:t>
            </a:r>
            <a:endParaRPr lang="en-US" sz="1100" dirty="0"/>
          </a:p>
        </p:txBody>
      </p:sp>
      <p:sp>
        <p:nvSpPr>
          <p:cNvPr id="49" name="Shape 47"/>
          <p:cNvSpPr/>
          <p:nvPr/>
        </p:nvSpPr>
        <p:spPr>
          <a:xfrm>
            <a:off x="3587750" y="4559300"/>
            <a:ext cx="1181100" cy="254000"/>
          </a:xfrm>
          <a:prstGeom prst="roundRect">
            <a:avLst>
              <a:gd name="adj" fmla="val 50000"/>
            </a:avLst>
          </a:prstGeom>
          <a:solidFill>
            <a:srgbClr val="FDFDFB"/>
          </a:solidFill>
          <a:ln w="12700">
            <a:solidFill>
              <a:srgbClr val="C9C9C4"/>
            </a:solidFill>
            <a:prstDash val="solid"/>
          </a:ln>
        </p:spPr>
      </p:sp>
      <p:sp>
        <p:nvSpPr>
          <p:cNvPr id="50" name="Text 48"/>
          <p:cNvSpPr txBox="1"/>
          <p:nvPr/>
        </p:nvSpPr>
        <p:spPr>
          <a:xfrm>
            <a:off x="3587750" y="4559300"/>
            <a:ext cx="11811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Space Grotesk</a:t>
            </a:r>
            <a:endParaRPr lang="en-US" sz="1100" dirty="0"/>
          </a:p>
        </p:txBody>
      </p:sp>
      <p:sp>
        <p:nvSpPr>
          <p:cNvPr id="51" name="Shape 49"/>
          <p:cNvSpPr/>
          <p:nvPr/>
        </p:nvSpPr>
        <p:spPr>
          <a:xfrm>
            <a:off x="4845050" y="4559300"/>
            <a:ext cx="1181100" cy="254000"/>
          </a:xfrm>
          <a:prstGeom prst="roundRect">
            <a:avLst>
              <a:gd name="adj" fmla="val 50000"/>
            </a:avLst>
          </a:prstGeom>
          <a:solidFill>
            <a:srgbClr val="FDFDFB"/>
          </a:solidFill>
          <a:ln w="12700">
            <a:solidFill>
              <a:srgbClr val="C9C9C4"/>
            </a:solidFill>
            <a:prstDash val="solid"/>
          </a:ln>
        </p:spPr>
      </p:sp>
      <p:sp>
        <p:nvSpPr>
          <p:cNvPr id="52" name="Text 50"/>
          <p:cNvSpPr txBox="1"/>
          <p:nvPr/>
        </p:nvSpPr>
        <p:spPr>
          <a:xfrm>
            <a:off x="4845050" y="4559300"/>
            <a:ext cx="11811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IBM Plex Mono</a:t>
            </a:r>
            <a:endParaRPr lang="en-US" sz="1100" dirty="0"/>
          </a:p>
        </p:txBody>
      </p:sp>
      <p:sp>
        <p:nvSpPr>
          <p:cNvPr id="53" name="Shape 51"/>
          <p:cNvSpPr/>
          <p:nvPr/>
        </p:nvSpPr>
        <p:spPr>
          <a:xfrm>
            <a:off x="6102350" y="4559300"/>
            <a:ext cx="679450" cy="254000"/>
          </a:xfrm>
          <a:prstGeom prst="roundRect">
            <a:avLst>
              <a:gd name="adj" fmla="val 50000"/>
            </a:avLst>
          </a:prstGeom>
          <a:solidFill>
            <a:srgbClr val="FDFDFB"/>
          </a:solidFill>
          <a:ln w="12700">
            <a:solidFill>
              <a:srgbClr val="C9C9C4"/>
            </a:solidFill>
            <a:prstDash val="solid"/>
          </a:ln>
        </p:spPr>
      </p:sp>
      <p:sp>
        <p:nvSpPr>
          <p:cNvPr id="54" name="Text 52"/>
          <p:cNvSpPr txBox="1"/>
          <p:nvPr/>
        </p:nvSpPr>
        <p:spPr>
          <a:xfrm>
            <a:off x="6102350" y="4559300"/>
            <a:ext cx="6794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Caveat</a:t>
            </a:r>
            <a:endParaRPr lang="en-US" sz="1100" dirty="0"/>
          </a:p>
        </p:txBody>
      </p:sp>
      <p:sp>
        <p:nvSpPr>
          <p:cNvPr id="55" name="Shape 53"/>
          <p:cNvSpPr/>
          <p:nvPr/>
        </p:nvSpPr>
        <p:spPr>
          <a:xfrm>
            <a:off x="1905000" y="4889500"/>
            <a:ext cx="1962150" cy="254000"/>
          </a:xfrm>
          <a:prstGeom prst="roundRect">
            <a:avLst>
              <a:gd name="adj" fmla="val 50000"/>
            </a:avLst>
          </a:prstGeom>
          <a:solidFill>
            <a:srgbClr val="FDFDFB"/>
          </a:solidFill>
          <a:ln w="12700">
            <a:solidFill>
              <a:srgbClr val="C9C9C4"/>
            </a:solidFill>
            <a:prstDash val="solid"/>
          </a:ln>
        </p:spPr>
      </p:sp>
      <p:sp>
        <p:nvSpPr>
          <p:cNvPr id="56" name="Text 54"/>
          <p:cNvSpPr txBox="1"/>
          <p:nvPr/>
        </p:nvSpPr>
        <p:spPr>
          <a:xfrm>
            <a:off x="1905000" y="4889500"/>
            <a:ext cx="19621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paper · ink · one yellow</a:t>
            </a:r>
            <a:endParaRPr lang="en-US" sz="1100" dirty="0"/>
          </a:p>
        </p:txBody>
      </p:sp>
      <p:sp>
        <p:nvSpPr>
          <p:cNvPr id="57" name="Shape 55"/>
          <p:cNvSpPr/>
          <p:nvPr/>
        </p:nvSpPr>
        <p:spPr>
          <a:xfrm>
            <a:off x="762000" y="5270500"/>
            <a:ext cx="7493000" cy="0"/>
          </a:xfrm>
          <a:prstGeom prst="line">
            <a:avLst/>
          </a:prstGeom>
          <a:noFill/>
          <a:ln w="12700">
            <a:solidFill>
              <a:srgbClr val="C9C9C4"/>
            </a:solidFill>
            <a:prstDash val="solid"/>
          </a:ln>
        </p:spPr>
      </p:sp>
      <p:sp>
        <p:nvSpPr>
          <p:cNvPr id="58" name="Text 56"/>
          <p:cNvSpPr txBox="1"/>
          <p:nvPr/>
        </p:nvSpPr>
        <p:spPr>
          <a:xfrm>
            <a:off x="762000" y="5435600"/>
            <a:ext cx="114300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Tools</a:t>
            </a:r>
            <a:endParaRPr lang="en-US" sz="1100" dirty="0"/>
          </a:p>
        </p:txBody>
      </p:sp>
      <p:sp>
        <p:nvSpPr>
          <p:cNvPr id="59" name="Shape 57"/>
          <p:cNvSpPr/>
          <p:nvPr/>
        </p:nvSpPr>
        <p:spPr>
          <a:xfrm>
            <a:off x="1905000" y="5372100"/>
            <a:ext cx="2108200" cy="254000"/>
          </a:xfrm>
          <a:prstGeom prst="roundRect">
            <a:avLst>
              <a:gd name="adj" fmla="val 50000"/>
            </a:avLst>
          </a:prstGeom>
          <a:solidFill>
            <a:srgbClr val="FDFDFB"/>
          </a:solidFill>
          <a:ln w="12700">
            <a:solidFill>
              <a:srgbClr val="C9C9C4"/>
            </a:solidFill>
            <a:prstDash val="solid"/>
          </a:ln>
        </p:spPr>
      </p:sp>
      <p:sp>
        <p:nvSpPr>
          <p:cNvPr id="60" name="Text 58"/>
          <p:cNvSpPr txBox="1"/>
          <p:nvPr/>
        </p:nvSpPr>
        <p:spPr>
          <a:xfrm>
            <a:off x="1905000" y="5372100"/>
            <a:ext cx="21082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Google Earth · lot capture</a:t>
            </a:r>
            <a:endParaRPr lang="en-US" sz="1100" dirty="0"/>
          </a:p>
        </p:txBody>
      </p:sp>
      <p:sp>
        <p:nvSpPr>
          <p:cNvPr id="61" name="Shape 59"/>
          <p:cNvSpPr/>
          <p:nvPr/>
        </p:nvSpPr>
        <p:spPr>
          <a:xfrm>
            <a:off x="4089400" y="5372100"/>
            <a:ext cx="2393950" cy="254000"/>
          </a:xfrm>
          <a:prstGeom prst="roundRect">
            <a:avLst>
              <a:gd name="adj" fmla="val 50000"/>
            </a:avLst>
          </a:prstGeom>
          <a:solidFill>
            <a:srgbClr val="FDFDFB"/>
          </a:solidFill>
          <a:ln w="12700">
            <a:solidFill>
              <a:srgbClr val="C9C9C4"/>
            </a:solidFill>
            <a:prstDash val="solid"/>
          </a:ln>
        </p:spPr>
      </p:sp>
      <p:sp>
        <p:nvSpPr>
          <p:cNvPr id="62" name="Text 60"/>
          <p:cNvSpPr txBox="1"/>
          <p:nvPr/>
        </p:nvSpPr>
        <p:spPr>
          <a:xfrm>
            <a:off x="4089400" y="5372100"/>
            <a:ext cx="23939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Cloudflare Tunnel · share link</a:t>
            </a:r>
            <a:endParaRPr lang="en-US" sz="1100" dirty="0"/>
          </a:p>
        </p:txBody>
      </p:sp>
      <p:sp>
        <p:nvSpPr>
          <p:cNvPr id="63" name="Shape 61"/>
          <p:cNvSpPr/>
          <p:nvPr/>
        </p:nvSpPr>
        <p:spPr>
          <a:xfrm>
            <a:off x="6559550" y="5372100"/>
            <a:ext cx="1320800" cy="254000"/>
          </a:xfrm>
          <a:prstGeom prst="roundRect">
            <a:avLst>
              <a:gd name="adj" fmla="val 50000"/>
            </a:avLst>
          </a:prstGeom>
          <a:solidFill>
            <a:srgbClr val="FDFDFB"/>
          </a:solidFill>
          <a:ln w="12700">
            <a:solidFill>
              <a:srgbClr val="C9C9C4"/>
            </a:solidFill>
            <a:prstDash val="solid"/>
          </a:ln>
        </p:spPr>
      </p:sp>
      <p:sp>
        <p:nvSpPr>
          <p:cNvPr id="64" name="Text 62"/>
          <p:cNvSpPr txBox="1"/>
          <p:nvPr/>
        </p:nvSpPr>
        <p:spPr>
          <a:xfrm>
            <a:off x="6559550" y="5372100"/>
            <a:ext cx="132080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Vite dev server</a:t>
            </a:r>
            <a:endParaRPr lang="en-US" sz="1100" dirty="0"/>
          </a:p>
        </p:txBody>
      </p:sp>
      <p:sp>
        <p:nvSpPr>
          <p:cNvPr id="65" name="Shape 63"/>
          <p:cNvSpPr/>
          <p:nvPr/>
        </p:nvSpPr>
        <p:spPr>
          <a:xfrm>
            <a:off x="1905000" y="5702300"/>
            <a:ext cx="679450" cy="254000"/>
          </a:xfrm>
          <a:prstGeom prst="roundRect">
            <a:avLst>
              <a:gd name="adj" fmla="val 50000"/>
            </a:avLst>
          </a:prstGeom>
          <a:solidFill>
            <a:srgbClr val="FDFDFB"/>
          </a:solidFill>
          <a:ln w="12700">
            <a:solidFill>
              <a:srgbClr val="C9C9C4"/>
            </a:solidFill>
            <a:prstDash val="solid"/>
          </a:ln>
        </p:spPr>
      </p:sp>
      <p:sp>
        <p:nvSpPr>
          <p:cNvPr id="66" name="Text 64"/>
          <p:cNvSpPr txBox="1"/>
          <p:nvPr/>
        </p:nvSpPr>
        <p:spPr>
          <a:xfrm>
            <a:off x="1905000" y="5702300"/>
            <a:ext cx="679450" cy="254000"/>
          </a:xfrm>
          <a:prstGeom prst="rect">
            <a:avLst/>
          </a:prstGeom>
          <a:noFill/>
          <a:ln/>
        </p:spPr>
        <p:txBody>
          <a:bodyPr wrap="none" lIns="0" tIns="0" rIns="0" bIns="0" rtlCol="0" anchor="ctr"/>
          <a:lstStyle/>
          <a:p>
            <a:pPr algn="ctr" indent="0" marL="0">
              <a:buNone/>
            </a:pPr>
            <a:r>
              <a:rPr lang="en-US" sz="1100" dirty="0">
                <a:solidFill>
                  <a:srgbClr val="3C3C42"/>
                </a:solidFill>
                <a:latin typeface="Segoe UI" pitchFamily="34" charset="0"/>
                <a:ea typeface="Segoe UI" pitchFamily="34" charset="-122"/>
                <a:cs typeface="Segoe UI" pitchFamily="34" charset="-120"/>
              </a:rPr>
              <a:t>oxlint</a:t>
            </a:r>
            <a:endParaRPr lang="en-US" sz="1100" dirty="0"/>
          </a:p>
        </p:txBody>
      </p:sp>
      <p:sp>
        <p:nvSpPr>
          <p:cNvPr id="67" name="Text 65"/>
          <p:cNvSpPr txBox="1"/>
          <p:nvPr/>
        </p:nvSpPr>
        <p:spPr>
          <a:xfrm>
            <a:off x="8636000" y="2413000"/>
            <a:ext cx="2794000" cy="635000"/>
          </a:xfrm>
          <a:prstGeom prst="rect">
            <a:avLst/>
          </a:prstGeom>
          <a:noFill/>
          <a:ln/>
        </p:spPr>
        <p:txBody>
          <a:bodyPr wrap="square" lIns="0" tIns="0" rIns="0" bIns="0" rtlCol="0" anchor="b"/>
          <a:lstStyle/>
          <a:p>
            <a:pPr algn="l" indent="0" marL="0">
              <a:lnSpc>
                <a:spcPct val="90000"/>
              </a:lnSpc>
              <a:buNone/>
            </a:pPr>
            <a:r>
              <a:rPr lang="en-US" sz="5000" spc="-250" kern="0" dirty="0">
                <a:solidFill>
                  <a:srgbClr val="121214"/>
                </a:solidFill>
                <a:latin typeface="Segoe UI Semibold" pitchFamily="34" charset="0"/>
                <a:ea typeface="Segoe UI Semibold" pitchFamily="34" charset="-122"/>
                <a:cs typeface="Segoe UI Semibold" pitchFamily="34" charset="-120"/>
              </a:rPr>
              <a:t>7,400</a:t>
            </a:r>
            <a:endParaRPr lang="en-US" sz="5000" dirty="0"/>
          </a:p>
        </p:txBody>
      </p:sp>
      <p:sp>
        <p:nvSpPr>
          <p:cNvPr id="68" name="Text 66"/>
          <p:cNvSpPr txBox="1"/>
          <p:nvPr/>
        </p:nvSpPr>
        <p:spPr>
          <a:xfrm>
            <a:off x="8636000" y="3086100"/>
            <a:ext cx="2794000" cy="254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lines of frontend code</a:t>
            </a:r>
            <a:endParaRPr lang="en-US" sz="1400" dirty="0"/>
          </a:p>
        </p:txBody>
      </p:sp>
      <p:sp>
        <p:nvSpPr>
          <p:cNvPr id="69" name="Text 67"/>
          <p:cNvSpPr txBox="1"/>
          <p:nvPr/>
        </p:nvSpPr>
        <p:spPr>
          <a:xfrm>
            <a:off x="8636000" y="3619500"/>
            <a:ext cx="2794000" cy="635000"/>
          </a:xfrm>
          <a:prstGeom prst="rect">
            <a:avLst/>
          </a:prstGeom>
          <a:noFill/>
          <a:ln/>
        </p:spPr>
        <p:txBody>
          <a:bodyPr wrap="square" lIns="0" tIns="0" rIns="0" bIns="0" rtlCol="0" anchor="b"/>
          <a:lstStyle/>
          <a:p>
            <a:pPr algn="l" indent="0" marL="0">
              <a:lnSpc>
                <a:spcPct val="90000"/>
              </a:lnSpc>
              <a:buNone/>
            </a:pPr>
            <a:r>
              <a:rPr lang="en-US" sz="5000" spc="-250" kern="0" dirty="0">
                <a:solidFill>
                  <a:srgbClr val="121214"/>
                </a:solidFill>
                <a:latin typeface="Segoe UI Semibold" pitchFamily="34" charset="0"/>
                <a:ea typeface="Segoe UI Semibold" pitchFamily="34" charset="-122"/>
                <a:cs typeface="Segoe UI Semibold" pitchFamily="34" charset="-120"/>
              </a:rPr>
              <a:t>1,121</a:t>
            </a:r>
            <a:endParaRPr lang="en-US" sz="5000" dirty="0"/>
          </a:p>
        </p:txBody>
      </p:sp>
      <p:sp>
        <p:nvSpPr>
          <p:cNvPr id="70" name="Text 68"/>
          <p:cNvSpPr txBox="1"/>
          <p:nvPr/>
        </p:nvSpPr>
        <p:spPr>
          <a:xfrm>
            <a:off x="8636000" y="4292600"/>
            <a:ext cx="2794000" cy="254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lines of Python, in one file</a:t>
            </a:r>
            <a:endParaRPr lang="en-US" sz="1400" dirty="0"/>
          </a:p>
        </p:txBody>
      </p:sp>
      <p:sp>
        <p:nvSpPr>
          <p:cNvPr id="71" name="Text 69"/>
          <p:cNvSpPr txBox="1"/>
          <p:nvPr/>
        </p:nvSpPr>
        <p:spPr>
          <a:xfrm>
            <a:off x="8636000" y="4826000"/>
            <a:ext cx="2794000" cy="635000"/>
          </a:xfrm>
          <a:prstGeom prst="rect">
            <a:avLst/>
          </a:prstGeom>
          <a:noFill/>
          <a:ln/>
        </p:spPr>
        <p:txBody>
          <a:bodyPr wrap="square" lIns="0" tIns="0" rIns="0" bIns="0" rtlCol="0" anchor="b"/>
          <a:lstStyle/>
          <a:p>
            <a:pPr algn="l" indent="0" marL="0">
              <a:lnSpc>
                <a:spcPct val="90000"/>
              </a:lnSpc>
              <a:buNone/>
            </a:pPr>
            <a:r>
              <a:rPr lang="en-US" sz="5000" spc="-250" kern="0" dirty="0">
                <a:solidFill>
                  <a:srgbClr val="8A6400"/>
                </a:solidFill>
                <a:latin typeface="Segoe UI Semibold" pitchFamily="34" charset="0"/>
                <a:ea typeface="Segoe UI Semibold" pitchFamily="34" charset="-122"/>
                <a:cs typeface="Segoe UI Semibold" pitchFamily="34" charset="-120"/>
              </a:rPr>
              <a:t>0</a:t>
            </a:r>
            <a:endParaRPr lang="en-US" sz="5000" dirty="0"/>
          </a:p>
        </p:txBody>
      </p:sp>
      <p:sp>
        <p:nvSpPr>
          <p:cNvPr id="72" name="Text 70"/>
          <p:cNvSpPr txBox="1"/>
          <p:nvPr/>
        </p:nvSpPr>
        <p:spPr>
          <a:xfrm>
            <a:off x="8636000" y="5499100"/>
            <a:ext cx="2794000" cy="254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pip installs for the backend</a:t>
            </a:r>
            <a:endParaRPr lang="en-US" sz="1400" dirty="0"/>
          </a:p>
        </p:txBody>
      </p:sp>
    </p:spTree>
  </p:cSld>
  <p:clrMapOvr>
    <a:masterClrMapping/>
  </p:clrMapOvr>
  <p:transition xmlns:p14="http://schemas.microsoft.com/office/powerpoint/2010/main" spd="slow" p14:dur="800">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12</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7682379"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315200" y="203200"/>
            <a:ext cx="33528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4295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543800" y="203200"/>
            <a:ext cx="30988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Working prototype</a:t>
            </a:r>
            <a:pPr indent="0" marL="0">
              <a:buNone/>
            </a:pPr>
            <a:r>
              <a:rPr lang="en-US" sz="900" dirty="0">
                <a:solidFill>
                  <a:srgbClr val="3C3C42"/>
                </a:solidFill>
                <a:latin typeface="Consolas" pitchFamily="34" charset="0"/>
                <a:ea typeface="Consolas" pitchFamily="34" charset="-122"/>
                <a:cs typeface="Consolas" pitchFamily="34" charset="-120"/>
              </a:rPr>
              <a:t>  ·  Effort &amp; build quality</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11</a:t>
            </a:r>
            <a:pPr algn="l" indent="0" marL="0">
              <a:buNone/>
            </a:pPr>
            <a:r>
              <a:rPr lang="en-US" sz="1100" dirty="0">
                <a:solidFill>
                  <a:srgbClr val="62626A"/>
                </a:solidFill>
                <a:latin typeface="Consolas" pitchFamily="34" charset="0"/>
                <a:ea typeface="Consolas" pitchFamily="34" charset="-122"/>
                <a:cs typeface="Consolas" pitchFamily="34" charset="-120"/>
              </a:rPr>
              <a:t>  ——  Architecture</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How a booking travels.</a:t>
            </a:r>
            <a:endParaRPr lang="en-US" sz="4400" dirty="0"/>
          </a:p>
        </p:txBody>
      </p:sp>
      <p:sp>
        <p:nvSpPr>
          <p:cNvPr id="9" name="Shape 7"/>
          <p:cNvSpPr/>
          <p:nvPr/>
        </p:nvSpPr>
        <p:spPr>
          <a:xfrm>
            <a:off x="762000" y="2667000"/>
            <a:ext cx="2667000" cy="1333500"/>
          </a:xfrm>
          <a:prstGeom prst="roundRect">
            <a:avLst>
              <a:gd name="adj" fmla="val 11429"/>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Text 8"/>
          <p:cNvSpPr txBox="1"/>
          <p:nvPr/>
        </p:nvSpPr>
        <p:spPr>
          <a:xfrm>
            <a:off x="939800" y="2819400"/>
            <a:ext cx="2311400" cy="165100"/>
          </a:xfrm>
          <a:prstGeom prst="rect">
            <a:avLst/>
          </a:prstGeom>
          <a:noFill/>
          <a:ln/>
        </p:spPr>
        <p:txBody>
          <a:bodyPr wrap="square" lIns="0" tIns="0" rIns="0" bIns="0" rtlCol="0" anchor="t"/>
          <a:lstStyle/>
          <a:p>
            <a:pPr algn="l" indent="0" marL="0">
              <a:lnSpc>
                <a:spcPct val="112000"/>
              </a:lnSpc>
              <a:buNone/>
            </a:pPr>
            <a:r>
              <a:rPr lang="en-US" sz="1000" dirty="0">
                <a:solidFill>
                  <a:srgbClr val="62626A"/>
                </a:solidFill>
                <a:latin typeface="Consolas" pitchFamily="34" charset="0"/>
                <a:ea typeface="Consolas" pitchFamily="34" charset="-122"/>
                <a:cs typeface="Consolas" pitchFamily="34" charset="-120"/>
              </a:rPr>
              <a:t>Browser</a:t>
            </a:r>
            <a:endParaRPr lang="en-US" sz="1000" dirty="0"/>
          </a:p>
        </p:txBody>
      </p:sp>
      <p:sp>
        <p:nvSpPr>
          <p:cNvPr id="11" name="Text 9"/>
          <p:cNvSpPr txBox="1"/>
          <p:nvPr/>
        </p:nvSpPr>
        <p:spPr>
          <a:xfrm>
            <a:off x="939800" y="3009900"/>
            <a:ext cx="2311400" cy="317500"/>
          </a:xfrm>
          <a:prstGeom prst="rect">
            <a:avLst/>
          </a:prstGeom>
          <a:noFill/>
          <a:ln/>
        </p:spPr>
        <p:txBody>
          <a:bodyPr wrap="square" lIns="0" tIns="0" rIns="0" bIns="0" rtlCol="0" anchor="t"/>
          <a:lstStyle/>
          <a:p>
            <a:pPr algn="l" indent="0" marL="0">
              <a:lnSpc>
                <a:spcPct val="112000"/>
              </a:lnSpc>
              <a:buNone/>
            </a:pPr>
            <a:r>
              <a:rPr lang="en-US" sz="2100" spc="-60" kern="0" dirty="0">
                <a:solidFill>
                  <a:srgbClr val="121214"/>
                </a:solidFill>
                <a:latin typeface="Segoe UI Semibold" pitchFamily="34" charset="0"/>
                <a:ea typeface="Segoe UI Semibold" pitchFamily="34" charset="-122"/>
                <a:cs typeface="Segoe UI Semibold" pitchFamily="34" charset="-120"/>
              </a:rPr>
              <a:t>Your phone</a:t>
            </a:r>
            <a:endParaRPr lang="en-US" sz="2100" dirty="0"/>
          </a:p>
        </p:txBody>
      </p:sp>
      <p:sp>
        <p:nvSpPr>
          <p:cNvPr id="12" name="Text 10"/>
          <p:cNvSpPr txBox="1"/>
          <p:nvPr/>
        </p:nvSpPr>
        <p:spPr>
          <a:xfrm>
            <a:off x="939800" y="3352800"/>
            <a:ext cx="2311400" cy="571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Live plan, lens, panel. Taps a free bay and books it.</a:t>
            </a:r>
            <a:endParaRPr lang="en-US" sz="1300" dirty="0"/>
          </a:p>
        </p:txBody>
      </p:sp>
      <p:sp>
        <p:nvSpPr>
          <p:cNvPr id="13" name="Shape 11"/>
          <p:cNvSpPr/>
          <p:nvPr/>
        </p:nvSpPr>
        <p:spPr>
          <a:xfrm>
            <a:off x="762000" y="4572000"/>
            <a:ext cx="2667000" cy="1333500"/>
          </a:xfrm>
          <a:prstGeom prst="roundRect">
            <a:avLst>
              <a:gd name="adj" fmla="val 11429"/>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4" name="Text 12"/>
          <p:cNvSpPr txBox="1"/>
          <p:nvPr/>
        </p:nvSpPr>
        <p:spPr>
          <a:xfrm>
            <a:off x="939800" y="4724400"/>
            <a:ext cx="2311400" cy="165100"/>
          </a:xfrm>
          <a:prstGeom prst="rect">
            <a:avLst/>
          </a:prstGeom>
          <a:noFill/>
          <a:ln/>
        </p:spPr>
        <p:txBody>
          <a:bodyPr wrap="square" lIns="0" tIns="0" rIns="0" bIns="0" rtlCol="0" anchor="t"/>
          <a:lstStyle/>
          <a:p>
            <a:pPr algn="l" indent="0" marL="0">
              <a:lnSpc>
                <a:spcPct val="112000"/>
              </a:lnSpc>
              <a:buNone/>
            </a:pPr>
            <a:r>
              <a:rPr lang="en-US" sz="1000" dirty="0">
                <a:solidFill>
                  <a:srgbClr val="62626A"/>
                </a:solidFill>
                <a:latin typeface="Consolas" pitchFamily="34" charset="0"/>
                <a:ea typeface="Consolas" pitchFamily="34" charset="-122"/>
                <a:cs typeface="Consolas" pitchFamily="34" charset="-120"/>
              </a:rPr>
              <a:t>Browser</a:t>
            </a:r>
            <a:endParaRPr lang="en-US" sz="1000" dirty="0"/>
          </a:p>
        </p:txBody>
      </p:sp>
      <p:sp>
        <p:nvSpPr>
          <p:cNvPr id="15" name="Text 13"/>
          <p:cNvSpPr txBox="1"/>
          <p:nvPr/>
        </p:nvSpPr>
        <p:spPr>
          <a:xfrm>
            <a:off x="939800" y="4914900"/>
            <a:ext cx="2311400" cy="317500"/>
          </a:xfrm>
          <a:prstGeom prst="rect">
            <a:avLst/>
          </a:prstGeom>
          <a:noFill/>
          <a:ln/>
        </p:spPr>
        <p:txBody>
          <a:bodyPr wrap="square" lIns="0" tIns="0" rIns="0" bIns="0" rtlCol="0" anchor="t"/>
          <a:lstStyle/>
          <a:p>
            <a:pPr algn="l" indent="0" marL="0">
              <a:lnSpc>
                <a:spcPct val="112000"/>
              </a:lnSpc>
              <a:buNone/>
            </a:pPr>
            <a:r>
              <a:rPr lang="en-US" sz="2100" spc="-60" kern="0" dirty="0">
                <a:solidFill>
                  <a:srgbClr val="121214"/>
                </a:solidFill>
                <a:latin typeface="Segoe UI Semibold" pitchFamily="34" charset="0"/>
                <a:ea typeface="Segoe UI Semibold" pitchFamily="34" charset="-122"/>
                <a:cs typeface="Segoe UI Semibold" pitchFamily="34" charset="-120"/>
              </a:rPr>
              <a:t>A friend's laptop</a:t>
            </a:r>
            <a:endParaRPr lang="en-US" sz="2100" dirty="0"/>
          </a:p>
        </p:txBody>
      </p:sp>
      <p:sp>
        <p:nvSpPr>
          <p:cNvPr id="16" name="Text 14"/>
          <p:cNvSpPr txBox="1"/>
          <p:nvPr/>
        </p:nvSpPr>
        <p:spPr>
          <a:xfrm>
            <a:off x="939800" y="5257800"/>
            <a:ext cx="2311400" cy="571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Sees that bay turn booked the moment it happens.</a:t>
            </a:r>
            <a:endParaRPr lang="en-US" sz="1300" dirty="0"/>
          </a:p>
        </p:txBody>
      </p:sp>
      <p:sp>
        <p:nvSpPr>
          <p:cNvPr id="17" name="Shape 15"/>
          <p:cNvSpPr/>
          <p:nvPr/>
        </p:nvSpPr>
        <p:spPr>
          <a:xfrm>
            <a:off x="5143500" y="2667000"/>
            <a:ext cx="2032000" cy="2095500"/>
          </a:xfrm>
          <a:prstGeom prst="roundRect">
            <a:avLst>
              <a:gd name="adj" fmla="val 7500"/>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8" name="Text 16"/>
          <p:cNvSpPr txBox="1"/>
          <p:nvPr/>
        </p:nvSpPr>
        <p:spPr>
          <a:xfrm>
            <a:off x="5321300" y="2819400"/>
            <a:ext cx="1676400" cy="165100"/>
          </a:xfrm>
          <a:prstGeom prst="rect">
            <a:avLst/>
          </a:prstGeom>
          <a:noFill/>
          <a:ln/>
        </p:spPr>
        <p:txBody>
          <a:bodyPr wrap="square" lIns="0" tIns="0" rIns="0" bIns="0" rtlCol="0" anchor="t"/>
          <a:lstStyle/>
          <a:p>
            <a:pPr algn="l" indent="0" marL="0">
              <a:lnSpc>
                <a:spcPct val="112000"/>
              </a:lnSpc>
              <a:buNone/>
            </a:pPr>
            <a:r>
              <a:rPr lang="en-US" sz="1000" dirty="0">
                <a:solidFill>
                  <a:srgbClr val="62626A"/>
                </a:solidFill>
                <a:latin typeface="Consolas" pitchFamily="34" charset="0"/>
                <a:ea typeface="Consolas" pitchFamily="34" charset="-122"/>
                <a:cs typeface="Consolas" pitchFamily="34" charset="-120"/>
              </a:rPr>
              <a:t>server.py</a:t>
            </a:r>
            <a:endParaRPr lang="en-US" sz="1000" dirty="0"/>
          </a:p>
        </p:txBody>
      </p:sp>
      <p:sp>
        <p:nvSpPr>
          <p:cNvPr id="19" name="Text 17"/>
          <p:cNvSpPr txBox="1"/>
          <p:nvPr/>
        </p:nvSpPr>
        <p:spPr>
          <a:xfrm>
            <a:off x="5321300" y="3009900"/>
            <a:ext cx="1676400" cy="317500"/>
          </a:xfrm>
          <a:prstGeom prst="rect">
            <a:avLst/>
          </a:prstGeom>
          <a:noFill/>
          <a:ln/>
        </p:spPr>
        <p:txBody>
          <a:bodyPr wrap="square" lIns="0" tIns="0" rIns="0" bIns="0" rtlCol="0" anchor="t"/>
          <a:lstStyle/>
          <a:p>
            <a:pPr algn="l" indent="0" marL="0">
              <a:lnSpc>
                <a:spcPct val="112000"/>
              </a:lnSpc>
              <a:buNone/>
            </a:pPr>
            <a:r>
              <a:rPr lang="en-US" sz="2100" spc="-60" kern="0" dirty="0">
                <a:solidFill>
                  <a:srgbClr val="121214"/>
                </a:solidFill>
                <a:latin typeface="Segoe UI Semibold" pitchFamily="34" charset="0"/>
                <a:ea typeface="Segoe UI Semibold" pitchFamily="34" charset="-122"/>
                <a:cs typeface="Segoe UI Semibold" pitchFamily="34" charset="-120"/>
              </a:rPr>
              <a:t>Python server</a:t>
            </a:r>
            <a:endParaRPr lang="en-US" sz="2100" dirty="0"/>
          </a:p>
        </p:txBody>
      </p:sp>
      <p:sp>
        <p:nvSpPr>
          <p:cNvPr id="20" name="Text 18"/>
          <p:cNvSpPr txBox="1"/>
          <p:nvPr/>
        </p:nvSpPr>
        <p:spPr>
          <a:xfrm>
            <a:off x="5321300" y="3352800"/>
            <a:ext cx="1676400" cy="1333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Checks the rules, saves the booking, tells every open page. Also runs demo cars so the lot looks alive.</a:t>
            </a:r>
            <a:endParaRPr lang="en-US" sz="1300" dirty="0"/>
          </a:p>
        </p:txBody>
      </p:sp>
      <p:sp>
        <p:nvSpPr>
          <p:cNvPr id="21" name="Shape 19"/>
          <p:cNvSpPr/>
          <p:nvPr/>
        </p:nvSpPr>
        <p:spPr>
          <a:xfrm>
            <a:off x="8636000" y="2667000"/>
            <a:ext cx="2794000" cy="1651000"/>
          </a:xfrm>
          <a:prstGeom prst="roundRect">
            <a:avLst>
              <a:gd name="adj" fmla="val 9231"/>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2" name="Text 20"/>
          <p:cNvSpPr txBox="1"/>
          <p:nvPr/>
        </p:nvSpPr>
        <p:spPr>
          <a:xfrm>
            <a:off x="8813800" y="2819400"/>
            <a:ext cx="2438400" cy="165100"/>
          </a:xfrm>
          <a:prstGeom prst="rect">
            <a:avLst/>
          </a:prstGeom>
          <a:noFill/>
          <a:ln/>
        </p:spPr>
        <p:txBody>
          <a:bodyPr wrap="square" lIns="0" tIns="0" rIns="0" bIns="0" rtlCol="0" anchor="t"/>
          <a:lstStyle/>
          <a:p>
            <a:pPr algn="l" indent="0" marL="0">
              <a:lnSpc>
                <a:spcPct val="112000"/>
              </a:lnSpc>
              <a:buNone/>
            </a:pPr>
            <a:r>
              <a:rPr lang="en-US" sz="1000" dirty="0">
                <a:solidFill>
                  <a:srgbClr val="62626A"/>
                </a:solidFill>
                <a:latin typeface="Consolas" pitchFamily="34" charset="0"/>
                <a:ea typeface="Consolas" pitchFamily="34" charset="-122"/>
                <a:cs typeface="Consolas" pitchFamily="34" charset="-120"/>
              </a:rPr>
              <a:t>parkseat.db</a:t>
            </a:r>
            <a:endParaRPr lang="en-US" sz="1000" dirty="0"/>
          </a:p>
        </p:txBody>
      </p:sp>
      <p:sp>
        <p:nvSpPr>
          <p:cNvPr id="23" name="Text 21"/>
          <p:cNvSpPr txBox="1"/>
          <p:nvPr/>
        </p:nvSpPr>
        <p:spPr>
          <a:xfrm>
            <a:off x="8813800" y="3009900"/>
            <a:ext cx="2438400" cy="317500"/>
          </a:xfrm>
          <a:prstGeom prst="rect">
            <a:avLst/>
          </a:prstGeom>
          <a:noFill/>
          <a:ln/>
        </p:spPr>
        <p:txBody>
          <a:bodyPr wrap="square" lIns="0" tIns="0" rIns="0" bIns="0" rtlCol="0" anchor="t"/>
          <a:lstStyle/>
          <a:p>
            <a:pPr algn="l" indent="0" marL="0">
              <a:lnSpc>
                <a:spcPct val="112000"/>
              </a:lnSpc>
              <a:buNone/>
            </a:pPr>
            <a:r>
              <a:rPr lang="en-US" sz="2100" spc="-60" kern="0" dirty="0">
                <a:solidFill>
                  <a:srgbClr val="121214"/>
                </a:solidFill>
                <a:latin typeface="Segoe UI Semibold" pitchFamily="34" charset="0"/>
                <a:ea typeface="Segoe UI Semibold" pitchFamily="34" charset="-122"/>
                <a:cs typeface="Segoe UI Semibold" pitchFamily="34" charset="-120"/>
              </a:rPr>
              <a:t>SQLite</a:t>
            </a:r>
            <a:endParaRPr lang="en-US" sz="2100" dirty="0"/>
          </a:p>
        </p:txBody>
      </p:sp>
      <p:sp>
        <p:nvSpPr>
          <p:cNvPr id="24" name="Text 22"/>
          <p:cNvSpPr txBox="1"/>
          <p:nvPr/>
        </p:nvSpPr>
        <p:spPr>
          <a:xfrm>
            <a:off x="8813800" y="3352800"/>
            <a:ext cx="2438400" cy="889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Bookings and the live feed. A trigger refuses any two bookings that overlap on one bay.</a:t>
            </a:r>
            <a:endParaRPr lang="en-US" sz="1300" dirty="0"/>
          </a:p>
        </p:txBody>
      </p:sp>
      <p:sp>
        <p:nvSpPr>
          <p:cNvPr id="25" name="Shape 23"/>
          <p:cNvSpPr/>
          <p:nvPr/>
        </p:nvSpPr>
        <p:spPr>
          <a:xfrm>
            <a:off x="3429000" y="3238500"/>
            <a:ext cx="1714500" cy="0"/>
          </a:xfrm>
          <a:prstGeom prst="line">
            <a:avLst/>
          </a:prstGeom>
          <a:noFill/>
          <a:ln w="25400">
            <a:solidFill>
              <a:srgbClr val="9A9AA1"/>
            </a:solidFill>
            <a:prstDash val="solid"/>
            <a:tailEnd type="triangle"/>
          </a:ln>
        </p:spPr>
      </p:sp>
      <p:sp>
        <p:nvSpPr>
          <p:cNvPr id="26" name="Text 24"/>
          <p:cNvSpPr txBox="1"/>
          <p:nvPr/>
        </p:nvSpPr>
        <p:spPr>
          <a:xfrm>
            <a:off x="3556000" y="2984500"/>
            <a:ext cx="1524000" cy="190500"/>
          </a:xfrm>
          <a:prstGeom prst="rect">
            <a:avLst/>
          </a:prstGeom>
          <a:noFill/>
          <a:ln/>
        </p:spPr>
        <p:txBody>
          <a:bodyPr wrap="square" lIns="0" tIns="0" rIns="0" bIns="0" rtlCol="0" anchor="t"/>
          <a:lstStyle/>
          <a:p>
            <a:pPr algn="l" indent="0" marL="0">
              <a:lnSpc>
                <a:spcPct val="112000"/>
              </a:lnSpc>
              <a:buNone/>
            </a:pPr>
            <a:r>
              <a:rPr lang="en-US" sz="1000" dirty="0">
                <a:solidFill>
                  <a:srgbClr val="3C3C42"/>
                </a:solidFill>
                <a:latin typeface="Consolas" pitchFamily="34" charset="0"/>
                <a:ea typeface="Consolas" pitchFamily="34" charset="-122"/>
                <a:cs typeface="Consolas" pitchFamily="34" charset="-120"/>
              </a:rPr>
              <a:t>POST /api/bookings</a:t>
            </a:r>
            <a:endParaRPr lang="en-US" sz="1000" dirty="0"/>
          </a:p>
        </p:txBody>
      </p:sp>
      <p:sp>
        <p:nvSpPr>
          <p:cNvPr id="27" name="Shape 25"/>
          <p:cNvSpPr/>
          <p:nvPr/>
        </p:nvSpPr>
        <p:spPr>
          <a:xfrm>
            <a:off x="7175500" y="3238500"/>
            <a:ext cx="1460500" cy="0"/>
          </a:xfrm>
          <a:prstGeom prst="line">
            <a:avLst/>
          </a:prstGeom>
          <a:noFill/>
          <a:ln w="25400">
            <a:solidFill>
              <a:srgbClr val="9A9AA1"/>
            </a:solidFill>
            <a:prstDash val="solid"/>
            <a:tailEnd type="triangle"/>
          </a:ln>
        </p:spPr>
      </p:sp>
      <p:sp>
        <p:nvSpPr>
          <p:cNvPr id="28" name="Text 26"/>
          <p:cNvSpPr txBox="1"/>
          <p:nvPr/>
        </p:nvSpPr>
        <p:spPr>
          <a:xfrm>
            <a:off x="7239000" y="2984500"/>
            <a:ext cx="1397000" cy="190500"/>
          </a:xfrm>
          <a:prstGeom prst="rect">
            <a:avLst/>
          </a:prstGeom>
          <a:noFill/>
          <a:ln/>
        </p:spPr>
        <p:txBody>
          <a:bodyPr wrap="square" lIns="0" tIns="0" rIns="0" bIns="0" rtlCol="0" anchor="t"/>
          <a:lstStyle/>
          <a:p>
            <a:pPr algn="l" indent="0" marL="0">
              <a:lnSpc>
                <a:spcPct val="112000"/>
              </a:lnSpc>
              <a:buNone/>
            </a:pPr>
            <a:r>
              <a:rPr lang="en-US" sz="1000" dirty="0">
                <a:solidFill>
                  <a:srgbClr val="3C3C42"/>
                </a:solidFill>
                <a:latin typeface="Consolas" pitchFamily="34" charset="0"/>
                <a:ea typeface="Consolas" pitchFamily="34" charset="-122"/>
                <a:cs typeface="Consolas" pitchFamily="34" charset="-120"/>
              </a:rPr>
              <a:t>INSERT · locked step</a:t>
            </a:r>
            <a:endParaRPr lang="en-US" sz="1000" dirty="0"/>
          </a:p>
        </p:txBody>
      </p:sp>
      <p:sp>
        <p:nvSpPr>
          <p:cNvPr id="29" name="Shape 27"/>
          <p:cNvSpPr/>
          <p:nvPr/>
        </p:nvSpPr>
        <p:spPr>
          <a:xfrm flipH="1">
            <a:off x="3429000" y="3810000"/>
            <a:ext cx="1714500" cy="0"/>
          </a:xfrm>
          <a:prstGeom prst="line">
            <a:avLst/>
          </a:prstGeom>
          <a:noFill/>
          <a:ln w="25400">
            <a:solidFill>
              <a:srgbClr val="D9A91A"/>
            </a:solidFill>
            <a:prstDash val="dash"/>
            <a:tailEnd type="triangle"/>
          </a:ln>
        </p:spPr>
      </p:sp>
      <p:sp>
        <p:nvSpPr>
          <p:cNvPr id="30" name="Text 28"/>
          <p:cNvSpPr txBox="1"/>
          <p:nvPr/>
        </p:nvSpPr>
        <p:spPr>
          <a:xfrm>
            <a:off x="3619500" y="3873500"/>
            <a:ext cx="1460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live push (SSE)</a:t>
            </a:r>
            <a:endParaRPr lang="en-US" sz="1000" dirty="0"/>
          </a:p>
        </p:txBody>
      </p:sp>
      <p:sp>
        <p:nvSpPr>
          <p:cNvPr id="31" name="Shape 29"/>
          <p:cNvSpPr/>
          <p:nvPr/>
        </p:nvSpPr>
        <p:spPr>
          <a:xfrm flipH="1">
            <a:off x="3429000" y="4318000"/>
            <a:ext cx="1714500" cy="889000"/>
          </a:xfrm>
          <a:prstGeom prst="line">
            <a:avLst/>
          </a:prstGeom>
          <a:noFill/>
          <a:ln w="25400">
            <a:solidFill>
              <a:srgbClr val="D9A91A"/>
            </a:solidFill>
            <a:prstDash val="dash"/>
            <a:tailEnd type="triangle"/>
          </a:ln>
        </p:spPr>
      </p:sp>
      <p:sp>
        <p:nvSpPr>
          <p:cNvPr id="32" name="Text 30"/>
          <p:cNvSpPr txBox="1"/>
          <p:nvPr/>
        </p:nvSpPr>
        <p:spPr>
          <a:xfrm>
            <a:off x="4064000" y="4902200"/>
            <a:ext cx="16510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same push, every viewer</a:t>
            </a:r>
            <a:endParaRPr lang="en-US" sz="1000" dirty="0"/>
          </a:p>
        </p:txBody>
      </p:sp>
      <p:sp>
        <p:nvSpPr>
          <p:cNvPr id="33" name="Text 31"/>
          <p:cNvSpPr txBox="1"/>
          <p:nvPr/>
        </p:nvSpPr>
        <p:spPr>
          <a:xfrm>
            <a:off x="5143500" y="5207000"/>
            <a:ext cx="6286500" cy="444500"/>
          </a:xfrm>
          <a:prstGeom prst="rect">
            <a:avLst/>
          </a:prstGeom>
          <a:noFill/>
          <a:ln/>
        </p:spPr>
        <p:txBody>
          <a:bodyPr wrap="square" lIns="0" tIns="0" rIns="0" bIns="0" rtlCol="0" anchor="t"/>
          <a:lstStyle/>
          <a:p>
            <a:pPr algn="l" indent="0" marL="0">
              <a:lnSpc>
                <a:spcPct val="112000"/>
              </a:lnSpc>
              <a:buNone/>
            </a:pPr>
            <a:r>
              <a:rPr lang="en-US" sz="1100" dirty="0">
                <a:solidFill>
                  <a:srgbClr val="3C3C42"/>
                </a:solidFill>
                <a:latin typeface="Consolas" pitchFamily="34" charset="0"/>
                <a:ea typeface="Consolas" pitchFamily="34" charset="-122"/>
                <a:cs typeface="Consolas" pitchFamily="34" charset="-120"/>
              </a:rPr>
              <a:t>1  tap a bay   →   2  POST the booking   →   3  save, or refuse a clash (409)   →   4  push to every screen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13</a:t>
            </a:r>
            <a:pPr algn="r" indent="0" marL="0">
              <a:buNone/>
            </a:pPr>
            <a:r>
              <a:rPr lang="en-US" sz="1000" dirty="0">
                <a:solidFill>
                  <a:srgbClr val="5E5E67"/>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8339791"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315200" y="203200"/>
            <a:ext cx="3352800" cy="279400"/>
          </a:xfrm>
          <a:prstGeom prst="roundRect">
            <a:avLst>
              <a:gd name="adj" fmla="val 50000"/>
            </a:avLst>
          </a:prstGeom>
          <a:solidFill>
            <a:srgbClr val="060608"/>
          </a:solidFill>
          <a:ln w="12700">
            <a:solidFill>
              <a:srgbClr val="3A3A42"/>
            </a:solidFill>
            <a:prstDash val="solid"/>
          </a:ln>
        </p:spPr>
      </p:sp>
      <p:sp>
        <p:nvSpPr>
          <p:cNvPr id="5" name="!!tagdot"/>
          <p:cNvSpPr/>
          <p:nvPr/>
        </p:nvSpPr>
        <p:spPr>
          <a:xfrm>
            <a:off x="74295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543800" y="203200"/>
            <a:ext cx="3098800" cy="279400"/>
          </a:xfrm>
          <a:prstGeom prst="rect">
            <a:avLst/>
          </a:prstGeom>
          <a:noFill/>
          <a:ln/>
        </p:spPr>
        <p:txBody>
          <a:bodyPr wrap="none" lIns="0" tIns="0" rIns="0" bIns="0" rtlCol="0" anchor="ctr"/>
          <a:lstStyle/>
          <a:p>
            <a:pPr indent="0" marL="0">
              <a:buNone/>
            </a:pPr>
            <a:r>
              <a:rPr lang="en-US" sz="900" b="1" dirty="0">
                <a:solidFill>
                  <a:srgbClr val="F0F0F3"/>
                </a:solidFill>
                <a:latin typeface="Consolas" pitchFamily="34" charset="0"/>
                <a:ea typeface="Consolas" pitchFamily="34" charset="-122"/>
                <a:cs typeface="Consolas" pitchFamily="34" charset="-120"/>
              </a:rPr>
              <a:t>Working prototype</a:t>
            </a:r>
            <a:pPr indent="0" marL="0">
              <a:buNone/>
            </a:pPr>
            <a:r>
              <a:rPr lang="en-US" sz="900" dirty="0">
                <a:solidFill>
                  <a:srgbClr val="B7B7BF"/>
                </a:solidFill>
                <a:latin typeface="Consolas" pitchFamily="34" charset="0"/>
                <a:ea typeface="Consolas" pitchFamily="34" charset="-122"/>
                <a:cs typeface="Consolas" pitchFamily="34" charset="-120"/>
              </a:rPr>
              <a:t>  ·  Effort &amp; build quality</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F3CF6B"/>
                </a:solidFill>
                <a:latin typeface="Consolas" pitchFamily="34" charset="0"/>
                <a:ea typeface="Consolas" pitchFamily="34" charset="-122"/>
                <a:cs typeface="Consolas" pitchFamily="34" charset="-120"/>
              </a:rPr>
              <a:t>12</a:t>
            </a:r>
            <a:pPr algn="l" indent="0" marL="0">
              <a:buNone/>
            </a:pPr>
            <a:r>
              <a:rPr lang="en-US" sz="1100" dirty="0">
                <a:solidFill>
                  <a:srgbClr val="8A8A94"/>
                </a:solidFill>
                <a:latin typeface="Consolas" pitchFamily="34" charset="0"/>
                <a:ea typeface="Consolas" pitchFamily="34" charset="-122"/>
                <a:cs typeface="Consolas" pitchFamily="34" charset="-120"/>
              </a:rPr>
              <a:t>  ——  Under the hood</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F0F0F3"/>
                </a:solidFill>
                <a:latin typeface="Segoe UI Semibold" pitchFamily="34" charset="0"/>
                <a:ea typeface="Segoe UI Semibold" pitchFamily="34" charset="-122"/>
                <a:cs typeface="Segoe UI Semibold" pitchFamily="34" charset="-120"/>
              </a:rPr>
              <a:t>Four rules that keep it honest.</a:t>
            </a:r>
            <a:endParaRPr lang="en-US" sz="4400" dirty="0"/>
          </a:p>
        </p:txBody>
      </p:sp>
      <p:sp>
        <p:nvSpPr>
          <p:cNvPr id="9" name="Shape 7"/>
          <p:cNvSpPr/>
          <p:nvPr/>
        </p:nvSpPr>
        <p:spPr>
          <a:xfrm>
            <a:off x="762000" y="2540000"/>
            <a:ext cx="5251450" cy="1689100"/>
          </a:xfrm>
          <a:prstGeom prst="roundRect">
            <a:avLst>
              <a:gd name="adj" fmla="val 9023"/>
            </a:avLst>
          </a:prstGeom>
          <a:solidFill>
            <a:srgbClr val="101014"/>
          </a:solidFill>
          <a:ln w="12700">
            <a:solidFill>
              <a:srgbClr val="26262C"/>
            </a:solidFill>
            <a:prstDash val="solid"/>
          </a:ln>
          <a:effectLst>
            <a:outerShdw sx="100000" sy="100000" kx="0" ky="0" algn="bl" rotWithShape="0" blurRad="177800" dist="76200" dir="5400000">
              <a:srgbClr val="000000">
                <a:alpha val="50000"/>
              </a:srgbClr>
            </a:outerShdw>
          </a:effectLst>
        </p:spPr>
      </p:sp>
      <p:sp>
        <p:nvSpPr>
          <p:cNvPr id="10" name="Text 8"/>
          <p:cNvSpPr txBox="1"/>
          <p:nvPr/>
        </p:nvSpPr>
        <p:spPr>
          <a:xfrm>
            <a:off x="952500" y="27051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F3CF6B"/>
                </a:solidFill>
                <a:latin typeface="Consolas" pitchFamily="34" charset="0"/>
                <a:ea typeface="Consolas" pitchFamily="34" charset="-122"/>
                <a:cs typeface="Consolas" pitchFamily="34" charset="-120"/>
              </a:rPr>
              <a:t>01 · no double booking</a:t>
            </a:r>
            <a:endParaRPr lang="en-US" sz="1000" dirty="0"/>
          </a:p>
        </p:txBody>
      </p:sp>
      <p:sp>
        <p:nvSpPr>
          <p:cNvPr id="11" name="Text 9"/>
          <p:cNvSpPr txBox="1"/>
          <p:nvPr/>
        </p:nvSpPr>
        <p:spPr>
          <a:xfrm>
            <a:off x="952500" y="2908300"/>
            <a:ext cx="1905000" cy="508000"/>
          </a:xfrm>
          <a:prstGeom prst="rect">
            <a:avLst/>
          </a:prstGeom>
          <a:noFill/>
          <a:ln/>
        </p:spPr>
        <p:txBody>
          <a:bodyPr wrap="square" lIns="0" tIns="0" rIns="0" bIns="0" rtlCol="0" anchor="t"/>
          <a:lstStyle/>
          <a:p>
            <a:pPr algn="l" indent="0" marL="0">
              <a:lnSpc>
                <a:spcPct val="100000"/>
              </a:lnSpc>
              <a:buNone/>
            </a:pPr>
            <a:r>
              <a:rPr lang="en-US" sz="1600" spc="-40" kern="0" dirty="0">
                <a:solidFill>
                  <a:srgbClr val="F0F0F3"/>
                </a:solidFill>
                <a:latin typeface="Segoe UI Semibold" pitchFamily="34" charset="0"/>
                <a:ea typeface="Segoe UI Semibold" pitchFamily="34" charset="-122"/>
                <a:cs typeface="Segoe UI Semibold" pitchFamily="34" charset="-120"/>
              </a:rPr>
              <a:t>Two cars can never get one bay.</a:t>
            </a:r>
            <a:endParaRPr lang="en-US" sz="1600" dirty="0"/>
          </a:p>
        </p:txBody>
      </p:sp>
      <p:sp>
        <p:nvSpPr>
          <p:cNvPr id="12" name="Text 10"/>
          <p:cNvSpPr txBox="1"/>
          <p:nvPr/>
        </p:nvSpPr>
        <p:spPr>
          <a:xfrm>
            <a:off x="952500" y="3467100"/>
            <a:ext cx="1905000" cy="6350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Checked inside a locked transaction, and again by a database trigger.</a:t>
            </a:r>
            <a:endParaRPr lang="en-US" sz="1200" dirty="0"/>
          </a:p>
        </p:txBody>
      </p:sp>
      <p:sp>
        <p:nvSpPr>
          <p:cNvPr id="13" name="Shape 11"/>
          <p:cNvSpPr/>
          <p:nvPr/>
        </p:nvSpPr>
        <p:spPr>
          <a:xfrm>
            <a:off x="2984500" y="2730500"/>
            <a:ext cx="2857500" cy="1308100"/>
          </a:xfrm>
          <a:prstGeom prst="roundRect">
            <a:avLst>
              <a:gd name="adj" fmla="val 6796"/>
            </a:avLst>
          </a:prstGeom>
          <a:solidFill>
            <a:srgbClr val="000000"/>
          </a:solidFill>
          <a:ln w="12700">
            <a:solidFill>
              <a:srgbClr val="232329"/>
            </a:solidFill>
            <a:prstDash val="solid"/>
          </a:ln>
        </p:spPr>
      </p:sp>
      <p:sp>
        <p:nvSpPr>
          <p:cNvPr id="14" name="Text 12"/>
          <p:cNvSpPr txBox="1"/>
          <p:nvPr/>
        </p:nvSpPr>
        <p:spPr>
          <a:xfrm>
            <a:off x="3124200" y="2844800"/>
            <a:ext cx="2603500" cy="1079500"/>
          </a:xfrm>
          <a:prstGeom prst="rect">
            <a:avLst/>
          </a:prstGeom>
          <a:noFill/>
          <a:ln/>
        </p:spPr>
        <p:txBody>
          <a:bodyPr wrap="square" lIns="0" tIns="0" rIns="0" bIns="0" rtlCol="0" anchor="t"/>
          <a:lstStyle/>
          <a:p>
            <a:pPr indent="0" marL="0">
              <a:lnSpc>
                <a:spcPct val="125000"/>
              </a:lnSpc>
              <a:buNone/>
            </a:pPr>
            <a:r>
              <a:rPr lang="en-US" sz="1000" dirty="0">
                <a:solidFill>
                  <a:srgbClr val="6E6E78"/>
                </a:solidFill>
                <a:latin typeface="Consolas" pitchFamily="34" charset="0"/>
                <a:ea typeface="Consolas" pitchFamily="34" charset="-122"/>
                <a:cs typeface="Consolas" pitchFamily="34" charset="-120"/>
              </a:rPr>
              <a:t># two windows overlap when</a:t>
            </a:r>
            <a:endParaRPr lang="en-US" sz="1000" dirty="0"/>
          </a:p>
          <a:p>
            <a:pPr indent="0" marL="0">
              <a:lnSpc>
                <a:spcPct val="125000"/>
              </a:lnSpc>
              <a:buNone/>
            </a:pPr>
            <a:r>
              <a:rPr lang="en-US" sz="1000" dirty="0">
                <a:solidFill>
                  <a:srgbClr val="FFD75A"/>
                </a:solidFill>
                <a:latin typeface="Consolas" pitchFamily="34" charset="0"/>
                <a:ea typeface="Consolas" pitchFamily="34" charset="-122"/>
                <a:cs typeface="Consolas" pitchFamily="34" charset="-120"/>
              </a:rPr>
              <a:t>if </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a.start &lt; b.end </a:t>
            </a:r>
            <a:pPr indent="0" marL="0">
              <a:lnSpc>
                <a:spcPct val="125000"/>
              </a:lnSpc>
              <a:buNone/>
            </a:pPr>
            <a:r>
              <a:rPr lang="en-US" sz="1000" dirty="0">
                <a:solidFill>
                  <a:srgbClr val="FFD75A"/>
                </a:solidFill>
                <a:latin typeface="Consolas" pitchFamily="34" charset="0"/>
                <a:ea typeface="Consolas" pitchFamily="34" charset="-122"/>
                <a:cs typeface="Consolas" pitchFamily="34" charset="-120"/>
              </a:rPr>
              <a:t>and </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b.start &lt; a.end:</a:t>
            </a:r>
            <a:endParaRPr lang="en-US" sz="1000" dirty="0"/>
          </a:p>
          <a:p>
            <a:pPr indent="0" marL="0">
              <a:lnSpc>
                <a:spcPct val="125000"/>
              </a:lnSpc>
              <a:buNone/>
            </a:pPr>
            <a:r>
              <a:rPr lang="en-US" sz="1000" dirty="0">
                <a:solidFill>
                  <a:srgbClr val="FFD75A"/>
                </a:solidFill>
                <a:latin typeface="Consolas" pitchFamily="34" charset="0"/>
                <a:ea typeface="Consolas" pitchFamily="34" charset="-122"/>
                <a:cs typeface="Consolas" pitchFamily="34" charset="-120"/>
              </a:rPr>
              <a:t>    raise </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ApiError(</a:t>
            </a:r>
            <a:pPr indent="0" marL="0">
              <a:lnSpc>
                <a:spcPct val="125000"/>
              </a:lnSpc>
              <a:buNone/>
            </a:pPr>
            <a:r>
              <a:rPr lang="en-US" sz="1000" dirty="0">
                <a:solidFill>
                  <a:srgbClr val="F3CF6B"/>
                </a:solidFill>
                <a:latin typeface="Consolas" pitchFamily="34" charset="0"/>
                <a:ea typeface="Consolas" pitchFamily="34" charset="-122"/>
                <a:cs typeface="Consolas" pitchFamily="34" charset="-120"/>
              </a:rPr>
              <a:t>409</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 </a:t>
            </a:r>
            <a:pPr indent="0" marL="0">
              <a:lnSpc>
                <a:spcPct val="125000"/>
              </a:lnSpc>
              <a:buNone/>
            </a:pPr>
            <a:r>
              <a:rPr lang="en-US" sz="1000" dirty="0">
                <a:solidFill>
                  <a:srgbClr val="C8E6A0"/>
                </a:solidFill>
                <a:latin typeface="Consolas" pitchFamily="34" charset="0"/>
                <a:ea typeface="Consolas" pitchFamily="34" charset="-122"/>
                <a:cs typeface="Consolas" pitchFamily="34" charset="-120"/>
              </a:rPr>
              <a:t>"overlap"</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a:t>
            </a:r>
            <a:endParaRPr lang="en-US" sz="1000" dirty="0"/>
          </a:p>
        </p:txBody>
      </p:sp>
      <p:sp>
        <p:nvSpPr>
          <p:cNvPr id="15" name="Shape 13"/>
          <p:cNvSpPr/>
          <p:nvPr/>
        </p:nvSpPr>
        <p:spPr>
          <a:xfrm>
            <a:off x="6178550" y="2540000"/>
            <a:ext cx="5251450" cy="1689100"/>
          </a:xfrm>
          <a:prstGeom prst="roundRect">
            <a:avLst>
              <a:gd name="adj" fmla="val 9023"/>
            </a:avLst>
          </a:prstGeom>
          <a:solidFill>
            <a:srgbClr val="101014"/>
          </a:solidFill>
          <a:ln w="12700">
            <a:solidFill>
              <a:srgbClr val="26262C"/>
            </a:solidFill>
            <a:prstDash val="solid"/>
          </a:ln>
          <a:effectLst>
            <a:outerShdw sx="100000" sy="100000" kx="0" ky="0" algn="bl" rotWithShape="0" blurRad="177800" dist="76200" dir="5400000">
              <a:srgbClr val="000000">
                <a:alpha val="50000"/>
              </a:srgbClr>
            </a:outerShdw>
          </a:effectLst>
        </p:spPr>
      </p:sp>
      <p:sp>
        <p:nvSpPr>
          <p:cNvPr id="16" name="Text 14"/>
          <p:cNvSpPr txBox="1"/>
          <p:nvPr/>
        </p:nvSpPr>
        <p:spPr>
          <a:xfrm>
            <a:off x="6369050" y="27051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F3CF6B"/>
                </a:solidFill>
                <a:latin typeface="Consolas" pitchFamily="34" charset="0"/>
                <a:ea typeface="Consolas" pitchFamily="34" charset="-122"/>
                <a:cs typeface="Consolas" pitchFamily="34" charset="-120"/>
              </a:rPr>
              <a:t>02 · status from time</a:t>
            </a:r>
            <a:endParaRPr lang="en-US" sz="1000" dirty="0"/>
          </a:p>
        </p:txBody>
      </p:sp>
      <p:sp>
        <p:nvSpPr>
          <p:cNvPr id="17" name="Text 15"/>
          <p:cNvSpPr txBox="1"/>
          <p:nvPr/>
        </p:nvSpPr>
        <p:spPr>
          <a:xfrm>
            <a:off x="6369050" y="2908300"/>
            <a:ext cx="1905000" cy="508000"/>
          </a:xfrm>
          <a:prstGeom prst="rect">
            <a:avLst/>
          </a:prstGeom>
          <a:noFill/>
          <a:ln/>
        </p:spPr>
        <p:txBody>
          <a:bodyPr wrap="square" lIns="0" tIns="0" rIns="0" bIns="0" rtlCol="0" anchor="t"/>
          <a:lstStyle/>
          <a:p>
            <a:pPr algn="l" indent="0" marL="0">
              <a:lnSpc>
                <a:spcPct val="100000"/>
              </a:lnSpc>
              <a:buNone/>
            </a:pPr>
            <a:r>
              <a:rPr lang="en-US" sz="1600" spc="-40" kern="0" dirty="0">
                <a:solidFill>
                  <a:srgbClr val="F0F0F3"/>
                </a:solidFill>
                <a:latin typeface="Segoe UI Semibold" pitchFamily="34" charset="0"/>
                <a:ea typeface="Segoe UI Semibold" pitchFamily="34" charset="-122"/>
                <a:cs typeface="Segoe UI Semibold" pitchFamily="34" charset="-120"/>
              </a:rPr>
              <a:t>Every bay knows what it is.</a:t>
            </a:r>
            <a:endParaRPr lang="en-US" sz="1600" dirty="0"/>
          </a:p>
        </p:txBody>
      </p:sp>
      <p:sp>
        <p:nvSpPr>
          <p:cNvPr id="18" name="Text 16"/>
          <p:cNvSpPr txBox="1"/>
          <p:nvPr/>
        </p:nvSpPr>
        <p:spPr>
          <a:xfrm>
            <a:off x="6369050" y="3467100"/>
            <a:ext cx="1905000" cy="6350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Worked out from the clock and the day's bookings, never typed in by hand.</a:t>
            </a:r>
            <a:endParaRPr lang="en-US" sz="1200" dirty="0"/>
          </a:p>
        </p:txBody>
      </p:sp>
      <p:sp>
        <p:nvSpPr>
          <p:cNvPr id="19" name="Shape 17"/>
          <p:cNvSpPr/>
          <p:nvPr/>
        </p:nvSpPr>
        <p:spPr>
          <a:xfrm>
            <a:off x="8401050" y="2730500"/>
            <a:ext cx="2857500" cy="1308100"/>
          </a:xfrm>
          <a:prstGeom prst="roundRect">
            <a:avLst>
              <a:gd name="adj" fmla="val 6796"/>
            </a:avLst>
          </a:prstGeom>
          <a:solidFill>
            <a:srgbClr val="000000"/>
          </a:solidFill>
          <a:ln w="12700">
            <a:solidFill>
              <a:srgbClr val="232329"/>
            </a:solidFill>
            <a:prstDash val="solid"/>
          </a:ln>
        </p:spPr>
      </p:sp>
      <p:sp>
        <p:nvSpPr>
          <p:cNvPr id="20" name="Text 18"/>
          <p:cNvSpPr txBox="1"/>
          <p:nvPr/>
        </p:nvSpPr>
        <p:spPr>
          <a:xfrm>
            <a:off x="8540750" y="2844800"/>
            <a:ext cx="2603500" cy="1079500"/>
          </a:xfrm>
          <a:prstGeom prst="rect">
            <a:avLst/>
          </a:prstGeom>
          <a:noFill/>
          <a:ln/>
        </p:spPr>
        <p:txBody>
          <a:bodyPr wrap="square" lIns="0" tIns="0" rIns="0" bIns="0" rtlCol="0" anchor="t"/>
          <a:lstStyle/>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free      </a:t>
            </a:r>
            <a:pPr indent="0" marL="0">
              <a:lnSpc>
                <a:spcPct val="125000"/>
              </a:lnSpc>
              <a:buNone/>
            </a:pPr>
            <a:r>
              <a:rPr lang="en-US" sz="1000" dirty="0">
                <a:solidFill>
                  <a:srgbClr val="6E6E78"/>
                </a:solidFill>
                <a:latin typeface="Consolas" pitchFamily="34" charset="0"/>
                <a:ea typeface="Consolas" pitchFamily="34" charset="-122"/>
                <a:cs typeface="Consolas" pitchFamily="34" charset="-120"/>
              </a:rPr>
              <a:t>nothing booked now</a:t>
            </a:r>
            <a:endParaRPr lang="en-US" sz="1000" dirty="0"/>
          </a:p>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booked    </a:t>
            </a:r>
            <a:pPr indent="0" marL="0">
              <a:lnSpc>
                <a:spcPct val="125000"/>
              </a:lnSpc>
              <a:buNone/>
            </a:pPr>
            <a:r>
              <a:rPr lang="en-US" sz="1000" dirty="0">
                <a:solidFill>
                  <a:srgbClr val="6E6E78"/>
                </a:solidFill>
                <a:latin typeface="Consolas" pitchFamily="34" charset="0"/>
                <a:ea typeface="Consolas" pitchFamily="34" charset="-122"/>
                <a:cs typeface="Consolas" pitchFamily="34" charset="-120"/>
              </a:rPr>
              <a:t>a car is in it</a:t>
            </a:r>
            <a:endParaRPr lang="en-US" sz="1000" dirty="0"/>
          </a:p>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ending    </a:t>
            </a:r>
            <a:pPr indent="0" marL="0">
              <a:lnSpc>
                <a:spcPct val="125000"/>
              </a:lnSpc>
              <a:buNone/>
            </a:pPr>
            <a:r>
              <a:rPr lang="en-US" sz="1000" dirty="0">
                <a:solidFill>
                  <a:srgbClr val="6E6E78"/>
                </a:solidFill>
                <a:latin typeface="Consolas" pitchFamily="34" charset="0"/>
                <a:ea typeface="Consolas" pitchFamily="34" charset="-122"/>
                <a:cs typeface="Consolas" pitchFamily="34" charset="-120"/>
              </a:rPr>
              <a:t>due out in ≤ 20 min</a:t>
            </a:r>
            <a:endParaRPr lang="en-US" sz="1000" dirty="0"/>
          </a:p>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reserved  </a:t>
            </a:r>
            <a:pPr indent="0" marL="0">
              <a:lnSpc>
                <a:spcPct val="125000"/>
              </a:lnSpc>
              <a:buNone/>
            </a:pPr>
            <a:r>
              <a:rPr lang="en-US" sz="1000" dirty="0">
                <a:solidFill>
                  <a:srgbClr val="6E6E78"/>
                </a:solidFill>
                <a:latin typeface="Consolas" pitchFamily="34" charset="0"/>
                <a:ea typeface="Consolas" pitchFamily="34" charset="-122"/>
                <a:cs typeface="Consolas" pitchFamily="34" charset="-120"/>
              </a:rPr>
              <a:t>due in within 30 min</a:t>
            </a:r>
            <a:endParaRPr lang="en-US" sz="1000" dirty="0"/>
          </a:p>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yours     </a:t>
            </a:r>
            <a:pPr indent="0" marL="0">
              <a:lnSpc>
                <a:spcPct val="125000"/>
              </a:lnSpc>
              <a:buNone/>
            </a:pPr>
            <a:r>
              <a:rPr lang="en-US" sz="1000" dirty="0">
                <a:solidFill>
                  <a:srgbClr val="6E6E78"/>
                </a:solidFill>
                <a:latin typeface="Consolas" pitchFamily="34" charset="0"/>
                <a:ea typeface="Consolas" pitchFamily="34" charset="-122"/>
                <a:cs typeface="Consolas" pitchFamily="34" charset="-120"/>
              </a:rPr>
              <a:t>booked from this device</a:t>
            </a:r>
            <a:endParaRPr lang="en-US" sz="1000" dirty="0"/>
          </a:p>
        </p:txBody>
      </p:sp>
      <p:sp>
        <p:nvSpPr>
          <p:cNvPr id="21" name="Shape 19"/>
          <p:cNvSpPr/>
          <p:nvPr/>
        </p:nvSpPr>
        <p:spPr>
          <a:xfrm>
            <a:off x="762000" y="4381500"/>
            <a:ext cx="5251450" cy="1689100"/>
          </a:xfrm>
          <a:prstGeom prst="roundRect">
            <a:avLst>
              <a:gd name="adj" fmla="val 9023"/>
            </a:avLst>
          </a:prstGeom>
          <a:solidFill>
            <a:srgbClr val="101014"/>
          </a:solidFill>
          <a:ln w="12700">
            <a:solidFill>
              <a:srgbClr val="26262C"/>
            </a:solidFill>
            <a:prstDash val="solid"/>
          </a:ln>
          <a:effectLst>
            <a:outerShdw sx="100000" sy="100000" kx="0" ky="0" algn="bl" rotWithShape="0" blurRad="177800" dist="76200" dir="5400000">
              <a:srgbClr val="000000">
                <a:alpha val="50000"/>
              </a:srgbClr>
            </a:outerShdw>
          </a:effectLst>
        </p:spPr>
      </p:sp>
      <p:sp>
        <p:nvSpPr>
          <p:cNvPr id="22" name="Text 20"/>
          <p:cNvSpPr txBox="1"/>
          <p:nvPr/>
        </p:nvSpPr>
        <p:spPr>
          <a:xfrm>
            <a:off x="952500" y="45466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F3CF6B"/>
                </a:solidFill>
                <a:latin typeface="Consolas" pitchFamily="34" charset="0"/>
                <a:ea typeface="Consolas" pitchFamily="34" charset="-122"/>
                <a:cs typeface="Consolas" pitchFamily="34" charset="-120"/>
              </a:rPr>
              <a:t>03 · live without refresh</a:t>
            </a:r>
            <a:endParaRPr lang="en-US" sz="1000" dirty="0"/>
          </a:p>
        </p:txBody>
      </p:sp>
      <p:sp>
        <p:nvSpPr>
          <p:cNvPr id="23" name="Text 21"/>
          <p:cNvSpPr txBox="1"/>
          <p:nvPr/>
        </p:nvSpPr>
        <p:spPr>
          <a:xfrm>
            <a:off x="952500" y="4749800"/>
            <a:ext cx="1905000" cy="508000"/>
          </a:xfrm>
          <a:prstGeom prst="rect">
            <a:avLst/>
          </a:prstGeom>
          <a:noFill/>
          <a:ln/>
        </p:spPr>
        <p:txBody>
          <a:bodyPr wrap="square" lIns="0" tIns="0" rIns="0" bIns="0" rtlCol="0" anchor="t"/>
          <a:lstStyle/>
          <a:p>
            <a:pPr algn="l" indent="0" marL="0">
              <a:lnSpc>
                <a:spcPct val="100000"/>
              </a:lnSpc>
              <a:buNone/>
            </a:pPr>
            <a:r>
              <a:rPr lang="en-US" sz="1600" spc="-40" kern="0" dirty="0">
                <a:solidFill>
                  <a:srgbClr val="F0F0F3"/>
                </a:solidFill>
                <a:latin typeface="Segoe UI Semibold" pitchFamily="34" charset="0"/>
                <a:ea typeface="Segoe UI Semibold" pitchFamily="34" charset="-122"/>
                <a:cs typeface="Segoe UI Semibold" pitchFamily="34" charset="-120"/>
              </a:rPr>
              <a:t>Every screen updates at once.</a:t>
            </a:r>
            <a:endParaRPr lang="en-US" sz="1600" dirty="0"/>
          </a:p>
        </p:txBody>
      </p:sp>
      <p:sp>
        <p:nvSpPr>
          <p:cNvPr id="24" name="Text 22"/>
          <p:cNvSpPr txBox="1"/>
          <p:nvPr/>
        </p:nvSpPr>
        <p:spPr>
          <a:xfrm>
            <a:off x="952500" y="5308600"/>
            <a:ext cx="1905000" cy="6350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One open connection per page. If it drops, the page reconnects and catches up.</a:t>
            </a:r>
            <a:endParaRPr lang="en-US" sz="1200" dirty="0"/>
          </a:p>
        </p:txBody>
      </p:sp>
      <p:sp>
        <p:nvSpPr>
          <p:cNvPr id="25" name="Shape 23"/>
          <p:cNvSpPr/>
          <p:nvPr/>
        </p:nvSpPr>
        <p:spPr>
          <a:xfrm>
            <a:off x="2984500" y="4572000"/>
            <a:ext cx="2857500" cy="1308100"/>
          </a:xfrm>
          <a:prstGeom prst="roundRect">
            <a:avLst>
              <a:gd name="adj" fmla="val 6796"/>
            </a:avLst>
          </a:prstGeom>
          <a:solidFill>
            <a:srgbClr val="000000"/>
          </a:solidFill>
          <a:ln w="12700">
            <a:solidFill>
              <a:srgbClr val="232329"/>
            </a:solidFill>
            <a:prstDash val="solid"/>
          </a:ln>
        </p:spPr>
      </p:sp>
      <p:sp>
        <p:nvSpPr>
          <p:cNvPr id="26" name="Text 24"/>
          <p:cNvSpPr txBox="1"/>
          <p:nvPr/>
        </p:nvSpPr>
        <p:spPr>
          <a:xfrm>
            <a:off x="3124200" y="4686300"/>
            <a:ext cx="2603500" cy="1079500"/>
          </a:xfrm>
          <a:prstGeom prst="rect">
            <a:avLst/>
          </a:prstGeom>
          <a:noFill/>
          <a:ln/>
        </p:spPr>
        <p:txBody>
          <a:bodyPr wrap="square" lIns="0" tIns="0" rIns="0" bIns="0" rtlCol="0" anchor="t"/>
          <a:lstStyle/>
          <a:p>
            <a:pPr indent="0" marL="0">
              <a:lnSpc>
                <a:spcPct val="125000"/>
              </a:lnSpc>
              <a:buNone/>
            </a:pPr>
            <a:r>
              <a:rPr lang="en-US" sz="1000" dirty="0">
                <a:solidFill>
                  <a:srgbClr val="FFD75A"/>
                </a:solidFill>
                <a:latin typeface="Consolas" pitchFamily="34" charset="0"/>
                <a:ea typeface="Consolas" pitchFamily="34" charset="-122"/>
                <a:cs typeface="Consolas" pitchFamily="34" charset="-120"/>
              </a:rPr>
              <a:t>Content-Type</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 text/event-stream</a:t>
            </a:r>
            <a:endParaRPr lang="en-US" sz="1000" dirty="0"/>
          </a:p>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 </a:t>
            </a:r>
            <a:endParaRPr lang="en-US" sz="1000" dirty="0"/>
          </a:p>
          <a:p>
            <a:pPr indent="0" marL="0">
              <a:lnSpc>
                <a:spcPct val="125000"/>
              </a:lnSpc>
              <a:buNone/>
            </a:pPr>
            <a:r>
              <a:rPr lang="en-US" sz="1000" dirty="0">
                <a:solidFill>
                  <a:srgbClr val="FFD75A"/>
                </a:solidFill>
                <a:latin typeface="Consolas" pitchFamily="34" charset="0"/>
                <a:ea typeface="Consolas" pitchFamily="34" charset="-122"/>
                <a:cs typeface="Consolas" pitchFamily="34" charset="-120"/>
              </a:rPr>
              <a:t>event</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 change</a:t>
            </a:r>
            <a:endParaRPr lang="en-US" sz="1000" dirty="0"/>
          </a:p>
          <a:p>
            <a:pPr indent="0" marL="0">
              <a:lnSpc>
                <a:spcPct val="125000"/>
              </a:lnSpc>
              <a:buNone/>
            </a:pPr>
            <a:r>
              <a:rPr lang="en-US" sz="1000" dirty="0">
                <a:solidFill>
                  <a:srgbClr val="FFD75A"/>
                </a:solidFill>
                <a:latin typeface="Consolas" pitchFamily="34" charset="0"/>
                <a:ea typeface="Consolas" pitchFamily="34" charset="-122"/>
                <a:cs typeface="Consolas" pitchFamily="34" charset="-120"/>
              </a:rPr>
              <a:t>data</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 {"booking": {"bayId": "A-07", …}}</a:t>
            </a:r>
            <a:endParaRPr lang="en-US" sz="1000" dirty="0"/>
          </a:p>
        </p:txBody>
      </p:sp>
      <p:sp>
        <p:nvSpPr>
          <p:cNvPr id="27" name="Shape 25"/>
          <p:cNvSpPr/>
          <p:nvPr/>
        </p:nvSpPr>
        <p:spPr>
          <a:xfrm>
            <a:off x="6178550" y="4381500"/>
            <a:ext cx="5251450" cy="1689100"/>
          </a:xfrm>
          <a:prstGeom prst="roundRect">
            <a:avLst>
              <a:gd name="adj" fmla="val 9023"/>
            </a:avLst>
          </a:prstGeom>
          <a:solidFill>
            <a:srgbClr val="101014"/>
          </a:solidFill>
          <a:ln w="12700">
            <a:solidFill>
              <a:srgbClr val="26262C"/>
            </a:solidFill>
            <a:prstDash val="solid"/>
          </a:ln>
          <a:effectLst>
            <a:outerShdw sx="100000" sy="100000" kx="0" ky="0" algn="bl" rotWithShape="0" blurRad="177800" dist="76200" dir="5400000">
              <a:srgbClr val="000000">
                <a:alpha val="50000"/>
              </a:srgbClr>
            </a:outerShdw>
          </a:effectLst>
        </p:spPr>
      </p:sp>
      <p:sp>
        <p:nvSpPr>
          <p:cNvPr id="28" name="Text 26"/>
          <p:cNvSpPr txBox="1"/>
          <p:nvPr/>
        </p:nvSpPr>
        <p:spPr>
          <a:xfrm>
            <a:off x="6369050" y="45466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F3CF6B"/>
                </a:solidFill>
                <a:latin typeface="Consolas" pitchFamily="34" charset="0"/>
                <a:ea typeface="Consolas" pitchFamily="34" charset="-122"/>
                <a:cs typeface="Consolas" pitchFamily="34" charset="-120"/>
              </a:rPr>
              <a:t>04 · private by default</a:t>
            </a:r>
            <a:endParaRPr lang="en-US" sz="1000" dirty="0"/>
          </a:p>
        </p:txBody>
      </p:sp>
      <p:sp>
        <p:nvSpPr>
          <p:cNvPr id="29" name="Text 27"/>
          <p:cNvSpPr txBox="1"/>
          <p:nvPr/>
        </p:nvSpPr>
        <p:spPr>
          <a:xfrm>
            <a:off x="6369050" y="4749800"/>
            <a:ext cx="1905000" cy="508000"/>
          </a:xfrm>
          <a:prstGeom prst="rect">
            <a:avLst/>
          </a:prstGeom>
          <a:noFill/>
          <a:ln/>
        </p:spPr>
        <p:txBody>
          <a:bodyPr wrap="square" lIns="0" tIns="0" rIns="0" bIns="0" rtlCol="0" anchor="t"/>
          <a:lstStyle/>
          <a:p>
            <a:pPr algn="l" indent="0" marL="0">
              <a:lnSpc>
                <a:spcPct val="100000"/>
              </a:lnSpc>
              <a:buNone/>
            </a:pPr>
            <a:r>
              <a:rPr lang="en-US" sz="1600" spc="-40" kern="0" dirty="0">
                <a:solidFill>
                  <a:srgbClr val="F0F0F3"/>
                </a:solidFill>
                <a:latin typeface="Segoe UI Semibold" pitchFamily="34" charset="0"/>
                <a:ea typeface="Segoe UI Semibold" pitchFamily="34" charset="-122"/>
                <a:cs typeface="Segoe UI Semibold" pitchFamily="34" charset="-120"/>
              </a:rPr>
              <a:t>No sign-up. No plates on show.</a:t>
            </a:r>
            <a:endParaRPr lang="en-US" sz="1600" dirty="0"/>
          </a:p>
        </p:txBody>
      </p:sp>
      <p:sp>
        <p:nvSpPr>
          <p:cNvPr id="30" name="Text 28"/>
          <p:cNvSpPr txBox="1"/>
          <p:nvPr/>
        </p:nvSpPr>
        <p:spPr>
          <a:xfrm>
            <a:off x="6369050" y="5308600"/>
            <a:ext cx="1905000" cy="6350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A random device ID marks your bookings, and only its hash is stored.</a:t>
            </a:r>
            <a:endParaRPr lang="en-US" sz="1200" dirty="0"/>
          </a:p>
        </p:txBody>
      </p:sp>
      <p:sp>
        <p:nvSpPr>
          <p:cNvPr id="31" name="Shape 29"/>
          <p:cNvSpPr/>
          <p:nvPr/>
        </p:nvSpPr>
        <p:spPr>
          <a:xfrm>
            <a:off x="8401050" y="4572000"/>
            <a:ext cx="2857500" cy="1308100"/>
          </a:xfrm>
          <a:prstGeom prst="roundRect">
            <a:avLst>
              <a:gd name="adj" fmla="val 6796"/>
            </a:avLst>
          </a:prstGeom>
          <a:solidFill>
            <a:srgbClr val="000000"/>
          </a:solidFill>
          <a:ln w="12700">
            <a:solidFill>
              <a:srgbClr val="232329"/>
            </a:solidFill>
            <a:prstDash val="solid"/>
          </a:ln>
        </p:spPr>
      </p:sp>
      <p:sp>
        <p:nvSpPr>
          <p:cNvPr id="32" name="Text 30"/>
          <p:cNvSpPr txBox="1"/>
          <p:nvPr/>
        </p:nvSpPr>
        <p:spPr>
          <a:xfrm>
            <a:off x="8540750" y="4686300"/>
            <a:ext cx="2603500" cy="1079500"/>
          </a:xfrm>
          <a:prstGeom prst="rect">
            <a:avLst/>
          </a:prstGeom>
          <a:noFill/>
          <a:ln/>
        </p:spPr>
        <p:txBody>
          <a:bodyPr wrap="square" lIns="0" tIns="0" rIns="0" bIns="0" rtlCol="0" anchor="t"/>
          <a:lstStyle/>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owner = sha256(device_id)</a:t>
            </a:r>
            <a:endParaRPr lang="en-US" sz="1000" dirty="0"/>
          </a:p>
          <a:p>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 </a:t>
            </a:r>
            <a:endParaRPr lang="en-US" sz="1000" dirty="0"/>
          </a:p>
          <a:p>
            <a:pPr indent="0" marL="0">
              <a:lnSpc>
                <a:spcPct val="125000"/>
              </a:lnSpc>
              <a:buNone/>
            </a:pPr>
            <a:r>
              <a:rPr lang="en-US" sz="1000" dirty="0">
                <a:solidFill>
                  <a:srgbClr val="6E6E78"/>
                </a:solidFill>
                <a:latin typeface="Consolas" pitchFamily="34" charset="0"/>
                <a:ea typeface="Consolas" pitchFamily="34" charset="-122"/>
                <a:cs typeface="Consolas" pitchFamily="34" charset="-120"/>
              </a:rPr>
              <a:t># other people's plates</a:t>
            </a:r>
            <a:endParaRPr lang="en-US" sz="1000" dirty="0"/>
          </a:p>
          <a:p>
            <a:pPr indent="0" marL="0">
              <a:lnSpc>
                <a:spcPct val="125000"/>
              </a:lnSpc>
              <a:buNone/>
            </a:pPr>
            <a:r>
              <a:rPr lang="en-US" sz="1000" dirty="0">
                <a:solidFill>
                  <a:srgbClr val="C8E6A0"/>
                </a:solidFill>
                <a:latin typeface="Consolas" pitchFamily="34" charset="0"/>
                <a:ea typeface="Consolas" pitchFamily="34" charset="-122"/>
                <a:cs typeface="Consolas" pitchFamily="34" charset="-120"/>
              </a:rPr>
              <a:t>"UP14 AB 4821"</a:t>
            </a:r>
            <a:pPr indent="0" marL="0">
              <a:lnSpc>
                <a:spcPct val="125000"/>
              </a:lnSpc>
              <a:buNone/>
            </a:pPr>
            <a:r>
              <a:rPr lang="en-US" sz="1000" dirty="0">
                <a:solidFill>
                  <a:srgbClr val="D9D9DE"/>
                </a:solidFill>
                <a:latin typeface="Consolas" pitchFamily="34" charset="0"/>
                <a:ea typeface="Consolas" pitchFamily="34" charset="-122"/>
                <a:cs typeface="Consolas" pitchFamily="34" charset="-120"/>
              </a:rPr>
              <a:t>  →  </a:t>
            </a:r>
            <a:pPr indent="0" marL="0">
              <a:lnSpc>
                <a:spcPct val="125000"/>
              </a:lnSpc>
              <a:buNone/>
            </a:pPr>
            <a:r>
              <a:rPr lang="en-US" sz="1000" dirty="0">
                <a:solidFill>
                  <a:srgbClr val="C8E6A0"/>
                </a:solidFill>
                <a:latin typeface="Consolas" pitchFamily="34" charset="0"/>
                <a:ea typeface="Consolas" pitchFamily="34" charset="-122"/>
                <a:cs typeface="Consolas" pitchFamily="34" charset="-120"/>
              </a:rPr>
              <a:t>"UP14 •• 4821"</a:t>
            </a:r>
            <a:endParaRPr lang="en-US" sz="1000" dirty="0"/>
          </a:p>
        </p:txBody>
      </p:sp>
    </p:spTree>
  </p:cSld>
  <p:clrMapOvr>
    <a:masterClrMapping/>
  </p:clrMapOvr>
  <p:transition xmlns:p14="http://schemas.microsoft.com/office/powerpoint/2010/main" spd="slow" p14:dur="1100">
    <p:fade thruBlk="1"/>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14</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8997203"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6426200" y="203200"/>
            <a:ext cx="42418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65405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6654800" y="203200"/>
            <a:ext cx="39878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Impact value</a:t>
            </a:r>
            <a:pPr indent="0" marL="0">
              <a:buNone/>
            </a:pPr>
            <a:r>
              <a:rPr lang="en-US" sz="900" dirty="0">
                <a:solidFill>
                  <a:srgbClr val="3C3C42"/>
                </a:solidFill>
                <a:latin typeface="Consolas" pitchFamily="34" charset="0"/>
                <a:ea typeface="Consolas" pitchFamily="34" charset="-122"/>
                <a:cs typeface="Consolas" pitchFamily="34" charset="-120"/>
              </a:rPr>
              <a:t>  ·  Relevance to society, environment &amp; SDGs</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13</a:t>
            </a:r>
            <a:pPr algn="l" indent="0" marL="0">
              <a:buNone/>
            </a:pPr>
            <a:r>
              <a:rPr lang="en-US" sz="1100" dirty="0">
                <a:solidFill>
                  <a:srgbClr val="62626A"/>
                </a:solidFill>
                <a:latin typeface="Consolas" pitchFamily="34" charset="0"/>
                <a:ea typeface="Consolas" pitchFamily="34" charset="-122"/>
                <a:cs typeface="Consolas" pitchFamily="34" charset="-120"/>
              </a:rPr>
              <a:t>  ——  Impact</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Less circling, cleaner air.</a:t>
            </a:r>
            <a:endParaRPr lang="en-US" sz="4400" dirty="0"/>
          </a:p>
        </p:txBody>
      </p:sp>
      <p:sp>
        <p:nvSpPr>
          <p:cNvPr id="9" name="!!card0"/>
          <p:cNvSpPr/>
          <p:nvPr/>
        </p:nvSpPr>
        <p:spPr>
          <a:xfrm>
            <a:off x="762000" y="2476500"/>
            <a:ext cx="3454400" cy="2540000"/>
          </a:xfrm>
          <a:prstGeom prst="roundRect">
            <a:avLst>
              <a:gd name="adj" fmla="val 6000"/>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Text 8"/>
          <p:cNvSpPr txBox="1"/>
          <p:nvPr/>
        </p:nvSpPr>
        <p:spPr>
          <a:xfrm>
            <a:off x="977900" y="2603500"/>
            <a:ext cx="3048000" cy="762000"/>
          </a:xfrm>
          <a:prstGeom prst="rect">
            <a:avLst/>
          </a:prstGeom>
          <a:noFill/>
          <a:ln/>
        </p:spPr>
        <p:txBody>
          <a:bodyPr wrap="square" lIns="0" tIns="0" rIns="0" bIns="0" rtlCol="0" anchor="b"/>
          <a:lstStyle/>
          <a:p>
            <a:pPr algn="l" indent="0" marL="0">
              <a:lnSpc>
                <a:spcPct val="90000"/>
              </a:lnSpc>
              <a:buNone/>
            </a:pPr>
            <a:r>
              <a:rPr lang="en-US" sz="6000" spc="-300" kern="0" dirty="0">
                <a:solidFill>
                  <a:srgbClr val="121214"/>
                </a:solidFill>
                <a:latin typeface="Segoe UI Semibold" pitchFamily="34" charset="0"/>
                <a:ea typeface="Segoe UI Semibold" pitchFamily="34" charset="-122"/>
                <a:cs typeface="Segoe UI Semibold" pitchFamily="34" charset="-120"/>
              </a:rPr>
              <a:t>11</a:t>
            </a:r>
            <a:pPr algn="l" indent="0" marL="0">
              <a:lnSpc>
                <a:spcPct val="90000"/>
              </a:lnSpc>
              <a:buNone/>
            </a:pPr>
            <a:r>
              <a:rPr lang="en-US" sz="1000" dirty="0">
                <a:solidFill>
                  <a:srgbClr val="8A6400"/>
                </a:solidFill>
                <a:latin typeface="Consolas" pitchFamily="34" charset="0"/>
                <a:ea typeface="Consolas" pitchFamily="34" charset="-122"/>
                <a:cs typeface="Consolas" pitchFamily="34" charset="-120"/>
              </a:rPr>
              <a:t>  SDG</a:t>
            </a:r>
            <a:endParaRPr lang="en-US" sz="1400" dirty="0"/>
          </a:p>
        </p:txBody>
      </p:sp>
      <p:sp>
        <p:nvSpPr>
          <p:cNvPr id="11" name="Text 9"/>
          <p:cNvSpPr txBox="1"/>
          <p:nvPr/>
        </p:nvSpPr>
        <p:spPr>
          <a:xfrm>
            <a:off x="977900" y="3479800"/>
            <a:ext cx="3048000" cy="508000"/>
          </a:xfrm>
          <a:prstGeom prst="rect">
            <a:avLst/>
          </a:prstGeom>
          <a:noFill/>
          <a:ln/>
        </p:spPr>
        <p:txBody>
          <a:bodyPr wrap="square" lIns="0" tIns="0" rIns="0" bIns="0" rtlCol="0" anchor="t"/>
          <a:lstStyle/>
          <a:p>
            <a:pPr algn="l" indent="0" marL="0">
              <a:lnSpc>
                <a:spcPct val="100000"/>
              </a:lnSpc>
              <a:buNone/>
            </a:pPr>
            <a:r>
              <a:rPr lang="en-US" sz="1900" spc="-50" kern="0" dirty="0">
                <a:solidFill>
                  <a:srgbClr val="121214"/>
                </a:solidFill>
                <a:latin typeface="Segoe UI Semibold" pitchFamily="34" charset="0"/>
                <a:ea typeface="Segoe UI Semibold" pitchFamily="34" charset="-122"/>
                <a:cs typeface="Segoe UI Semibold" pitchFamily="34" charset="-120"/>
              </a:rPr>
              <a:t>Sustainable cities and communities</a:t>
            </a:r>
            <a:endParaRPr lang="en-US" sz="1900" dirty="0"/>
          </a:p>
        </p:txBody>
      </p:sp>
      <p:sp>
        <p:nvSpPr>
          <p:cNvPr id="12" name="Text 10"/>
          <p:cNvSpPr txBox="1"/>
          <p:nvPr/>
        </p:nvSpPr>
        <p:spPr>
          <a:xfrm>
            <a:off x="977900" y="4064000"/>
            <a:ext cx="3022600" cy="825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Less traffic crawling round the lot and the gate, and a fair, first-booked system instead of first-lucky.</a:t>
            </a:r>
            <a:endParaRPr lang="en-US" sz="1400" dirty="0"/>
          </a:p>
        </p:txBody>
      </p:sp>
      <p:sp>
        <p:nvSpPr>
          <p:cNvPr id="13" name="!!card1"/>
          <p:cNvSpPr/>
          <p:nvPr/>
        </p:nvSpPr>
        <p:spPr>
          <a:xfrm>
            <a:off x="4368800" y="2476500"/>
            <a:ext cx="3454400" cy="2540000"/>
          </a:xfrm>
          <a:prstGeom prst="roundRect">
            <a:avLst>
              <a:gd name="adj" fmla="val 6000"/>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4" name="Text 12"/>
          <p:cNvSpPr txBox="1"/>
          <p:nvPr/>
        </p:nvSpPr>
        <p:spPr>
          <a:xfrm>
            <a:off x="4584700" y="2603500"/>
            <a:ext cx="3048000" cy="762000"/>
          </a:xfrm>
          <a:prstGeom prst="rect">
            <a:avLst/>
          </a:prstGeom>
          <a:noFill/>
          <a:ln/>
        </p:spPr>
        <p:txBody>
          <a:bodyPr wrap="square" lIns="0" tIns="0" rIns="0" bIns="0" rtlCol="0" anchor="b"/>
          <a:lstStyle/>
          <a:p>
            <a:pPr algn="l" indent="0" marL="0">
              <a:lnSpc>
                <a:spcPct val="90000"/>
              </a:lnSpc>
              <a:buNone/>
            </a:pPr>
            <a:r>
              <a:rPr lang="en-US" sz="6000" spc="-300" kern="0" dirty="0">
                <a:solidFill>
                  <a:srgbClr val="121214"/>
                </a:solidFill>
                <a:latin typeface="Segoe UI Semibold" pitchFamily="34" charset="0"/>
                <a:ea typeface="Segoe UI Semibold" pitchFamily="34" charset="-122"/>
                <a:cs typeface="Segoe UI Semibold" pitchFamily="34" charset="-120"/>
              </a:rPr>
              <a:t>13</a:t>
            </a:r>
            <a:pPr algn="l" indent="0" marL="0">
              <a:lnSpc>
                <a:spcPct val="90000"/>
              </a:lnSpc>
              <a:buNone/>
            </a:pPr>
            <a:r>
              <a:rPr lang="en-US" sz="1000" dirty="0">
                <a:solidFill>
                  <a:srgbClr val="8A6400"/>
                </a:solidFill>
                <a:latin typeface="Consolas" pitchFamily="34" charset="0"/>
                <a:ea typeface="Consolas" pitchFamily="34" charset="-122"/>
                <a:cs typeface="Consolas" pitchFamily="34" charset="-120"/>
              </a:rPr>
              <a:t>  SDG</a:t>
            </a:r>
            <a:endParaRPr lang="en-US" sz="1400" dirty="0"/>
          </a:p>
        </p:txBody>
      </p:sp>
      <p:sp>
        <p:nvSpPr>
          <p:cNvPr id="15" name="Text 13"/>
          <p:cNvSpPr txBox="1"/>
          <p:nvPr/>
        </p:nvSpPr>
        <p:spPr>
          <a:xfrm>
            <a:off x="4584700" y="3479800"/>
            <a:ext cx="3048000" cy="508000"/>
          </a:xfrm>
          <a:prstGeom prst="rect">
            <a:avLst/>
          </a:prstGeom>
          <a:noFill/>
          <a:ln/>
        </p:spPr>
        <p:txBody>
          <a:bodyPr wrap="square" lIns="0" tIns="0" rIns="0" bIns="0" rtlCol="0" anchor="t"/>
          <a:lstStyle/>
          <a:p>
            <a:pPr algn="l" indent="0" marL="0">
              <a:lnSpc>
                <a:spcPct val="100000"/>
              </a:lnSpc>
              <a:buNone/>
            </a:pPr>
            <a:r>
              <a:rPr lang="en-US" sz="1900" spc="-50" kern="0" dirty="0">
                <a:solidFill>
                  <a:srgbClr val="121214"/>
                </a:solidFill>
                <a:latin typeface="Segoe UI Semibold" pitchFamily="34" charset="0"/>
                <a:ea typeface="Segoe UI Semibold" pitchFamily="34" charset="-122"/>
                <a:cs typeface="Segoe UI Semibold" pitchFamily="34" charset="-120"/>
              </a:rPr>
              <a:t>Climate action</a:t>
            </a:r>
            <a:endParaRPr lang="en-US" sz="1900" dirty="0"/>
          </a:p>
        </p:txBody>
      </p:sp>
      <p:sp>
        <p:nvSpPr>
          <p:cNvPr id="16" name="Text 14"/>
          <p:cNvSpPr txBox="1"/>
          <p:nvPr/>
        </p:nvSpPr>
        <p:spPr>
          <a:xfrm>
            <a:off x="4584700" y="4064000"/>
            <a:ext cx="3022600" cy="825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Every lap you don't drive is fuel you don't burn. A booked bay means one straight drive in.</a:t>
            </a:r>
            <a:endParaRPr lang="en-US" sz="1400" dirty="0"/>
          </a:p>
        </p:txBody>
      </p:sp>
      <p:sp>
        <p:nvSpPr>
          <p:cNvPr id="17" name="!!card2"/>
          <p:cNvSpPr/>
          <p:nvPr/>
        </p:nvSpPr>
        <p:spPr>
          <a:xfrm>
            <a:off x="7975600" y="2476500"/>
            <a:ext cx="3454400" cy="2540000"/>
          </a:xfrm>
          <a:prstGeom prst="roundRect">
            <a:avLst>
              <a:gd name="adj" fmla="val 6000"/>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8" name="Text 16"/>
          <p:cNvSpPr txBox="1"/>
          <p:nvPr/>
        </p:nvSpPr>
        <p:spPr>
          <a:xfrm>
            <a:off x="8191500" y="2603500"/>
            <a:ext cx="3048000" cy="762000"/>
          </a:xfrm>
          <a:prstGeom prst="rect">
            <a:avLst/>
          </a:prstGeom>
          <a:noFill/>
          <a:ln/>
        </p:spPr>
        <p:txBody>
          <a:bodyPr wrap="square" lIns="0" tIns="0" rIns="0" bIns="0" rtlCol="0" anchor="b"/>
          <a:lstStyle/>
          <a:p>
            <a:pPr algn="l" indent="0" marL="0">
              <a:lnSpc>
                <a:spcPct val="90000"/>
              </a:lnSpc>
              <a:buNone/>
            </a:pPr>
            <a:r>
              <a:rPr lang="en-US" sz="6000" spc="-300" kern="0" dirty="0">
                <a:solidFill>
                  <a:srgbClr val="121214"/>
                </a:solidFill>
                <a:latin typeface="Segoe UI Semibold" pitchFamily="34" charset="0"/>
                <a:ea typeface="Segoe UI Semibold" pitchFamily="34" charset="-122"/>
                <a:cs typeface="Segoe UI Semibold" pitchFamily="34" charset="-120"/>
              </a:rPr>
              <a:t>9</a:t>
            </a:r>
            <a:pPr algn="l" indent="0" marL="0">
              <a:lnSpc>
                <a:spcPct val="90000"/>
              </a:lnSpc>
              <a:buNone/>
            </a:pPr>
            <a:r>
              <a:rPr lang="en-US" sz="1000" dirty="0">
                <a:solidFill>
                  <a:srgbClr val="8A6400"/>
                </a:solidFill>
                <a:latin typeface="Consolas" pitchFamily="34" charset="0"/>
                <a:ea typeface="Consolas" pitchFamily="34" charset="-122"/>
                <a:cs typeface="Consolas" pitchFamily="34" charset="-120"/>
              </a:rPr>
              <a:t>  SDG</a:t>
            </a:r>
            <a:endParaRPr lang="en-US" sz="1400" dirty="0"/>
          </a:p>
        </p:txBody>
      </p:sp>
      <p:sp>
        <p:nvSpPr>
          <p:cNvPr id="19" name="Text 17"/>
          <p:cNvSpPr txBox="1"/>
          <p:nvPr/>
        </p:nvSpPr>
        <p:spPr>
          <a:xfrm>
            <a:off x="8191500" y="3479800"/>
            <a:ext cx="3048000" cy="508000"/>
          </a:xfrm>
          <a:prstGeom prst="rect">
            <a:avLst/>
          </a:prstGeom>
          <a:noFill/>
          <a:ln/>
        </p:spPr>
        <p:txBody>
          <a:bodyPr wrap="square" lIns="0" tIns="0" rIns="0" bIns="0" rtlCol="0" anchor="t"/>
          <a:lstStyle/>
          <a:p>
            <a:pPr algn="l" indent="0" marL="0">
              <a:lnSpc>
                <a:spcPct val="100000"/>
              </a:lnSpc>
              <a:buNone/>
            </a:pPr>
            <a:r>
              <a:rPr lang="en-US" sz="1900" spc="-50" kern="0" dirty="0">
                <a:solidFill>
                  <a:srgbClr val="121214"/>
                </a:solidFill>
                <a:latin typeface="Segoe UI Semibold" pitchFamily="34" charset="0"/>
                <a:ea typeface="Segoe UI Semibold" pitchFamily="34" charset="-122"/>
                <a:cs typeface="Segoe UI Semibold" pitchFamily="34" charset="-120"/>
              </a:rPr>
              <a:t>Industry, innovation and infrastructure</a:t>
            </a:r>
            <a:endParaRPr lang="en-US" sz="1900" dirty="0"/>
          </a:p>
        </p:txBody>
      </p:sp>
      <p:sp>
        <p:nvSpPr>
          <p:cNvPr id="20" name="Text 18"/>
          <p:cNvSpPr txBox="1"/>
          <p:nvPr/>
        </p:nvSpPr>
        <p:spPr>
          <a:xfrm>
            <a:off x="8191500" y="4064000"/>
            <a:ext cx="3022600" cy="825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Gets more out of the lot that already exists: no new concrete, just a better way to use it.</a:t>
            </a:r>
            <a:endParaRPr lang="en-US" sz="1400" dirty="0"/>
          </a:p>
        </p:txBody>
      </p:sp>
      <p:sp>
        <p:nvSpPr>
          <p:cNvPr id="21" name="Shape 19"/>
          <p:cNvSpPr/>
          <p:nvPr/>
        </p:nvSpPr>
        <p:spPr>
          <a:xfrm>
            <a:off x="762000" y="5334000"/>
            <a:ext cx="10668000" cy="0"/>
          </a:xfrm>
          <a:prstGeom prst="line">
            <a:avLst/>
          </a:prstGeom>
          <a:noFill/>
          <a:ln w="12700">
            <a:solidFill>
              <a:srgbClr val="C9C9C4"/>
            </a:solidFill>
            <a:prstDash val="solid"/>
          </a:ln>
        </p:spPr>
      </p:sp>
      <p:sp>
        <p:nvSpPr>
          <p:cNvPr id="22" name="Text 20"/>
          <p:cNvSpPr txBox="1"/>
          <p:nvPr/>
        </p:nvSpPr>
        <p:spPr>
          <a:xfrm>
            <a:off x="762000" y="5435600"/>
            <a:ext cx="1905000" cy="762000"/>
          </a:xfrm>
          <a:prstGeom prst="rect">
            <a:avLst/>
          </a:prstGeom>
          <a:noFill/>
          <a:ln/>
        </p:spPr>
        <p:txBody>
          <a:bodyPr wrap="square" lIns="0" tIns="0" rIns="0" bIns="0" rtlCol="0" anchor="ctr"/>
          <a:lstStyle/>
          <a:p>
            <a:pPr algn="l" indent="0" marL="0">
              <a:lnSpc>
                <a:spcPct val="112000"/>
              </a:lnSpc>
              <a:buNone/>
            </a:pPr>
            <a:r>
              <a:rPr lang="en-US" sz="5400" spc="-300" kern="0" dirty="0">
                <a:solidFill>
                  <a:srgbClr val="121214"/>
                </a:solidFill>
                <a:latin typeface="Segoe UI Semibold" pitchFamily="34" charset="0"/>
                <a:ea typeface="Segoe UI Semibold" pitchFamily="34" charset="-122"/>
                <a:cs typeface="Segoe UI Semibold" pitchFamily="34" charset="-120"/>
              </a:rPr>
              <a:t>500</a:t>
            </a:r>
            <a:endParaRPr lang="en-US" sz="5400" dirty="0"/>
          </a:p>
        </p:txBody>
      </p:sp>
      <p:sp>
        <p:nvSpPr>
          <p:cNvPr id="23" name="Text 21"/>
          <p:cNvSpPr txBox="1"/>
          <p:nvPr/>
        </p:nvSpPr>
        <p:spPr>
          <a:xfrm>
            <a:off x="2540000" y="5524500"/>
            <a:ext cx="6985000" cy="571500"/>
          </a:xfrm>
          <a:prstGeom prst="rect">
            <a:avLst/>
          </a:prstGeom>
          <a:noFill/>
          <a:ln/>
        </p:spPr>
        <p:txBody>
          <a:bodyPr wrap="square" lIns="0" tIns="0" rIns="0" bIns="0" rtlCol="0" anchor="ctr"/>
          <a:lstStyle/>
          <a:p>
            <a:pPr algn="l" indent="0" marL="0">
              <a:lnSpc>
                <a:spcPct val="112000"/>
              </a:lnSpc>
              <a:buNone/>
            </a:pPr>
            <a:r>
              <a:rPr lang="en-US" sz="1600" dirty="0">
                <a:solidFill>
                  <a:srgbClr val="3C3C42"/>
                </a:solidFill>
                <a:latin typeface="Segoe UI" pitchFamily="34" charset="0"/>
                <a:ea typeface="Segoe UI" pitchFamily="34" charset="-122"/>
                <a:cs typeface="Segoe UI" pitchFamily="34" charset="-120"/>
              </a:rPr>
              <a:t>engine-minutes saved a day, on one lot, if 100 drivers each skip 5 minutes of circling.</a:t>
            </a:r>
            <a:endParaRPr lang="en-US" sz="1600" dirty="0"/>
          </a:p>
        </p:txBody>
      </p:sp>
      <p:sp>
        <p:nvSpPr>
          <p:cNvPr id="24" name="Text 22"/>
          <p:cNvSpPr txBox="1"/>
          <p:nvPr/>
        </p:nvSpPr>
        <p:spPr>
          <a:xfrm>
            <a:off x="9906000" y="5715000"/>
            <a:ext cx="1524000" cy="190500"/>
          </a:xfrm>
          <a:prstGeom prst="rect">
            <a:avLst/>
          </a:prstGeom>
          <a:noFill/>
          <a:ln/>
        </p:spPr>
        <p:txBody>
          <a:bodyPr wrap="square" lIns="0" tIns="0" rIns="0" bIns="0" rtlCol="0" anchor="t"/>
          <a:lstStyle/>
          <a:p>
            <a:pPr algn="r" indent="0" marL="0">
              <a:lnSpc>
                <a:spcPct val="112000"/>
              </a:lnSpc>
              <a:buNone/>
            </a:pPr>
            <a:r>
              <a:rPr lang="en-US" sz="900" dirty="0">
                <a:solidFill>
                  <a:srgbClr val="9A9AA1"/>
                </a:solidFill>
                <a:latin typeface="Consolas" pitchFamily="34" charset="0"/>
                <a:ea typeface="Consolas" pitchFamily="34" charset="-122"/>
                <a:cs typeface="Consolas" pitchFamily="34" charset="-120"/>
              </a:rPr>
              <a:t>illustrative estimate</a:t>
            </a:r>
            <a:endParaRPr lang="en-US" sz="900" dirty="0"/>
          </a:p>
        </p:txBody>
      </p:sp>
    </p:spTree>
  </p:cSld>
  <p:clrMapOvr>
    <a:masterClrMapping/>
  </p:clrMapOvr>
  <p:transition xmlns:p14="http://schemas.microsoft.com/office/powerpoint/2010/main" spd="slow" p14:dur="800">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15</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9654615"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315200" y="203200"/>
            <a:ext cx="33528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4295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543800" y="203200"/>
            <a:ext cx="30988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Impact value</a:t>
            </a:r>
            <a:pPr indent="0" marL="0">
              <a:buNone/>
            </a:pPr>
            <a:r>
              <a:rPr lang="en-US" sz="900" dirty="0">
                <a:solidFill>
                  <a:srgbClr val="3C3C42"/>
                </a:solidFill>
                <a:latin typeface="Consolas" pitchFamily="34" charset="0"/>
                <a:ea typeface="Consolas" pitchFamily="34" charset="-122"/>
                <a:cs typeface="Consolas" pitchFamily="34" charset="-120"/>
              </a:rPr>
              <a:t>  ·  Potential to inspire change</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14</a:t>
            </a:r>
            <a:pPr algn="l" indent="0" marL="0">
              <a:buNone/>
            </a:pPr>
            <a:r>
              <a:rPr lang="en-US" sz="1100" dirty="0">
                <a:solidFill>
                  <a:srgbClr val="62626A"/>
                </a:solidFill>
                <a:latin typeface="Consolas" pitchFamily="34" charset="0"/>
                <a:ea typeface="Consolas" pitchFamily="34" charset="-122"/>
                <a:cs typeface="Consolas" pitchFamily="34" charset="-120"/>
              </a:rPr>
              <a:t>  ——  Where it goes next</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One lot today. Every lot after.</a:t>
            </a:r>
            <a:endParaRPr lang="en-US" sz="4400" dirty="0"/>
          </a:p>
        </p:txBody>
      </p:sp>
      <p:sp>
        <p:nvSpPr>
          <p:cNvPr id="9" name="!!card0"/>
          <p:cNvSpPr/>
          <p:nvPr/>
        </p:nvSpPr>
        <p:spPr>
          <a:xfrm>
            <a:off x="762000" y="2476500"/>
            <a:ext cx="3302000" cy="3619500"/>
          </a:xfrm>
          <a:prstGeom prst="roundRect">
            <a:avLst>
              <a:gd name="adj" fmla="val 461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Text 8"/>
          <p:cNvSpPr txBox="1"/>
          <p:nvPr/>
        </p:nvSpPr>
        <p:spPr>
          <a:xfrm>
            <a:off x="977900" y="2667000"/>
            <a:ext cx="2921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Same method, any lot</a:t>
            </a:r>
            <a:endParaRPr lang="en-US" sz="1000" dirty="0"/>
          </a:p>
        </p:txBody>
      </p:sp>
      <p:sp>
        <p:nvSpPr>
          <p:cNvPr id="11" name="Text 9"/>
          <p:cNvSpPr txBox="1"/>
          <p:nvPr/>
        </p:nvSpPr>
        <p:spPr>
          <a:xfrm>
            <a:off x="977900" y="2870200"/>
            <a:ext cx="2857500" cy="635000"/>
          </a:xfrm>
          <a:prstGeom prst="rect">
            <a:avLst/>
          </a:prstGeom>
          <a:noFill/>
          <a:ln/>
        </p:spPr>
        <p:txBody>
          <a:bodyPr wrap="square" lIns="0" tIns="0" rIns="0" bIns="0" rtlCol="0" anchor="t"/>
          <a:lstStyle/>
          <a:p>
            <a:pPr algn="l" indent="0" marL="0">
              <a:lnSpc>
                <a:spcPct val="100000"/>
              </a:lnSpc>
              <a:buNone/>
            </a:pPr>
            <a:r>
              <a:rPr lang="en-US" sz="2100" spc="-60" kern="0" dirty="0">
                <a:solidFill>
                  <a:srgbClr val="121214"/>
                </a:solidFill>
                <a:latin typeface="Segoe UI Semibold" pitchFamily="34" charset="0"/>
                <a:ea typeface="Segoe UI Semibold" pitchFamily="34" charset="-122"/>
                <a:cs typeface="Segoe UI Semibold" pitchFamily="34" charset="-120"/>
              </a:rPr>
              <a:t>Trace it once, book it every day.</a:t>
            </a:r>
            <a:endParaRPr lang="en-US" sz="2100" dirty="0"/>
          </a:p>
        </p:txBody>
      </p:sp>
      <p:sp>
        <p:nvSpPr>
          <p:cNvPr id="12" name="Text 10"/>
          <p:cNvSpPr txBox="1"/>
          <p:nvPr/>
        </p:nvSpPr>
        <p:spPr>
          <a:xfrm>
            <a:off x="977900" y="3556000"/>
            <a:ext cx="2857500" cy="571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Adding a lot means drawing its rows on a satellite photo, like we did for KIET.</a:t>
            </a:r>
            <a:endParaRPr lang="en-US" sz="1400" dirty="0"/>
          </a:p>
        </p:txBody>
      </p:sp>
      <p:sp>
        <p:nvSpPr>
          <p:cNvPr id="13" name="Shape 11"/>
          <p:cNvSpPr/>
          <p:nvPr/>
        </p:nvSpPr>
        <p:spPr>
          <a:xfrm>
            <a:off x="977900" y="4381500"/>
            <a:ext cx="876300" cy="292100"/>
          </a:xfrm>
          <a:prstGeom prst="roundRect">
            <a:avLst>
              <a:gd name="adj" fmla="val 50000"/>
            </a:avLst>
          </a:prstGeom>
          <a:solidFill>
            <a:srgbClr val="FDFDFB"/>
          </a:solidFill>
          <a:ln w="12700">
            <a:solidFill>
              <a:srgbClr val="C9C9C4"/>
            </a:solidFill>
            <a:prstDash val="solid"/>
          </a:ln>
        </p:spPr>
      </p:sp>
      <p:sp>
        <p:nvSpPr>
          <p:cNvPr id="14" name="Text 12"/>
          <p:cNvSpPr txBox="1"/>
          <p:nvPr/>
        </p:nvSpPr>
        <p:spPr>
          <a:xfrm>
            <a:off x="977900" y="4381500"/>
            <a:ext cx="87630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Campuses</a:t>
            </a:r>
            <a:endParaRPr lang="en-US" sz="1200" dirty="0"/>
          </a:p>
        </p:txBody>
      </p:sp>
      <p:sp>
        <p:nvSpPr>
          <p:cNvPr id="15" name="Shape 13"/>
          <p:cNvSpPr/>
          <p:nvPr/>
        </p:nvSpPr>
        <p:spPr>
          <a:xfrm>
            <a:off x="1930400" y="4381500"/>
            <a:ext cx="952500" cy="292100"/>
          </a:xfrm>
          <a:prstGeom prst="roundRect">
            <a:avLst>
              <a:gd name="adj" fmla="val 50000"/>
            </a:avLst>
          </a:prstGeom>
          <a:solidFill>
            <a:srgbClr val="FDFDFB"/>
          </a:solidFill>
          <a:ln w="12700">
            <a:solidFill>
              <a:srgbClr val="C9C9C4"/>
            </a:solidFill>
            <a:prstDash val="solid"/>
          </a:ln>
        </p:spPr>
      </p:sp>
      <p:sp>
        <p:nvSpPr>
          <p:cNvPr id="16" name="Text 14"/>
          <p:cNvSpPr txBox="1"/>
          <p:nvPr/>
        </p:nvSpPr>
        <p:spPr>
          <a:xfrm>
            <a:off x="1930400" y="4381500"/>
            <a:ext cx="95250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Hospitals</a:t>
            </a:r>
            <a:endParaRPr lang="en-US" sz="1200" dirty="0"/>
          </a:p>
        </p:txBody>
      </p:sp>
      <p:sp>
        <p:nvSpPr>
          <p:cNvPr id="17" name="Shape 15"/>
          <p:cNvSpPr/>
          <p:nvPr/>
        </p:nvSpPr>
        <p:spPr>
          <a:xfrm>
            <a:off x="2959100" y="4381500"/>
            <a:ext cx="641350" cy="292100"/>
          </a:xfrm>
          <a:prstGeom prst="roundRect">
            <a:avLst>
              <a:gd name="adj" fmla="val 50000"/>
            </a:avLst>
          </a:prstGeom>
          <a:solidFill>
            <a:srgbClr val="FDFDFB"/>
          </a:solidFill>
          <a:ln w="12700">
            <a:solidFill>
              <a:srgbClr val="C9C9C4"/>
            </a:solidFill>
            <a:prstDash val="solid"/>
          </a:ln>
        </p:spPr>
      </p:sp>
      <p:sp>
        <p:nvSpPr>
          <p:cNvPr id="18" name="Text 16"/>
          <p:cNvSpPr txBox="1"/>
          <p:nvPr/>
        </p:nvSpPr>
        <p:spPr>
          <a:xfrm>
            <a:off x="2959100" y="4381500"/>
            <a:ext cx="64135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Malls</a:t>
            </a:r>
            <a:endParaRPr lang="en-US" sz="1200" dirty="0"/>
          </a:p>
        </p:txBody>
      </p:sp>
      <p:sp>
        <p:nvSpPr>
          <p:cNvPr id="19" name="Shape 17"/>
          <p:cNvSpPr/>
          <p:nvPr/>
        </p:nvSpPr>
        <p:spPr>
          <a:xfrm>
            <a:off x="977900" y="4749800"/>
            <a:ext cx="1339850" cy="292100"/>
          </a:xfrm>
          <a:prstGeom prst="roundRect">
            <a:avLst>
              <a:gd name="adj" fmla="val 50000"/>
            </a:avLst>
          </a:prstGeom>
          <a:solidFill>
            <a:srgbClr val="FDFDFB"/>
          </a:solidFill>
          <a:ln w="12700">
            <a:solidFill>
              <a:srgbClr val="C9C9C4"/>
            </a:solidFill>
            <a:prstDash val="solid"/>
          </a:ln>
        </p:spPr>
      </p:sp>
      <p:sp>
        <p:nvSpPr>
          <p:cNvPr id="20" name="Text 18"/>
          <p:cNvSpPr txBox="1"/>
          <p:nvPr/>
        </p:nvSpPr>
        <p:spPr>
          <a:xfrm>
            <a:off x="977900" y="4749800"/>
            <a:ext cx="133985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Metro stations</a:t>
            </a:r>
            <a:endParaRPr lang="en-US" sz="1200" dirty="0"/>
          </a:p>
        </p:txBody>
      </p:sp>
      <p:sp>
        <p:nvSpPr>
          <p:cNvPr id="21" name="Shape 19"/>
          <p:cNvSpPr/>
          <p:nvPr/>
        </p:nvSpPr>
        <p:spPr>
          <a:xfrm>
            <a:off x="2393950" y="4749800"/>
            <a:ext cx="800100" cy="292100"/>
          </a:xfrm>
          <a:prstGeom prst="roundRect">
            <a:avLst>
              <a:gd name="adj" fmla="val 50000"/>
            </a:avLst>
          </a:prstGeom>
          <a:solidFill>
            <a:srgbClr val="FDFDFB"/>
          </a:solidFill>
          <a:ln w="12700">
            <a:solidFill>
              <a:srgbClr val="C9C9C4"/>
            </a:solidFill>
            <a:prstDash val="solid"/>
          </a:ln>
        </p:spPr>
      </p:sp>
      <p:sp>
        <p:nvSpPr>
          <p:cNvPr id="22" name="Text 20"/>
          <p:cNvSpPr txBox="1"/>
          <p:nvPr/>
        </p:nvSpPr>
        <p:spPr>
          <a:xfrm>
            <a:off x="2393950" y="4749800"/>
            <a:ext cx="80010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Offices</a:t>
            </a:r>
            <a:endParaRPr lang="en-US" sz="1200" dirty="0"/>
          </a:p>
        </p:txBody>
      </p:sp>
      <p:sp>
        <p:nvSpPr>
          <p:cNvPr id="23" name="Shape 21"/>
          <p:cNvSpPr/>
          <p:nvPr/>
        </p:nvSpPr>
        <p:spPr>
          <a:xfrm>
            <a:off x="977900" y="5118100"/>
            <a:ext cx="717550" cy="292100"/>
          </a:xfrm>
          <a:prstGeom prst="roundRect">
            <a:avLst>
              <a:gd name="adj" fmla="val 50000"/>
            </a:avLst>
          </a:prstGeom>
          <a:solidFill>
            <a:srgbClr val="FDFDFB"/>
          </a:solidFill>
          <a:ln w="12700">
            <a:solidFill>
              <a:srgbClr val="C9C9C4"/>
            </a:solidFill>
            <a:prstDash val="solid"/>
          </a:ln>
        </p:spPr>
      </p:sp>
      <p:sp>
        <p:nvSpPr>
          <p:cNvPr id="24" name="Text 22"/>
          <p:cNvSpPr txBox="1"/>
          <p:nvPr/>
        </p:nvSpPr>
        <p:spPr>
          <a:xfrm>
            <a:off x="977900" y="5118100"/>
            <a:ext cx="717550" cy="292100"/>
          </a:xfrm>
          <a:prstGeom prst="rect">
            <a:avLst/>
          </a:prstGeom>
          <a:noFill/>
          <a:ln/>
        </p:spPr>
        <p:txBody>
          <a:bodyPr wrap="none" lIns="0" tIns="0" rIns="0" bIns="0" rtlCol="0" anchor="ctr"/>
          <a:lstStyle/>
          <a:p>
            <a:pPr algn="ctr" indent="0" marL="0">
              <a:buNone/>
            </a:pPr>
            <a:r>
              <a:rPr lang="en-US" sz="1200" dirty="0">
                <a:solidFill>
                  <a:srgbClr val="3C3C42"/>
                </a:solidFill>
                <a:latin typeface="Segoe UI" pitchFamily="34" charset="0"/>
                <a:ea typeface="Segoe UI" pitchFamily="34" charset="-122"/>
                <a:cs typeface="Segoe UI" pitchFamily="34" charset="-120"/>
              </a:rPr>
              <a:t>Events</a:t>
            </a:r>
            <a:endParaRPr lang="en-US" sz="1200" dirty="0"/>
          </a:p>
        </p:txBody>
      </p:sp>
      <p:sp>
        <p:nvSpPr>
          <p:cNvPr id="25" name="!!card1"/>
          <p:cNvSpPr/>
          <p:nvPr/>
        </p:nvSpPr>
        <p:spPr>
          <a:xfrm>
            <a:off x="4229100" y="2476500"/>
            <a:ext cx="3302000" cy="3619500"/>
          </a:xfrm>
          <a:prstGeom prst="roundRect">
            <a:avLst>
              <a:gd name="adj" fmla="val 461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6" name="Text 24"/>
          <p:cNvSpPr txBox="1"/>
          <p:nvPr/>
        </p:nvSpPr>
        <p:spPr>
          <a:xfrm>
            <a:off x="4445000" y="2667000"/>
            <a:ext cx="2921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How it pays for itself</a:t>
            </a:r>
            <a:endParaRPr lang="en-US" sz="1000" dirty="0"/>
          </a:p>
        </p:txBody>
      </p:sp>
      <p:sp>
        <p:nvSpPr>
          <p:cNvPr id="27" name="Text 25"/>
          <p:cNvSpPr txBox="1"/>
          <p:nvPr/>
        </p:nvSpPr>
        <p:spPr>
          <a:xfrm>
            <a:off x="4445000" y="2870200"/>
            <a:ext cx="2857500" cy="381000"/>
          </a:xfrm>
          <a:prstGeom prst="rect">
            <a:avLst/>
          </a:prstGeom>
          <a:noFill/>
          <a:ln/>
        </p:spPr>
        <p:txBody>
          <a:bodyPr wrap="square" lIns="0" tIns="0" rIns="0" bIns="0" rtlCol="0" anchor="t"/>
          <a:lstStyle/>
          <a:p>
            <a:pPr algn="l" indent="0" marL="0">
              <a:lnSpc>
                <a:spcPct val="112000"/>
              </a:lnSpc>
              <a:buNone/>
            </a:pPr>
            <a:r>
              <a:rPr lang="en-US" sz="2100" spc="-60" kern="0" dirty="0">
                <a:solidFill>
                  <a:srgbClr val="121214"/>
                </a:solidFill>
                <a:latin typeface="Segoe UI Semibold" pitchFamily="34" charset="0"/>
                <a:ea typeface="Segoe UI Semibold" pitchFamily="34" charset="-122"/>
                <a:cs typeface="Segoe UI Semibold" pitchFamily="34" charset="-120"/>
              </a:rPr>
              <a:t>Small fees, real data.</a:t>
            </a:r>
            <a:endParaRPr lang="en-US" sz="2100" dirty="0"/>
          </a:p>
        </p:txBody>
      </p:sp>
      <p:sp>
        <p:nvSpPr>
          <p:cNvPr id="28" name="Shape 26"/>
          <p:cNvSpPr/>
          <p:nvPr/>
        </p:nvSpPr>
        <p:spPr>
          <a:xfrm>
            <a:off x="4445000" y="3429000"/>
            <a:ext cx="2870200" cy="0"/>
          </a:xfrm>
          <a:prstGeom prst="line">
            <a:avLst/>
          </a:prstGeom>
          <a:noFill/>
          <a:ln w="12700">
            <a:solidFill>
              <a:srgbClr val="C9C9C4"/>
            </a:solidFill>
            <a:prstDash val="solid"/>
          </a:ln>
        </p:spPr>
      </p:sp>
      <p:sp>
        <p:nvSpPr>
          <p:cNvPr id="29" name="Text 27"/>
          <p:cNvSpPr txBox="1"/>
          <p:nvPr/>
        </p:nvSpPr>
        <p:spPr>
          <a:xfrm>
            <a:off x="4445000" y="3517900"/>
            <a:ext cx="2870200" cy="381000"/>
          </a:xfrm>
          <a:prstGeom prst="rect">
            <a:avLst/>
          </a:prstGeom>
          <a:noFill/>
          <a:ln/>
        </p:spPr>
        <p:txBody>
          <a:bodyPr wrap="square" lIns="0" tIns="0" rIns="0" bIns="0" rtlCol="0" anchor="t"/>
          <a:lstStyle/>
          <a:p>
            <a:pPr algn="l" indent="0" marL="0">
              <a:lnSpc>
                <a:spcPct val="112000"/>
              </a:lnSpc>
              <a:buNone/>
            </a:pPr>
            <a:r>
              <a:rPr lang="en-US" sz="2600" spc="-120" kern="0" dirty="0">
                <a:solidFill>
                  <a:srgbClr val="121214"/>
                </a:solidFill>
                <a:latin typeface="Segoe UI Semibold" pitchFamily="34" charset="0"/>
                <a:ea typeface="Segoe UI Semibold" pitchFamily="34" charset="-122"/>
                <a:cs typeface="Segoe UI Semibold" pitchFamily="34" charset="-120"/>
              </a:rPr>
              <a:t>8%</a:t>
            </a:r>
            <a:endParaRPr lang="en-US" sz="2600" dirty="0"/>
          </a:p>
        </p:txBody>
      </p:sp>
      <p:sp>
        <p:nvSpPr>
          <p:cNvPr id="30" name="Text 28"/>
          <p:cNvSpPr txBox="1"/>
          <p:nvPr/>
        </p:nvSpPr>
        <p:spPr>
          <a:xfrm>
            <a:off x="4445000" y="3886200"/>
            <a:ext cx="2870200" cy="254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commission on each booking</a:t>
            </a:r>
            <a:endParaRPr lang="en-US" sz="1300" dirty="0"/>
          </a:p>
        </p:txBody>
      </p:sp>
      <p:sp>
        <p:nvSpPr>
          <p:cNvPr id="31" name="Shape 29"/>
          <p:cNvSpPr/>
          <p:nvPr/>
        </p:nvSpPr>
        <p:spPr>
          <a:xfrm>
            <a:off x="4445000" y="4254500"/>
            <a:ext cx="2870200" cy="0"/>
          </a:xfrm>
          <a:prstGeom prst="line">
            <a:avLst/>
          </a:prstGeom>
          <a:noFill/>
          <a:ln w="12700">
            <a:solidFill>
              <a:srgbClr val="C9C9C4"/>
            </a:solidFill>
            <a:prstDash val="solid"/>
          </a:ln>
        </p:spPr>
      </p:sp>
      <p:sp>
        <p:nvSpPr>
          <p:cNvPr id="32" name="Text 30"/>
          <p:cNvSpPr txBox="1"/>
          <p:nvPr/>
        </p:nvSpPr>
        <p:spPr>
          <a:xfrm>
            <a:off x="4445000" y="4343400"/>
            <a:ext cx="2870200" cy="381000"/>
          </a:xfrm>
          <a:prstGeom prst="rect">
            <a:avLst/>
          </a:prstGeom>
          <a:noFill/>
          <a:ln/>
        </p:spPr>
        <p:txBody>
          <a:bodyPr wrap="square" lIns="0" tIns="0" rIns="0" bIns="0" rtlCol="0" anchor="t"/>
          <a:lstStyle/>
          <a:p>
            <a:pPr algn="l" indent="0" marL="0">
              <a:lnSpc>
                <a:spcPct val="112000"/>
              </a:lnSpc>
              <a:buNone/>
            </a:pPr>
            <a:r>
              <a:rPr lang="en-US" sz="2600" spc="-120" kern="0" dirty="0">
                <a:solidFill>
                  <a:srgbClr val="121214"/>
                </a:solidFill>
                <a:latin typeface="Segoe UI Semibold" pitchFamily="34" charset="0"/>
                <a:ea typeface="Segoe UI Semibold" pitchFamily="34" charset="-122"/>
                <a:cs typeface="Segoe UI Semibold" pitchFamily="34" charset="-120"/>
              </a:rPr>
              <a:t>Partners</a:t>
            </a:r>
            <a:endParaRPr lang="en-US" sz="2600" dirty="0"/>
          </a:p>
        </p:txBody>
      </p:sp>
      <p:sp>
        <p:nvSpPr>
          <p:cNvPr id="33" name="Text 31"/>
          <p:cNvSpPr txBox="1"/>
          <p:nvPr/>
        </p:nvSpPr>
        <p:spPr>
          <a:xfrm>
            <a:off x="4445000" y="4711700"/>
            <a:ext cx="2870200" cy="254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campuses and parking providers</a:t>
            </a:r>
            <a:endParaRPr lang="en-US" sz="1300" dirty="0"/>
          </a:p>
        </p:txBody>
      </p:sp>
      <p:sp>
        <p:nvSpPr>
          <p:cNvPr id="34" name="Shape 32"/>
          <p:cNvSpPr/>
          <p:nvPr/>
        </p:nvSpPr>
        <p:spPr>
          <a:xfrm>
            <a:off x="4445000" y="5080000"/>
            <a:ext cx="2870200" cy="0"/>
          </a:xfrm>
          <a:prstGeom prst="line">
            <a:avLst/>
          </a:prstGeom>
          <a:noFill/>
          <a:ln w="12700">
            <a:solidFill>
              <a:srgbClr val="C9C9C4"/>
            </a:solidFill>
            <a:prstDash val="solid"/>
          </a:ln>
        </p:spPr>
      </p:sp>
      <p:sp>
        <p:nvSpPr>
          <p:cNvPr id="35" name="Text 33"/>
          <p:cNvSpPr txBox="1"/>
          <p:nvPr/>
        </p:nvSpPr>
        <p:spPr>
          <a:xfrm>
            <a:off x="4445000" y="5168900"/>
            <a:ext cx="2870200" cy="381000"/>
          </a:xfrm>
          <a:prstGeom prst="rect">
            <a:avLst/>
          </a:prstGeom>
          <a:noFill/>
          <a:ln/>
        </p:spPr>
        <p:txBody>
          <a:bodyPr wrap="square" lIns="0" tIns="0" rIns="0" bIns="0" rtlCol="0" anchor="t"/>
          <a:lstStyle/>
          <a:p>
            <a:pPr algn="l" indent="0" marL="0">
              <a:lnSpc>
                <a:spcPct val="112000"/>
              </a:lnSpc>
              <a:buNone/>
            </a:pPr>
            <a:r>
              <a:rPr lang="en-US" sz="2600" spc="-120" kern="0" dirty="0">
                <a:solidFill>
                  <a:srgbClr val="121214"/>
                </a:solidFill>
                <a:latin typeface="Segoe UI Semibold" pitchFamily="34" charset="0"/>
                <a:ea typeface="Segoe UI Semibold" pitchFamily="34" charset="-122"/>
                <a:cs typeface="Segoe UI Semibold" pitchFamily="34" charset="-120"/>
              </a:rPr>
              <a:t>Plans</a:t>
            </a:r>
            <a:endParaRPr lang="en-US" sz="2600" dirty="0"/>
          </a:p>
        </p:txBody>
      </p:sp>
      <p:sp>
        <p:nvSpPr>
          <p:cNvPr id="36" name="Text 34"/>
          <p:cNvSpPr txBox="1"/>
          <p:nvPr/>
        </p:nvSpPr>
        <p:spPr>
          <a:xfrm>
            <a:off x="4445000" y="5537200"/>
            <a:ext cx="2870200" cy="254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subscriptions for lot operators</a:t>
            </a:r>
            <a:endParaRPr lang="en-US" sz="1300" dirty="0"/>
          </a:p>
        </p:txBody>
      </p:sp>
      <p:sp>
        <p:nvSpPr>
          <p:cNvPr id="37" name="!!card2"/>
          <p:cNvSpPr/>
          <p:nvPr/>
        </p:nvSpPr>
        <p:spPr>
          <a:xfrm>
            <a:off x="7696200" y="2476500"/>
            <a:ext cx="3733800" cy="3619500"/>
          </a:xfrm>
          <a:prstGeom prst="roundRect">
            <a:avLst>
              <a:gd name="adj" fmla="val 4211"/>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38" name="Text 36"/>
          <p:cNvSpPr txBox="1"/>
          <p:nvPr/>
        </p:nvSpPr>
        <p:spPr>
          <a:xfrm>
            <a:off x="7912100" y="2667000"/>
            <a:ext cx="29210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Roadmap</a:t>
            </a:r>
            <a:endParaRPr lang="en-US" sz="1000" dirty="0"/>
          </a:p>
        </p:txBody>
      </p:sp>
      <p:sp>
        <p:nvSpPr>
          <p:cNvPr id="39" name="Text 37"/>
          <p:cNvSpPr txBox="1"/>
          <p:nvPr/>
        </p:nvSpPr>
        <p:spPr>
          <a:xfrm>
            <a:off x="7912100" y="2870200"/>
            <a:ext cx="3175000" cy="381000"/>
          </a:xfrm>
          <a:prstGeom prst="rect">
            <a:avLst/>
          </a:prstGeom>
          <a:noFill/>
          <a:ln/>
        </p:spPr>
        <p:txBody>
          <a:bodyPr wrap="square" lIns="0" tIns="0" rIns="0" bIns="0" rtlCol="0" anchor="t"/>
          <a:lstStyle/>
          <a:p>
            <a:pPr algn="l" indent="0" marL="0">
              <a:lnSpc>
                <a:spcPct val="112000"/>
              </a:lnSpc>
              <a:buNone/>
            </a:pPr>
            <a:r>
              <a:rPr lang="en-US" sz="2100" spc="-60" kern="0" dirty="0">
                <a:solidFill>
                  <a:srgbClr val="121214"/>
                </a:solidFill>
                <a:latin typeface="Segoe UI Semibold" pitchFamily="34" charset="0"/>
                <a:ea typeface="Segoe UI Semibold" pitchFamily="34" charset="-122"/>
                <a:cs typeface="Segoe UI Semibold" pitchFamily="34" charset="-120"/>
              </a:rPr>
              <a:t>What we build next.</a:t>
            </a:r>
            <a:endParaRPr lang="en-US" sz="2100" dirty="0"/>
          </a:p>
        </p:txBody>
      </p:sp>
      <p:sp>
        <p:nvSpPr>
          <p:cNvPr id="40" name="Shape 38"/>
          <p:cNvSpPr/>
          <p:nvPr/>
        </p:nvSpPr>
        <p:spPr>
          <a:xfrm>
            <a:off x="7988300" y="3556000"/>
            <a:ext cx="0" cy="2095500"/>
          </a:xfrm>
          <a:prstGeom prst="line">
            <a:avLst/>
          </a:prstGeom>
          <a:noFill/>
          <a:ln w="19050">
            <a:solidFill>
              <a:srgbClr val="C9C9C4"/>
            </a:solidFill>
            <a:prstDash val="solid"/>
          </a:ln>
        </p:spPr>
      </p:sp>
      <p:sp>
        <p:nvSpPr>
          <p:cNvPr id="41" name="Shape 39"/>
          <p:cNvSpPr/>
          <p:nvPr/>
        </p:nvSpPr>
        <p:spPr>
          <a:xfrm>
            <a:off x="7937500" y="3530600"/>
            <a:ext cx="101600" cy="101600"/>
          </a:xfrm>
          <a:prstGeom prst="ellipse">
            <a:avLst/>
          </a:prstGeom>
          <a:solidFill>
            <a:srgbClr val="FFD75A"/>
          </a:solidFill>
          <a:ln w="25400">
            <a:solidFill>
              <a:srgbClr val="121214"/>
            </a:solidFill>
            <a:prstDash val="solid"/>
          </a:ln>
        </p:spPr>
      </p:sp>
      <p:sp>
        <p:nvSpPr>
          <p:cNvPr id="42" name="Text 40"/>
          <p:cNvSpPr txBox="1"/>
          <p:nvPr/>
        </p:nvSpPr>
        <p:spPr>
          <a:xfrm>
            <a:off x="8191500" y="3492500"/>
            <a:ext cx="29845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Now</a:t>
            </a:r>
            <a:endParaRPr lang="en-US" sz="1000" dirty="0"/>
          </a:p>
        </p:txBody>
      </p:sp>
      <p:sp>
        <p:nvSpPr>
          <p:cNvPr id="43" name="Text 41"/>
          <p:cNvSpPr txBox="1"/>
          <p:nvPr/>
        </p:nvSpPr>
        <p:spPr>
          <a:xfrm>
            <a:off x="8191500" y="3683000"/>
            <a:ext cx="2984500" cy="508000"/>
          </a:xfrm>
          <a:prstGeom prst="rect">
            <a:avLst/>
          </a:prstGeom>
          <a:noFill/>
          <a:ln/>
        </p:spPr>
        <p:txBody>
          <a:bodyPr wrap="square" lIns="0" tIns="0" rIns="0" bIns="0" rtlCol="0" anchor="t"/>
          <a:lstStyle/>
          <a:p>
            <a:pPr algn="l" indent="0" marL="0">
              <a:lnSpc>
                <a:spcPct val="112000"/>
              </a:lnSpc>
              <a:buNone/>
            </a:pPr>
            <a:r>
              <a:rPr lang="en-US" sz="1400" dirty="0">
                <a:solidFill>
                  <a:srgbClr val="3C3C42"/>
                </a:solidFill>
                <a:latin typeface="Segoe UI" pitchFamily="34" charset="0"/>
                <a:ea typeface="Segoe UI" pitchFamily="34" charset="-122"/>
                <a:cs typeface="Segoe UI" pitchFamily="34" charset="-120"/>
              </a:rPr>
              <a:t>Live plan, booking, pass, lens and 3D on the KIET main lot.</a:t>
            </a:r>
            <a:endParaRPr lang="en-US" sz="1400" dirty="0"/>
          </a:p>
        </p:txBody>
      </p:sp>
      <p:sp>
        <p:nvSpPr>
          <p:cNvPr id="44" name="Shape 42"/>
          <p:cNvSpPr/>
          <p:nvPr/>
        </p:nvSpPr>
        <p:spPr>
          <a:xfrm>
            <a:off x="7937500" y="4292600"/>
            <a:ext cx="101600" cy="101600"/>
          </a:xfrm>
          <a:prstGeom prst="ellipse">
            <a:avLst/>
          </a:prstGeom>
          <a:solidFill>
            <a:srgbClr val="F4F4F1"/>
          </a:solidFill>
          <a:ln w="25400">
            <a:solidFill>
              <a:srgbClr val="121214"/>
            </a:solidFill>
            <a:prstDash val="solid"/>
          </a:ln>
        </p:spPr>
      </p:sp>
      <p:sp>
        <p:nvSpPr>
          <p:cNvPr id="45" name="Text 43"/>
          <p:cNvSpPr txBox="1"/>
          <p:nvPr/>
        </p:nvSpPr>
        <p:spPr>
          <a:xfrm>
            <a:off x="8191500" y="4254500"/>
            <a:ext cx="29845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Next</a:t>
            </a:r>
            <a:endParaRPr lang="en-US" sz="1000" dirty="0"/>
          </a:p>
        </p:txBody>
      </p:sp>
      <p:sp>
        <p:nvSpPr>
          <p:cNvPr id="46" name="Text 44"/>
          <p:cNvSpPr txBox="1"/>
          <p:nvPr/>
        </p:nvSpPr>
        <p:spPr>
          <a:xfrm>
            <a:off x="8191500" y="4445000"/>
            <a:ext cx="2984500" cy="508000"/>
          </a:xfrm>
          <a:prstGeom prst="rect">
            <a:avLst/>
          </a:prstGeom>
          <a:noFill/>
          <a:ln/>
        </p:spPr>
        <p:txBody>
          <a:bodyPr wrap="square" lIns="0" tIns="0" rIns="0" bIns="0" rtlCol="0" anchor="t"/>
          <a:lstStyle/>
          <a:p>
            <a:pPr algn="l" indent="0" marL="0">
              <a:lnSpc>
                <a:spcPct val="112000"/>
              </a:lnSpc>
              <a:buNone/>
            </a:pPr>
            <a:r>
              <a:rPr lang="en-US" sz="1400" dirty="0">
                <a:solidFill>
                  <a:srgbClr val="3C3C42"/>
                </a:solidFill>
                <a:latin typeface="Segoe UI" pitchFamily="34" charset="0"/>
                <a:ea typeface="Segoe UI" pitchFamily="34" charset="-122"/>
                <a:cs typeface="Segoe UI" pitchFamily="34" charset="-120"/>
              </a:rPr>
              <a:t>UPI payments, QR check-in at the gate, more KIET lots.</a:t>
            </a:r>
            <a:endParaRPr lang="en-US" sz="1400" dirty="0"/>
          </a:p>
        </p:txBody>
      </p:sp>
      <p:sp>
        <p:nvSpPr>
          <p:cNvPr id="47" name="Shape 45"/>
          <p:cNvSpPr/>
          <p:nvPr/>
        </p:nvSpPr>
        <p:spPr>
          <a:xfrm>
            <a:off x="7937500" y="5054600"/>
            <a:ext cx="101600" cy="101600"/>
          </a:xfrm>
          <a:prstGeom prst="ellipse">
            <a:avLst/>
          </a:prstGeom>
          <a:solidFill>
            <a:srgbClr val="F4F4F1"/>
          </a:solidFill>
          <a:ln w="25400">
            <a:solidFill>
              <a:srgbClr val="121214"/>
            </a:solidFill>
            <a:prstDash val="solid"/>
          </a:ln>
        </p:spPr>
      </p:sp>
      <p:sp>
        <p:nvSpPr>
          <p:cNvPr id="48" name="Text 46"/>
          <p:cNvSpPr txBox="1"/>
          <p:nvPr/>
        </p:nvSpPr>
        <p:spPr>
          <a:xfrm>
            <a:off x="8191500" y="5016500"/>
            <a:ext cx="2984500" cy="1651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Later</a:t>
            </a:r>
            <a:endParaRPr lang="en-US" sz="1000" dirty="0"/>
          </a:p>
        </p:txBody>
      </p:sp>
      <p:sp>
        <p:nvSpPr>
          <p:cNvPr id="49" name="Text 47"/>
          <p:cNvSpPr txBox="1"/>
          <p:nvPr/>
        </p:nvSpPr>
        <p:spPr>
          <a:xfrm>
            <a:off x="8191500" y="5207000"/>
            <a:ext cx="2984500" cy="508000"/>
          </a:xfrm>
          <a:prstGeom prst="rect">
            <a:avLst/>
          </a:prstGeom>
          <a:noFill/>
          <a:ln/>
        </p:spPr>
        <p:txBody>
          <a:bodyPr wrap="square" lIns="0" tIns="0" rIns="0" bIns="0" rtlCol="0" anchor="t"/>
          <a:lstStyle/>
          <a:p>
            <a:pPr algn="l" indent="0" marL="0">
              <a:lnSpc>
                <a:spcPct val="112000"/>
              </a:lnSpc>
              <a:buNone/>
            </a:pPr>
            <a:r>
              <a:rPr lang="en-US" sz="1400" dirty="0">
                <a:solidFill>
                  <a:srgbClr val="3C3C42"/>
                </a:solidFill>
                <a:latin typeface="Segoe UI" pitchFamily="34" charset="0"/>
                <a:ea typeface="Segoe UI" pitchFamily="34" charset="-122"/>
                <a:cs typeface="Segoe UI" pitchFamily="34" charset="-120"/>
              </a:rPr>
              <a:t>Cameras or sensors for occupancy, and demand forecasts so lots can plan ahead.</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16</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10312026"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251700" y="203200"/>
            <a:ext cx="34163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3660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480300" y="203200"/>
            <a:ext cx="31623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Presentation &amp; teamwork</a:t>
            </a:r>
            <a:pPr indent="0" marL="0">
              <a:buNone/>
            </a:pPr>
            <a:r>
              <a:rPr lang="en-US" sz="900" dirty="0">
                <a:solidFill>
                  <a:srgbClr val="3C3C42"/>
                </a:solidFill>
                <a:latin typeface="Consolas" pitchFamily="34" charset="0"/>
                <a:ea typeface="Consolas" pitchFamily="34" charset="-122"/>
                <a:cs typeface="Consolas" pitchFamily="34" charset="-120"/>
              </a:rPr>
              <a:t>  ·  Team coordination</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15</a:t>
            </a:r>
            <a:pPr algn="l" indent="0" marL="0">
              <a:buNone/>
            </a:pPr>
            <a:r>
              <a:rPr lang="en-US" sz="1100" dirty="0">
                <a:solidFill>
                  <a:srgbClr val="62626A"/>
                </a:solidFill>
                <a:latin typeface="Consolas" pitchFamily="34" charset="0"/>
                <a:ea typeface="Consolas" pitchFamily="34" charset="-122"/>
                <a:cs typeface="Consolas" pitchFamily="34" charset="-120"/>
              </a:rPr>
              <a:t>  ——  Team Arrivo</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Who built what.</a:t>
            </a:r>
            <a:endParaRPr lang="en-US" sz="4400" dirty="0"/>
          </a:p>
        </p:txBody>
      </p:sp>
      <p:sp>
        <p:nvSpPr>
          <p:cNvPr id="9" name="Text 7"/>
          <p:cNvSpPr txBox="1"/>
          <p:nvPr/>
        </p:nvSpPr>
        <p:spPr>
          <a:xfrm>
            <a:off x="8255000" y="1587500"/>
            <a:ext cx="3175000" cy="317500"/>
          </a:xfrm>
          <a:prstGeom prst="rect">
            <a:avLst/>
          </a:prstGeom>
          <a:noFill/>
          <a:ln/>
        </p:spPr>
        <p:txBody>
          <a:bodyPr wrap="square" lIns="0" tIns="0" rIns="0" bIns="0" rtlCol="0" anchor="t"/>
          <a:lstStyle/>
          <a:p>
            <a:pPr algn="r" indent="0" marL="0">
              <a:lnSpc>
                <a:spcPct val="112000"/>
              </a:lnSpc>
              <a:buNone/>
            </a:pPr>
            <a:r>
              <a:rPr lang="en-US" sz="1600" dirty="0">
                <a:solidFill>
                  <a:srgbClr val="8A6400"/>
                </a:solidFill>
                <a:latin typeface="Segoe Print" pitchFamily="34" charset="0"/>
                <a:ea typeface="Segoe Print" pitchFamily="34" charset="-122"/>
                <a:cs typeface="Segoe Print" pitchFamily="34" charset="-120"/>
              </a:rPr>
              <a:t>each of us can demo it.</a:t>
            </a:r>
            <a:endParaRPr lang="en-US" sz="1600" dirty="0"/>
          </a:p>
        </p:txBody>
      </p:sp>
      <p:sp>
        <p:nvSpPr>
          <p:cNvPr id="10" name="!!card0"/>
          <p:cNvSpPr/>
          <p:nvPr/>
        </p:nvSpPr>
        <p:spPr>
          <a:xfrm>
            <a:off x="762000" y="2540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1" name="Shape 9"/>
          <p:cNvSpPr/>
          <p:nvPr/>
        </p:nvSpPr>
        <p:spPr>
          <a:xfrm>
            <a:off x="965200" y="2743200"/>
            <a:ext cx="609600" cy="609600"/>
          </a:xfrm>
          <a:prstGeom prst="ellipse">
            <a:avLst/>
          </a:prstGeom>
          <a:solidFill>
            <a:srgbClr val="FFD75A"/>
          </a:solidFill>
          <a:ln w="12700">
            <a:solidFill>
              <a:srgbClr val="FFD75A"/>
            </a:solidFill>
            <a:prstDash val="solid"/>
          </a:ln>
        </p:spPr>
      </p:sp>
      <p:sp>
        <p:nvSpPr>
          <p:cNvPr id="12" name="Text 10"/>
          <p:cNvSpPr txBox="1"/>
          <p:nvPr/>
        </p:nvSpPr>
        <p:spPr>
          <a:xfrm>
            <a:off x="965200" y="2743200"/>
            <a:ext cx="609600" cy="609600"/>
          </a:xfrm>
          <a:prstGeom prst="rect">
            <a:avLst/>
          </a:prstGeom>
          <a:noFill/>
          <a:ln/>
        </p:spPr>
        <p:txBody>
          <a:bodyPr wrap="square" lIns="0" tIns="0" rIns="0" bIns="0" rtlCol="0" anchor="ctr"/>
          <a:lstStyle/>
          <a:p>
            <a:pPr algn="ctr" indent="0" marL="0">
              <a:lnSpc>
                <a:spcPct val="112000"/>
              </a:lnSpc>
              <a:buNone/>
            </a:pPr>
            <a:r>
              <a:rPr lang="en-US" sz="2000" dirty="0">
                <a:solidFill>
                  <a:srgbClr val="121214"/>
                </a:solidFill>
                <a:latin typeface="Segoe UI Semibold" pitchFamily="34" charset="0"/>
                <a:ea typeface="Segoe UI Semibold" pitchFamily="34" charset="-122"/>
                <a:cs typeface="Segoe UI Semibold" pitchFamily="34" charset="-120"/>
              </a:rPr>
              <a:t>KS</a:t>
            </a:r>
            <a:endParaRPr lang="en-US" sz="2000" dirty="0"/>
          </a:p>
        </p:txBody>
      </p:sp>
      <p:sp>
        <p:nvSpPr>
          <p:cNvPr id="13" name="Text 11"/>
          <p:cNvSpPr txBox="1"/>
          <p:nvPr/>
        </p:nvSpPr>
        <p:spPr>
          <a:xfrm>
            <a:off x="965200" y="3530600"/>
            <a:ext cx="2190750" cy="317500"/>
          </a:xfrm>
          <a:prstGeom prst="rect">
            <a:avLst/>
          </a:prstGeom>
          <a:noFill/>
          <a:ln/>
        </p:spPr>
        <p:txBody>
          <a:bodyPr wrap="square" lIns="0" tIns="0" rIns="0" bIns="0" rtlCol="0" anchor="t"/>
          <a:lstStyle/>
          <a:p>
            <a:pPr algn="l" indent="0" marL="0">
              <a:lnSpc>
                <a:spcPct val="112000"/>
              </a:lnSpc>
              <a:buNone/>
            </a:pPr>
            <a:r>
              <a:rPr lang="en-US" sz="2200" spc="-60" kern="0" dirty="0">
                <a:solidFill>
                  <a:srgbClr val="121214"/>
                </a:solidFill>
                <a:latin typeface="Segoe UI Semibold" pitchFamily="34" charset="0"/>
                <a:ea typeface="Segoe UI Semibold" pitchFamily="34" charset="-122"/>
                <a:cs typeface="Segoe UI Semibold" pitchFamily="34" charset="-120"/>
              </a:rPr>
              <a:t>Krish Singh</a:t>
            </a:r>
            <a:endParaRPr lang="en-US" sz="2200" dirty="0"/>
          </a:p>
        </p:txBody>
      </p:sp>
      <p:sp>
        <p:nvSpPr>
          <p:cNvPr id="14" name="Text 12"/>
          <p:cNvSpPr txBox="1"/>
          <p:nvPr/>
        </p:nvSpPr>
        <p:spPr>
          <a:xfrm>
            <a:off x="965200" y="3873500"/>
            <a:ext cx="219075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Idea &amp; research</a:t>
            </a:r>
            <a:endParaRPr lang="en-US" sz="1100" dirty="0"/>
          </a:p>
        </p:txBody>
      </p:sp>
      <p:sp>
        <p:nvSpPr>
          <p:cNvPr id="15" name="Shape 13"/>
          <p:cNvSpPr/>
          <p:nvPr/>
        </p:nvSpPr>
        <p:spPr>
          <a:xfrm>
            <a:off x="965200" y="4572000"/>
            <a:ext cx="2165350" cy="0"/>
          </a:xfrm>
          <a:prstGeom prst="line">
            <a:avLst/>
          </a:prstGeom>
          <a:noFill/>
          <a:ln w="12700">
            <a:solidFill>
              <a:srgbClr val="C9C9C4"/>
            </a:solidFill>
            <a:prstDash val="solid"/>
          </a:ln>
        </p:spPr>
      </p:sp>
      <p:sp>
        <p:nvSpPr>
          <p:cNvPr id="16" name="Text 14"/>
          <p:cNvSpPr txBox="1"/>
          <p:nvPr/>
        </p:nvSpPr>
        <p:spPr>
          <a:xfrm>
            <a:off x="965200" y="4686300"/>
            <a:ext cx="1905000" cy="152400"/>
          </a:xfrm>
          <a:prstGeom prst="rect">
            <a:avLst/>
          </a:prstGeom>
          <a:noFill/>
          <a:ln/>
        </p:spPr>
        <p:txBody>
          <a:bodyPr wrap="square" lIns="0" tIns="0" rIns="0" bIns="0" rtlCol="0" anchor="t"/>
          <a:lstStyle/>
          <a:p>
            <a:pPr algn="l" indent="0" marL="0">
              <a:lnSpc>
                <a:spcPct val="112000"/>
              </a:lnSpc>
              <a:buNone/>
            </a:pPr>
            <a:r>
              <a:rPr lang="en-US" sz="900" dirty="0">
                <a:solidFill>
                  <a:srgbClr val="8A6400"/>
                </a:solidFill>
                <a:latin typeface="Consolas" pitchFamily="34" charset="0"/>
                <a:ea typeface="Consolas" pitchFamily="34" charset="-122"/>
                <a:cs typeface="Consolas" pitchFamily="34" charset="-120"/>
              </a:rPr>
              <a:t>explains</a:t>
            </a:r>
            <a:endParaRPr lang="en-US" sz="900" dirty="0"/>
          </a:p>
        </p:txBody>
      </p:sp>
      <p:sp>
        <p:nvSpPr>
          <p:cNvPr id="17" name="Text 15"/>
          <p:cNvSpPr txBox="1"/>
          <p:nvPr/>
        </p:nvSpPr>
        <p:spPr>
          <a:xfrm>
            <a:off x="965200" y="4864100"/>
            <a:ext cx="2190750" cy="825500"/>
          </a:xfrm>
          <a:prstGeom prst="rect">
            <a:avLst/>
          </a:prstGeom>
          <a:noFill/>
          <a:ln/>
        </p:spPr>
        <p:txBody>
          <a:bodyPr wrap="square" lIns="0" tIns="0" rIns="0" bIns="0" rtlCol="0" anchor="t"/>
          <a:lstStyle/>
          <a:p>
            <a:pPr algn="l" indent="0" marL="0">
              <a:lnSpc>
                <a:spcPct val="112000"/>
              </a:lnSpc>
              <a:buNone/>
            </a:pPr>
            <a:r>
              <a:rPr lang="en-US" sz="1400" dirty="0">
                <a:solidFill>
                  <a:srgbClr val="3C3C42"/>
                </a:solidFill>
                <a:latin typeface="Segoe UI" pitchFamily="34" charset="0"/>
                <a:ea typeface="Segoe UI" pitchFamily="34" charset="-122"/>
                <a:cs typeface="Segoe UI" pitchFamily="34" charset="-120"/>
              </a:rPr>
              <a:t>The problem, the survey of the lot and the SDG impact.</a:t>
            </a:r>
            <a:endParaRPr lang="en-US" sz="1400" dirty="0"/>
          </a:p>
        </p:txBody>
      </p:sp>
      <p:sp>
        <p:nvSpPr>
          <p:cNvPr id="18" name="!!card1"/>
          <p:cNvSpPr/>
          <p:nvPr/>
        </p:nvSpPr>
        <p:spPr>
          <a:xfrm>
            <a:off x="3460750" y="2540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9" name="Shape 17"/>
          <p:cNvSpPr/>
          <p:nvPr/>
        </p:nvSpPr>
        <p:spPr>
          <a:xfrm>
            <a:off x="3663950" y="2743200"/>
            <a:ext cx="609600" cy="609600"/>
          </a:xfrm>
          <a:prstGeom prst="ellipse">
            <a:avLst/>
          </a:prstGeom>
          <a:solidFill>
            <a:srgbClr val="121214"/>
          </a:solidFill>
          <a:ln w="12700">
            <a:solidFill>
              <a:srgbClr val="121214"/>
            </a:solidFill>
            <a:prstDash val="solid"/>
          </a:ln>
        </p:spPr>
      </p:sp>
      <p:sp>
        <p:nvSpPr>
          <p:cNvPr id="20" name="Text 18"/>
          <p:cNvSpPr txBox="1"/>
          <p:nvPr/>
        </p:nvSpPr>
        <p:spPr>
          <a:xfrm>
            <a:off x="3663950" y="2743200"/>
            <a:ext cx="609600" cy="609600"/>
          </a:xfrm>
          <a:prstGeom prst="rect">
            <a:avLst/>
          </a:prstGeom>
          <a:noFill/>
          <a:ln/>
        </p:spPr>
        <p:txBody>
          <a:bodyPr wrap="square" lIns="0" tIns="0" rIns="0" bIns="0" rtlCol="0" anchor="ctr"/>
          <a:lstStyle/>
          <a:p>
            <a:pPr algn="ctr" indent="0" marL="0">
              <a:lnSpc>
                <a:spcPct val="112000"/>
              </a:lnSpc>
              <a:buNone/>
            </a:pPr>
            <a:r>
              <a:rPr lang="en-US" sz="2000" dirty="0">
                <a:solidFill>
                  <a:srgbClr val="F4F4F1"/>
                </a:solidFill>
                <a:latin typeface="Segoe UI Semibold" pitchFamily="34" charset="0"/>
                <a:ea typeface="Segoe UI Semibold" pitchFamily="34" charset="-122"/>
                <a:cs typeface="Segoe UI Semibold" pitchFamily="34" charset="-120"/>
              </a:rPr>
              <a:t>KS</a:t>
            </a:r>
            <a:endParaRPr lang="en-US" sz="2000" dirty="0"/>
          </a:p>
        </p:txBody>
      </p:sp>
      <p:sp>
        <p:nvSpPr>
          <p:cNvPr id="21" name="Text 19"/>
          <p:cNvSpPr txBox="1"/>
          <p:nvPr/>
        </p:nvSpPr>
        <p:spPr>
          <a:xfrm>
            <a:off x="3663950" y="3530600"/>
            <a:ext cx="2190750" cy="317500"/>
          </a:xfrm>
          <a:prstGeom prst="rect">
            <a:avLst/>
          </a:prstGeom>
          <a:noFill/>
          <a:ln/>
        </p:spPr>
        <p:txBody>
          <a:bodyPr wrap="square" lIns="0" tIns="0" rIns="0" bIns="0" rtlCol="0" anchor="t"/>
          <a:lstStyle/>
          <a:p>
            <a:pPr algn="l" indent="0" marL="0">
              <a:lnSpc>
                <a:spcPct val="112000"/>
              </a:lnSpc>
              <a:buNone/>
            </a:pPr>
            <a:r>
              <a:rPr lang="en-US" sz="2200" spc="-60" kern="0" dirty="0">
                <a:solidFill>
                  <a:srgbClr val="121214"/>
                </a:solidFill>
                <a:latin typeface="Segoe UI Semibold" pitchFamily="34" charset="0"/>
                <a:ea typeface="Segoe UI Semibold" pitchFamily="34" charset="-122"/>
                <a:cs typeface="Segoe UI Semibold" pitchFamily="34" charset="-120"/>
              </a:rPr>
              <a:t>Kritika Sakhuja</a:t>
            </a:r>
            <a:endParaRPr lang="en-US" sz="2200" dirty="0"/>
          </a:p>
        </p:txBody>
      </p:sp>
      <p:sp>
        <p:nvSpPr>
          <p:cNvPr id="22" name="Text 20"/>
          <p:cNvSpPr txBox="1"/>
          <p:nvPr/>
        </p:nvSpPr>
        <p:spPr>
          <a:xfrm>
            <a:off x="3663950" y="3873500"/>
            <a:ext cx="219075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Lot plan &amp; lens</a:t>
            </a:r>
            <a:endParaRPr lang="en-US" sz="1100" dirty="0"/>
          </a:p>
        </p:txBody>
      </p:sp>
      <p:sp>
        <p:nvSpPr>
          <p:cNvPr id="23" name="Shape 21"/>
          <p:cNvSpPr/>
          <p:nvPr/>
        </p:nvSpPr>
        <p:spPr>
          <a:xfrm>
            <a:off x="3663950" y="4572000"/>
            <a:ext cx="2165350" cy="0"/>
          </a:xfrm>
          <a:prstGeom prst="line">
            <a:avLst/>
          </a:prstGeom>
          <a:noFill/>
          <a:ln w="12700">
            <a:solidFill>
              <a:srgbClr val="C9C9C4"/>
            </a:solidFill>
            <a:prstDash val="solid"/>
          </a:ln>
        </p:spPr>
      </p:sp>
      <p:sp>
        <p:nvSpPr>
          <p:cNvPr id="24" name="Text 22"/>
          <p:cNvSpPr txBox="1"/>
          <p:nvPr/>
        </p:nvSpPr>
        <p:spPr>
          <a:xfrm>
            <a:off x="3663950" y="4686300"/>
            <a:ext cx="1905000" cy="152400"/>
          </a:xfrm>
          <a:prstGeom prst="rect">
            <a:avLst/>
          </a:prstGeom>
          <a:noFill/>
          <a:ln/>
        </p:spPr>
        <p:txBody>
          <a:bodyPr wrap="square" lIns="0" tIns="0" rIns="0" bIns="0" rtlCol="0" anchor="t"/>
          <a:lstStyle/>
          <a:p>
            <a:pPr algn="l" indent="0" marL="0">
              <a:lnSpc>
                <a:spcPct val="112000"/>
              </a:lnSpc>
              <a:buNone/>
            </a:pPr>
            <a:r>
              <a:rPr lang="en-US" sz="900" dirty="0">
                <a:solidFill>
                  <a:srgbClr val="8A6400"/>
                </a:solidFill>
                <a:latin typeface="Consolas" pitchFamily="34" charset="0"/>
                <a:ea typeface="Consolas" pitchFamily="34" charset="-122"/>
                <a:cs typeface="Consolas" pitchFamily="34" charset="-120"/>
              </a:rPr>
              <a:t>explains</a:t>
            </a:r>
            <a:endParaRPr lang="en-US" sz="900" dirty="0"/>
          </a:p>
        </p:txBody>
      </p:sp>
      <p:sp>
        <p:nvSpPr>
          <p:cNvPr id="25" name="Text 23"/>
          <p:cNvSpPr txBox="1"/>
          <p:nvPr/>
        </p:nvSpPr>
        <p:spPr>
          <a:xfrm>
            <a:off x="3663950" y="4864100"/>
            <a:ext cx="2190750" cy="825500"/>
          </a:xfrm>
          <a:prstGeom prst="rect">
            <a:avLst/>
          </a:prstGeom>
          <a:noFill/>
          <a:ln/>
        </p:spPr>
        <p:txBody>
          <a:bodyPr wrap="square" lIns="0" tIns="0" rIns="0" bIns="0" rtlCol="0" anchor="t"/>
          <a:lstStyle/>
          <a:p>
            <a:pPr algn="l" indent="0" marL="0">
              <a:lnSpc>
                <a:spcPct val="112000"/>
              </a:lnSpc>
              <a:buNone/>
            </a:pPr>
            <a:r>
              <a:rPr lang="en-US" sz="1400" dirty="0">
                <a:solidFill>
                  <a:srgbClr val="3C3C42"/>
                </a:solidFill>
                <a:latin typeface="Segoe UI" pitchFamily="34" charset="0"/>
                <a:ea typeface="Segoe UI" pitchFamily="34" charset="-122"/>
                <a:cs typeface="Segoe UI" pitchFamily="34" charset="-120"/>
              </a:rPr>
              <a:t>How the plan was traced from the satellite photo, the lens and 3D view.</a:t>
            </a:r>
            <a:endParaRPr lang="en-US" sz="1400" dirty="0"/>
          </a:p>
        </p:txBody>
      </p:sp>
      <p:sp>
        <p:nvSpPr>
          <p:cNvPr id="26" name="!!card2"/>
          <p:cNvSpPr/>
          <p:nvPr/>
        </p:nvSpPr>
        <p:spPr>
          <a:xfrm>
            <a:off x="6159500" y="2540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7" name="Shape 25"/>
          <p:cNvSpPr/>
          <p:nvPr/>
        </p:nvSpPr>
        <p:spPr>
          <a:xfrm>
            <a:off x="6362700" y="2743200"/>
            <a:ext cx="609600" cy="609600"/>
          </a:xfrm>
          <a:prstGeom prst="ellipse">
            <a:avLst/>
          </a:prstGeom>
          <a:solidFill>
            <a:srgbClr val="FFD75A"/>
          </a:solidFill>
          <a:ln w="12700">
            <a:solidFill>
              <a:srgbClr val="FFD75A"/>
            </a:solidFill>
            <a:prstDash val="solid"/>
          </a:ln>
        </p:spPr>
      </p:sp>
      <p:sp>
        <p:nvSpPr>
          <p:cNvPr id="28" name="Text 26"/>
          <p:cNvSpPr txBox="1"/>
          <p:nvPr/>
        </p:nvSpPr>
        <p:spPr>
          <a:xfrm>
            <a:off x="6362700" y="2743200"/>
            <a:ext cx="609600" cy="609600"/>
          </a:xfrm>
          <a:prstGeom prst="rect">
            <a:avLst/>
          </a:prstGeom>
          <a:noFill/>
          <a:ln/>
        </p:spPr>
        <p:txBody>
          <a:bodyPr wrap="square" lIns="0" tIns="0" rIns="0" bIns="0" rtlCol="0" anchor="ctr"/>
          <a:lstStyle/>
          <a:p>
            <a:pPr algn="ctr" indent="0" marL="0">
              <a:lnSpc>
                <a:spcPct val="112000"/>
              </a:lnSpc>
              <a:buNone/>
            </a:pPr>
            <a:r>
              <a:rPr lang="en-US" sz="2000" dirty="0">
                <a:solidFill>
                  <a:srgbClr val="121214"/>
                </a:solidFill>
                <a:latin typeface="Segoe UI Semibold" pitchFamily="34" charset="0"/>
                <a:ea typeface="Segoe UI Semibold" pitchFamily="34" charset="-122"/>
                <a:cs typeface="Segoe UI Semibold" pitchFamily="34" charset="-120"/>
              </a:rPr>
              <a:t>PS</a:t>
            </a:r>
            <a:endParaRPr lang="en-US" sz="2000" dirty="0"/>
          </a:p>
        </p:txBody>
      </p:sp>
      <p:sp>
        <p:nvSpPr>
          <p:cNvPr id="29" name="Text 27"/>
          <p:cNvSpPr txBox="1"/>
          <p:nvPr/>
        </p:nvSpPr>
        <p:spPr>
          <a:xfrm>
            <a:off x="6362700" y="3530600"/>
            <a:ext cx="2190750" cy="317500"/>
          </a:xfrm>
          <a:prstGeom prst="rect">
            <a:avLst/>
          </a:prstGeom>
          <a:noFill/>
          <a:ln/>
        </p:spPr>
        <p:txBody>
          <a:bodyPr wrap="square" lIns="0" tIns="0" rIns="0" bIns="0" rtlCol="0" anchor="t"/>
          <a:lstStyle/>
          <a:p>
            <a:pPr algn="l" indent="0" marL="0">
              <a:lnSpc>
                <a:spcPct val="112000"/>
              </a:lnSpc>
              <a:buNone/>
            </a:pPr>
            <a:r>
              <a:rPr lang="en-US" sz="2200" spc="-60" kern="0" dirty="0">
                <a:solidFill>
                  <a:srgbClr val="121214"/>
                </a:solidFill>
                <a:latin typeface="Segoe UI Semibold" pitchFamily="34" charset="0"/>
                <a:ea typeface="Segoe UI Semibold" pitchFamily="34" charset="-122"/>
                <a:cs typeface="Segoe UI Semibold" pitchFamily="34" charset="-120"/>
              </a:rPr>
              <a:t>Prisha Soam</a:t>
            </a:r>
            <a:endParaRPr lang="en-US" sz="2200" dirty="0"/>
          </a:p>
        </p:txBody>
      </p:sp>
      <p:sp>
        <p:nvSpPr>
          <p:cNvPr id="30" name="Text 28"/>
          <p:cNvSpPr txBox="1"/>
          <p:nvPr/>
        </p:nvSpPr>
        <p:spPr>
          <a:xfrm>
            <a:off x="6362700" y="3873500"/>
            <a:ext cx="219075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Backend</a:t>
            </a:r>
            <a:endParaRPr lang="en-US" sz="1100" dirty="0"/>
          </a:p>
        </p:txBody>
      </p:sp>
      <p:sp>
        <p:nvSpPr>
          <p:cNvPr id="31" name="Shape 29"/>
          <p:cNvSpPr/>
          <p:nvPr/>
        </p:nvSpPr>
        <p:spPr>
          <a:xfrm>
            <a:off x="6362700" y="4572000"/>
            <a:ext cx="2165350" cy="0"/>
          </a:xfrm>
          <a:prstGeom prst="line">
            <a:avLst/>
          </a:prstGeom>
          <a:noFill/>
          <a:ln w="12700">
            <a:solidFill>
              <a:srgbClr val="C9C9C4"/>
            </a:solidFill>
            <a:prstDash val="solid"/>
          </a:ln>
        </p:spPr>
      </p:sp>
      <p:sp>
        <p:nvSpPr>
          <p:cNvPr id="32" name="Text 30"/>
          <p:cNvSpPr txBox="1"/>
          <p:nvPr/>
        </p:nvSpPr>
        <p:spPr>
          <a:xfrm>
            <a:off x="6362700" y="4686300"/>
            <a:ext cx="1905000" cy="152400"/>
          </a:xfrm>
          <a:prstGeom prst="rect">
            <a:avLst/>
          </a:prstGeom>
          <a:noFill/>
          <a:ln/>
        </p:spPr>
        <p:txBody>
          <a:bodyPr wrap="square" lIns="0" tIns="0" rIns="0" bIns="0" rtlCol="0" anchor="t"/>
          <a:lstStyle/>
          <a:p>
            <a:pPr algn="l" indent="0" marL="0">
              <a:lnSpc>
                <a:spcPct val="112000"/>
              </a:lnSpc>
              <a:buNone/>
            </a:pPr>
            <a:r>
              <a:rPr lang="en-US" sz="900" dirty="0">
                <a:solidFill>
                  <a:srgbClr val="8A6400"/>
                </a:solidFill>
                <a:latin typeface="Consolas" pitchFamily="34" charset="0"/>
                <a:ea typeface="Consolas" pitchFamily="34" charset="-122"/>
                <a:cs typeface="Consolas" pitchFamily="34" charset="-120"/>
              </a:rPr>
              <a:t>explains</a:t>
            </a:r>
            <a:endParaRPr lang="en-US" sz="900" dirty="0"/>
          </a:p>
        </p:txBody>
      </p:sp>
      <p:sp>
        <p:nvSpPr>
          <p:cNvPr id="33" name="Text 31"/>
          <p:cNvSpPr txBox="1"/>
          <p:nvPr/>
        </p:nvSpPr>
        <p:spPr>
          <a:xfrm>
            <a:off x="6362700" y="4864100"/>
            <a:ext cx="2190750" cy="825500"/>
          </a:xfrm>
          <a:prstGeom prst="rect">
            <a:avLst/>
          </a:prstGeom>
          <a:noFill/>
          <a:ln/>
        </p:spPr>
        <p:txBody>
          <a:bodyPr wrap="square" lIns="0" tIns="0" rIns="0" bIns="0" rtlCol="0" anchor="t"/>
          <a:lstStyle/>
          <a:p>
            <a:pPr algn="l" indent="0" marL="0">
              <a:lnSpc>
                <a:spcPct val="112000"/>
              </a:lnSpc>
              <a:buNone/>
            </a:pPr>
            <a:r>
              <a:rPr lang="en-US" sz="1400" dirty="0">
                <a:solidFill>
                  <a:srgbClr val="3C3C42"/>
                </a:solidFill>
                <a:latin typeface="Segoe UI" pitchFamily="34" charset="0"/>
                <a:ea typeface="Segoe UI" pitchFamily="34" charset="-122"/>
                <a:cs typeface="Segoe UI" pitchFamily="34" charset="-120"/>
              </a:rPr>
              <a:t>server.py, the database rule against double booking and live updates.</a:t>
            </a:r>
            <a:endParaRPr lang="en-US" sz="1400" dirty="0"/>
          </a:p>
        </p:txBody>
      </p:sp>
      <p:sp>
        <p:nvSpPr>
          <p:cNvPr id="34" name="!!card3"/>
          <p:cNvSpPr/>
          <p:nvPr/>
        </p:nvSpPr>
        <p:spPr>
          <a:xfrm>
            <a:off x="8858250" y="2540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35" name="Shape 33"/>
          <p:cNvSpPr/>
          <p:nvPr/>
        </p:nvSpPr>
        <p:spPr>
          <a:xfrm>
            <a:off x="9061450" y="2743200"/>
            <a:ext cx="609600" cy="609600"/>
          </a:xfrm>
          <a:prstGeom prst="ellipse">
            <a:avLst/>
          </a:prstGeom>
          <a:solidFill>
            <a:srgbClr val="121214"/>
          </a:solidFill>
          <a:ln w="12700">
            <a:solidFill>
              <a:srgbClr val="121214"/>
            </a:solidFill>
            <a:prstDash val="solid"/>
          </a:ln>
        </p:spPr>
      </p:sp>
      <p:sp>
        <p:nvSpPr>
          <p:cNvPr id="36" name="Text 34"/>
          <p:cNvSpPr txBox="1"/>
          <p:nvPr/>
        </p:nvSpPr>
        <p:spPr>
          <a:xfrm>
            <a:off x="9061450" y="2743200"/>
            <a:ext cx="609600" cy="609600"/>
          </a:xfrm>
          <a:prstGeom prst="rect">
            <a:avLst/>
          </a:prstGeom>
          <a:noFill/>
          <a:ln/>
        </p:spPr>
        <p:txBody>
          <a:bodyPr wrap="square" lIns="0" tIns="0" rIns="0" bIns="0" rtlCol="0" anchor="ctr"/>
          <a:lstStyle/>
          <a:p>
            <a:pPr algn="ctr" indent="0" marL="0">
              <a:lnSpc>
                <a:spcPct val="112000"/>
              </a:lnSpc>
              <a:buNone/>
            </a:pPr>
            <a:r>
              <a:rPr lang="en-US" sz="2000" dirty="0">
                <a:solidFill>
                  <a:srgbClr val="F4F4F1"/>
                </a:solidFill>
                <a:latin typeface="Segoe UI Semibold" pitchFamily="34" charset="0"/>
                <a:ea typeface="Segoe UI Semibold" pitchFamily="34" charset="-122"/>
                <a:cs typeface="Segoe UI Semibold" pitchFamily="34" charset="-120"/>
              </a:rPr>
              <a:t>VK</a:t>
            </a:r>
            <a:endParaRPr lang="en-US" sz="2000" dirty="0"/>
          </a:p>
        </p:txBody>
      </p:sp>
      <p:sp>
        <p:nvSpPr>
          <p:cNvPr id="37" name="Text 35"/>
          <p:cNvSpPr txBox="1"/>
          <p:nvPr/>
        </p:nvSpPr>
        <p:spPr>
          <a:xfrm>
            <a:off x="9061450" y="3530600"/>
            <a:ext cx="2190750" cy="317500"/>
          </a:xfrm>
          <a:prstGeom prst="rect">
            <a:avLst/>
          </a:prstGeom>
          <a:noFill/>
          <a:ln/>
        </p:spPr>
        <p:txBody>
          <a:bodyPr wrap="square" lIns="0" tIns="0" rIns="0" bIns="0" rtlCol="0" anchor="t"/>
          <a:lstStyle/>
          <a:p>
            <a:pPr algn="l" indent="0" marL="0">
              <a:lnSpc>
                <a:spcPct val="112000"/>
              </a:lnSpc>
              <a:buNone/>
            </a:pPr>
            <a:r>
              <a:rPr lang="en-US" sz="2200" spc="-60" kern="0" dirty="0">
                <a:solidFill>
                  <a:srgbClr val="121214"/>
                </a:solidFill>
                <a:latin typeface="Segoe UI Semibold" pitchFamily="34" charset="0"/>
                <a:ea typeface="Segoe UI Semibold" pitchFamily="34" charset="-122"/>
                <a:cs typeface="Segoe UI Semibold" pitchFamily="34" charset="-120"/>
              </a:rPr>
              <a:t>Vaibhav Kumar</a:t>
            </a:r>
            <a:endParaRPr lang="en-US" sz="2200" dirty="0"/>
          </a:p>
        </p:txBody>
      </p:sp>
      <p:sp>
        <p:nvSpPr>
          <p:cNvPr id="38" name="Text 36"/>
          <p:cNvSpPr txBox="1"/>
          <p:nvPr/>
        </p:nvSpPr>
        <p:spPr>
          <a:xfrm>
            <a:off x="9061450" y="3873500"/>
            <a:ext cx="219075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Design &amp; frontend</a:t>
            </a:r>
            <a:endParaRPr lang="en-US" sz="1100" dirty="0"/>
          </a:p>
        </p:txBody>
      </p:sp>
      <p:sp>
        <p:nvSpPr>
          <p:cNvPr id="39" name="Shape 37"/>
          <p:cNvSpPr/>
          <p:nvPr/>
        </p:nvSpPr>
        <p:spPr>
          <a:xfrm>
            <a:off x="9061450" y="4572000"/>
            <a:ext cx="2165350" cy="0"/>
          </a:xfrm>
          <a:prstGeom prst="line">
            <a:avLst/>
          </a:prstGeom>
          <a:noFill/>
          <a:ln w="12700">
            <a:solidFill>
              <a:srgbClr val="C9C9C4"/>
            </a:solidFill>
            <a:prstDash val="solid"/>
          </a:ln>
        </p:spPr>
      </p:sp>
      <p:sp>
        <p:nvSpPr>
          <p:cNvPr id="40" name="Text 38"/>
          <p:cNvSpPr txBox="1"/>
          <p:nvPr/>
        </p:nvSpPr>
        <p:spPr>
          <a:xfrm>
            <a:off x="9061450" y="4686300"/>
            <a:ext cx="1905000" cy="152400"/>
          </a:xfrm>
          <a:prstGeom prst="rect">
            <a:avLst/>
          </a:prstGeom>
          <a:noFill/>
          <a:ln/>
        </p:spPr>
        <p:txBody>
          <a:bodyPr wrap="square" lIns="0" tIns="0" rIns="0" bIns="0" rtlCol="0" anchor="t"/>
          <a:lstStyle/>
          <a:p>
            <a:pPr algn="l" indent="0" marL="0">
              <a:lnSpc>
                <a:spcPct val="112000"/>
              </a:lnSpc>
              <a:buNone/>
            </a:pPr>
            <a:r>
              <a:rPr lang="en-US" sz="900" dirty="0">
                <a:solidFill>
                  <a:srgbClr val="8A6400"/>
                </a:solidFill>
                <a:latin typeface="Consolas" pitchFamily="34" charset="0"/>
                <a:ea typeface="Consolas" pitchFamily="34" charset="-122"/>
                <a:cs typeface="Consolas" pitchFamily="34" charset="-120"/>
              </a:rPr>
              <a:t>explains</a:t>
            </a:r>
            <a:endParaRPr lang="en-US" sz="900" dirty="0"/>
          </a:p>
        </p:txBody>
      </p:sp>
      <p:sp>
        <p:nvSpPr>
          <p:cNvPr id="41" name="Text 39"/>
          <p:cNvSpPr txBox="1"/>
          <p:nvPr/>
        </p:nvSpPr>
        <p:spPr>
          <a:xfrm>
            <a:off x="9061450" y="4864100"/>
            <a:ext cx="2190750" cy="825500"/>
          </a:xfrm>
          <a:prstGeom prst="rect">
            <a:avLst/>
          </a:prstGeom>
          <a:noFill/>
          <a:ln/>
        </p:spPr>
        <p:txBody>
          <a:bodyPr wrap="square" lIns="0" tIns="0" rIns="0" bIns="0" rtlCol="0" anchor="t"/>
          <a:lstStyle/>
          <a:p>
            <a:pPr algn="l" indent="0" marL="0">
              <a:lnSpc>
                <a:spcPct val="112000"/>
              </a:lnSpc>
              <a:buNone/>
            </a:pPr>
            <a:r>
              <a:rPr lang="en-US" sz="1400" dirty="0">
                <a:solidFill>
                  <a:srgbClr val="3C3C42"/>
                </a:solidFill>
                <a:latin typeface="Segoe UI" pitchFamily="34" charset="0"/>
                <a:ea typeface="Segoe UI" pitchFamily="34" charset="-122"/>
                <a:cs typeface="Segoe UI" pitchFamily="34" charset="-120"/>
              </a:rPr>
              <a:t>The site, the booking flow, dark mode and the bay pass.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17</a:t>
            </a:r>
            <a:pPr algn="r" indent="0" marL="0">
              <a:buNone/>
            </a:pPr>
            <a:r>
              <a:rPr lang="en-US" sz="1000" dirty="0">
                <a:solidFill>
                  <a:srgbClr val="5E5E67"/>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10969438"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6972300" y="203200"/>
            <a:ext cx="3695700" cy="279400"/>
          </a:xfrm>
          <a:prstGeom prst="roundRect">
            <a:avLst>
              <a:gd name="adj" fmla="val 50000"/>
            </a:avLst>
          </a:prstGeom>
          <a:solidFill>
            <a:srgbClr val="060608"/>
          </a:solidFill>
          <a:ln w="12700">
            <a:solidFill>
              <a:srgbClr val="3A3A42"/>
            </a:solidFill>
            <a:prstDash val="solid"/>
          </a:ln>
        </p:spPr>
      </p:sp>
      <p:sp>
        <p:nvSpPr>
          <p:cNvPr id="5" name="!!tagdot"/>
          <p:cNvSpPr/>
          <p:nvPr/>
        </p:nvSpPr>
        <p:spPr>
          <a:xfrm>
            <a:off x="70866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200900" y="203200"/>
            <a:ext cx="3441700" cy="279400"/>
          </a:xfrm>
          <a:prstGeom prst="rect">
            <a:avLst/>
          </a:prstGeom>
          <a:noFill/>
          <a:ln/>
        </p:spPr>
        <p:txBody>
          <a:bodyPr wrap="none" lIns="0" tIns="0" rIns="0" bIns="0" rtlCol="0" anchor="ctr"/>
          <a:lstStyle/>
          <a:p>
            <a:pPr indent="0" marL="0">
              <a:buNone/>
            </a:pPr>
            <a:r>
              <a:rPr lang="en-US" sz="900" b="1" dirty="0">
                <a:solidFill>
                  <a:srgbClr val="F0F0F3"/>
                </a:solidFill>
                <a:latin typeface="Consolas" pitchFamily="34" charset="0"/>
                <a:ea typeface="Consolas" pitchFamily="34" charset="-122"/>
                <a:cs typeface="Consolas" pitchFamily="34" charset="-120"/>
              </a:rPr>
              <a:t>Query addressing</a:t>
            </a:r>
            <a:pPr indent="0" marL="0">
              <a:buNone/>
            </a:pPr>
            <a:r>
              <a:rPr lang="en-US" sz="900" dirty="0">
                <a:solidFill>
                  <a:srgbClr val="B7B7BF"/>
                </a:solidFill>
                <a:latin typeface="Consolas" pitchFamily="34" charset="0"/>
                <a:ea typeface="Consolas" pitchFamily="34" charset="-122"/>
                <a:cs typeface="Consolas" pitchFamily="34" charset="-120"/>
              </a:rPr>
              <a:t>  ·  Answers to judges' questions</a:t>
            </a:r>
            <a:endParaRPr lang="en-US" sz="900" dirty="0"/>
          </a:p>
        </p:txBody>
      </p:sp>
      <p:sp>
        <p:nvSpPr>
          <p:cNvPr id="7" name="Shape 5"/>
          <p:cNvSpPr/>
          <p:nvPr/>
        </p:nvSpPr>
        <p:spPr>
          <a:xfrm>
            <a:off x="0" y="2616200"/>
            <a:ext cx="12192000" cy="0"/>
          </a:xfrm>
          <a:prstGeom prst="line">
            <a:avLst/>
          </a:prstGeom>
          <a:noFill/>
          <a:ln w="12700">
            <a:solidFill>
              <a:srgbClr val="3A3A42"/>
            </a:solidFill>
            <a:prstDash val="solid"/>
          </a:ln>
        </p:spPr>
      </p:sp>
      <p:sp>
        <p:nvSpPr>
          <p:cNvPr id="8" name="Shape 6"/>
          <p:cNvSpPr/>
          <p:nvPr/>
        </p:nvSpPr>
        <p:spPr>
          <a:xfrm>
            <a:off x="0" y="3352800"/>
            <a:ext cx="12192000" cy="0"/>
          </a:xfrm>
          <a:prstGeom prst="line">
            <a:avLst/>
          </a:prstGeom>
          <a:noFill/>
          <a:ln w="12700">
            <a:solidFill>
              <a:srgbClr val="3A3A42"/>
            </a:solidFill>
            <a:prstDash val="solid"/>
          </a:ln>
        </p:spPr>
      </p:sp>
      <p:sp>
        <p:nvSpPr>
          <p:cNvPr id="9" name="Shape 7"/>
          <p:cNvSpPr/>
          <p:nvPr/>
        </p:nvSpPr>
        <p:spPr>
          <a:xfrm>
            <a:off x="5016500" y="635000"/>
            <a:ext cx="0" cy="5905500"/>
          </a:xfrm>
          <a:prstGeom prst="line">
            <a:avLst/>
          </a:prstGeom>
          <a:noFill/>
          <a:ln w="12700">
            <a:solidFill>
              <a:srgbClr val="3A3A42"/>
            </a:solidFill>
            <a:prstDash val="solid"/>
          </a:ln>
        </p:spPr>
      </p:sp>
      <p:sp>
        <p:nvSpPr>
          <p:cNvPr id="10" name="Shape 8"/>
          <p:cNvSpPr/>
          <p:nvPr/>
        </p:nvSpPr>
        <p:spPr>
          <a:xfrm>
            <a:off x="7175500" y="635000"/>
            <a:ext cx="0" cy="5905500"/>
          </a:xfrm>
          <a:prstGeom prst="line">
            <a:avLst/>
          </a:prstGeom>
          <a:noFill/>
          <a:ln w="12700">
            <a:solidFill>
              <a:srgbClr val="3A3A42"/>
            </a:solidFill>
            <a:prstDash val="solid"/>
          </a:ln>
        </p:spPr>
      </p:sp>
      <p:sp>
        <p:nvSpPr>
          <p:cNvPr id="11" name="Shape 9"/>
          <p:cNvSpPr/>
          <p:nvPr/>
        </p:nvSpPr>
        <p:spPr>
          <a:xfrm>
            <a:off x="5016500" y="2616200"/>
            <a:ext cx="2159000" cy="736600"/>
          </a:xfrm>
          <a:prstGeom prst="rect">
            <a:avLst/>
          </a:prstGeom>
          <a:ln w="19050">
            <a:solidFill>
              <a:srgbClr val="D9A91A"/>
            </a:solidFill>
            <a:prstDash val="solid"/>
          </a:ln>
        </p:spPr>
      </p:sp>
      <p:sp>
        <p:nvSpPr>
          <p:cNvPr id="12" name="Shape 10"/>
          <p:cNvSpPr/>
          <p:nvPr/>
        </p:nvSpPr>
        <p:spPr>
          <a:xfrm>
            <a:off x="4972050" y="2571750"/>
            <a:ext cx="88900" cy="88900"/>
          </a:xfrm>
          <a:prstGeom prst="rect">
            <a:avLst/>
          </a:prstGeom>
          <a:solidFill>
            <a:srgbClr val="FFFFFF"/>
          </a:solidFill>
          <a:ln w="19050">
            <a:solidFill>
              <a:srgbClr val="8A6400"/>
            </a:solidFill>
            <a:prstDash val="solid"/>
          </a:ln>
        </p:spPr>
      </p:sp>
      <p:sp>
        <p:nvSpPr>
          <p:cNvPr id="13" name="Shape 11"/>
          <p:cNvSpPr/>
          <p:nvPr/>
        </p:nvSpPr>
        <p:spPr>
          <a:xfrm>
            <a:off x="7131050" y="2571750"/>
            <a:ext cx="88900" cy="88900"/>
          </a:xfrm>
          <a:prstGeom prst="rect">
            <a:avLst/>
          </a:prstGeom>
          <a:solidFill>
            <a:srgbClr val="FFFFFF"/>
          </a:solidFill>
          <a:ln w="19050">
            <a:solidFill>
              <a:srgbClr val="8A6400"/>
            </a:solidFill>
            <a:prstDash val="solid"/>
          </a:ln>
        </p:spPr>
      </p:sp>
      <p:sp>
        <p:nvSpPr>
          <p:cNvPr id="14" name="Shape 12"/>
          <p:cNvSpPr/>
          <p:nvPr/>
        </p:nvSpPr>
        <p:spPr>
          <a:xfrm>
            <a:off x="4972050" y="3308350"/>
            <a:ext cx="88900" cy="88900"/>
          </a:xfrm>
          <a:prstGeom prst="rect">
            <a:avLst/>
          </a:prstGeom>
          <a:solidFill>
            <a:srgbClr val="FFFFFF"/>
          </a:solidFill>
          <a:ln w="19050">
            <a:solidFill>
              <a:srgbClr val="8A6400"/>
            </a:solidFill>
            <a:prstDash val="solid"/>
          </a:ln>
        </p:spPr>
      </p:sp>
      <p:sp>
        <p:nvSpPr>
          <p:cNvPr id="15" name="Shape 13"/>
          <p:cNvSpPr/>
          <p:nvPr/>
        </p:nvSpPr>
        <p:spPr>
          <a:xfrm>
            <a:off x="7131050" y="3308350"/>
            <a:ext cx="88900" cy="88900"/>
          </a:xfrm>
          <a:prstGeom prst="rect">
            <a:avLst/>
          </a:prstGeom>
          <a:solidFill>
            <a:srgbClr val="FFFFFF"/>
          </a:solidFill>
          <a:ln w="19050">
            <a:solidFill>
              <a:srgbClr val="8A6400"/>
            </a:solidFill>
            <a:prstDash val="solid"/>
          </a:ln>
        </p:spPr>
      </p:sp>
      <p:sp>
        <p:nvSpPr>
          <p:cNvPr id="16" name="Shape 14"/>
          <p:cNvSpPr/>
          <p:nvPr/>
        </p:nvSpPr>
        <p:spPr>
          <a:xfrm>
            <a:off x="5118100" y="2692400"/>
            <a:ext cx="1955800" cy="584200"/>
          </a:xfrm>
          <a:prstGeom prst="roundRect">
            <a:avLst>
              <a:gd name="adj" fmla="val 50000"/>
            </a:avLst>
          </a:prstGeom>
          <a:solidFill>
            <a:srgbClr val="F0F0F3"/>
          </a:solidFill>
          <a:ln w="12700">
            <a:solidFill>
              <a:srgbClr val="F0F0F3"/>
            </a:solidFill>
            <a:prstDash val="solid"/>
          </a:ln>
        </p:spPr>
      </p:sp>
      <p:sp>
        <p:nvSpPr>
          <p:cNvPr id="17" name="Text 15"/>
          <p:cNvSpPr txBox="1"/>
          <p:nvPr/>
        </p:nvSpPr>
        <p:spPr>
          <a:xfrm>
            <a:off x="5372100" y="2692400"/>
            <a:ext cx="1206500" cy="584200"/>
          </a:xfrm>
          <a:prstGeom prst="rect">
            <a:avLst/>
          </a:prstGeom>
          <a:noFill/>
          <a:ln/>
        </p:spPr>
        <p:txBody>
          <a:bodyPr wrap="square" lIns="0" tIns="0" rIns="0" bIns="0" rtlCol="0" anchor="ctr"/>
          <a:lstStyle/>
          <a:p>
            <a:pPr algn="l" indent="0" marL="0">
              <a:lnSpc>
                <a:spcPct val="112000"/>
              </a:lnSpc>
              <a:buNone/>
            </a:pPr>
            <a:r>
              <a:rPr lang="en-US" sz="1600" dirty="0">
                <a:solidFill>
                  <a:srgbClr val="060608"/>
                </a:solidFill>
                <a:latin typeface="Segoe UI Semibold" pitchFamily="34" charset="0"/>
                <a:ea typeface="Segoe UI Semibold" pitchFamily="34" charset="-122"/>
                <a:cs typeface="Segoe UI Semibold" pitchFamily="34" charset="-120"/>
              </a:rPr>
              <a:t>Book a bay</a:t>
            </a:r>
            <a:endParaRPr lang="en-US" sz="1600" dirty="0"/>
          </a:p>
        </p:txBody>
      </p:sp>
      <p:sp>
        <p:nvSpPr>
          <p:cNvPr id="18" name="Shape 16"/>
          <p:cNvSpPr/>
          <p:nvPr/>
        </p:nvSpPr>
        <p:spPr>
          <a:xfrm>
            <a:off x="6553200" y="2762250"/>
            <a:ext cx="444500" cy="444500"/>
          </a:xfrm>
          <a:prstGeom prst="ellipse">
            <a:avLst/>
          </a:prstGeom>
          <a:solidFill>
            <a:srgbClr val="FFD75A"/>
          </a:solidFill>
          <a:ln w="12700">
            <a:solidFill>
              <a:srgbClr val="FFD75A"/>
            </a:solidFill>
            <a:prstDash val="solid"/>
          </a:ln>
        </p:spPr>
      </p:sp>
      <p:sp>
        <p:nvSpPr>
          <p:cNvPr id="19" name="Text 17"/>
          <p:cNvSpPr txBox="1"/>
          <p:nvPr/>
        </p:nvSpPr>
        <p:spPr>
          <a:xfrm>
            <a:off x="6553200" y="2762250"/>
            <a:ext cx="444500" cy="444500"/>
          </a:xfrm>
          <a:prstGeom prst="rect">
            <a:avLst/>
          </a:prstGeom>
          <a:noFill/>
          <a:ln/>
        </p:spPr>
        <p:txBody>
          <a:bodyPr wrap="square" lIns="0" tIns="0" rIns="0" bIns="0" rtlCol="0" anchor="ctr"/>
          <a:lstStyle/>
          <a:p>
            <a:pPr algn="ctr" indent="0" marL="0">
              <a:lnSpc>
                <a:spcPct val="112000"/>
              </a:lnSpc>
              <a:buNone/>
            </a:pPr>
            <a:r>
              <a:rPr lang="en-US" sz="1800" dirty="0">
                <a:solidFill>
                  <a:srgbClr val="121214"/>
                </a:solidFill>
                <a:latin typeface="Segoe UI Semibold" pitchFamily="34" charset="0"/>
                <a:ea typeface="Segoe UI Semibold" pitchFamily="34" charset="-122"/>
                <a:cs typeface="Segoe UI Semibold" pitchFamily="34" charset="-120"/>
              </a:rPr>
              <a:t>↗</a:t>
            </a:r>
            <a:endParaRPr lang="en-US" sz="1800" dirty="0"/>
          </a:p>
        </p:txBody>
      </p:sp>
      <p:sp>
        <p:nvSpPr>
          <p:cNvPr id="20" name="Text 18"/>
          <p:cNvSpPr txBox="1"/>
          <p:nvPr/>
        </p:nvSpPr>
        <p:spPr>
          <a:xfrm>
            <a:off x="5016500" y="3441700"/>
            <a:ext cx="1905000" cy="165100"/>
          </a:xfrm>
          <a:prstGeom prst="rect">
            <a:avLst/>
          </a:prstGeom>
          <a:noFill/>
          <a:ln/>
        </p:spPr>
        <p:txBody>
          <a:bodyPr wrap="square" lIns="0" tIns="0" rIns="0" bIns="0" rtlCol="0" anchor="t"/>
          <a:lstStyle/>
          <a:p>
            <a:pPr algn="l" indent="0" marL="0">
              <a:lnSpc>
                <a:spcPct val="112000"/>
              </a:lnSpc>
              <a:buNone/>
            </a:pPr>
            <a:r>
              <a:rPr lang="en-US" sz="900" dirty="0">
                <a:solidFill>
                  <a:srgbClr val="F3CF6B"/>
                </a:solidFill>
                <a:latin typeface="Consolas" pitchFamily="34" charset="0"/>
                <a:ea typeface="Consolas" pitchFamily="34" charset="-122"/>
                <a:cs typeface="Consolas" pitchFamily="34" charset="-120"/>
              </a:rPr>
              <a:t>Button · 308 × 92</a:t>
            </a:r>
            <a:endParaRPr lang="en-US" sz="900" dirty="0"/>
          </a:p>
        </p:txBody>
      </p:sp>
      <p:sp>
        <p:nvSpPr>
          <p:cNvPr id="21" name="Text 19"/>
          <p:cNvSpPr txBox="1"/>
          <p:nvPr/>
        </p:nvSpPr>
        <p:spPr>
          <a:xfrm>
            <a:off x="7302500" y="2095500"/>
            <a:ext cx="3175000" cy="381000"/>
          </a:xfrm>
          <a:prstGeom prst="rect">
            <a:avLst/>
          </a:prstGeom>
          <a:noFill/>
          <a:ln/>
        </p:spPr>
        <p:txBody>
          <a:bodyPr wrap="square" lIns="0" tIns="0" rIns="0" bIns="0" rtlCol="0" anchor="t"/>
          <a:lstStyle/>
          <a:p>
            <a:pPr algn="l" indent="0" marL="0">
              <a:lnSpc>
                <a:spcPct val="112000"/>
              </a:lnSpc>
              <a:buNone/>
            </a:pPr>
            <a:r>
              <a:rPr lang="en-US" sz="1600" dirty="0">
                <a:solidFill>
                  <a:srgbClr val="F3CF6B"/>
                </a:solidFill>
                <a:latin typeface="Segoe Print" pitchFamily="34" charset="0"/>
                <a:ea typeface="Segoe Print" pitchFamily="34" charset="-122"/>
                <a:cs typeface="Segoe Print" pitchFamily="34" charset="-120"/>
              </a:rPr>
              <a:t>go on, ask us anything.</a:t>
            </a:r>
            <a:endParaRPr lang="en-US" sz="1600" dirty="0"/>
          </a:p>
        </p:txBody>
      </p:sp>
      <p:sp>
        <p:nvSpPr>
          <p:cNvPr id="22" name="Text 20"/>
          <p:cNvSpPr txBox="1"/>
          <p:nvPr/>
        </p:nvSpPr>
        <p:spPr>
          <a:xfrm>
            <a:off x="762000" y="4826000"/>
            <a:ext cx="3810000" cy="254000"/>
          </a:xfrm>
          <a:prstGeom prst="rect">
            <a:avLst/>
          </a:prstGeom>
          <a:noFill/>
          <a:ln/>
        </p:spPr>
        <p:txBody>
          <a:bodyPr wrap="square" lIns="0" tIns="0" rIns="0" bIns="0" rtlCol="0" anchor="t"/>
          <a:lstStyle/>
          <a:p>
            <a:pPr algn="l" indent="0" marL="0">
              <a:lnSpc>
                <a:spcPct val="112000"/>
              </a:lnSpc>
              <a:buNone/>
            </a:pPr>
            <a:r>
              <a:rPr lang="en-US" sz="1100" b="1" dirty="0">
                <a:solidFill>
                  <a:srgbClr val="F3CF6B"/>
                </a:solidFill>
                <a:latin typeface="Consolas" pitchFamily="34" charset="0"/>
                <a:ea typeface="Consolas" pitchFamily="34" charset="-122"/>
                <a:cs typeface="Consolas" pitchFamily="34" charset="-120"/>
              </a:rPr>
              <a:t>16</a:t>
            </a:r>
            <a:pPr algn="l" indent="0" marL="0">
              <a:lnSpc>
                <a:spcPct val="112000"/>
              </a:lnSpc>
              <a:buNone/>
            </a:pPr>
            <a:r>
              <a:rPr lang="en-US" sz="1100" dirty="0">
                <a:solidFill>
                  <a:srgbClr val="8A8A94"/>
                </a:solidFill>
                <a:latin typeface="Consolas" pitchFamily="34" charset="0"/>
                <a:ea typeface="Consolas" pitchFamily="34" charset="-122"/>
                <a:cs typeface="Consolas" pitchFamily="34" charset="-120"/>
              </a:rPr>
              <a:t>  ——  Thank you</a:t>
            </a:r>
            <a:endParaRPr lang="en-US" sz="1100" dirty="0"/>
          </a:p>
        </p:txBody>
      </p:sp>
      <p:sp>
        <p:nvSpPr>
          <p:cNvPr id="23" name="Text 21"/>
          <p:cNvSpPr txBox="1"/>
          <p:nvPr/>
        </p:nvSpPr>
        <p:spPr>
          <a:xfrm>
            <a:off x="698500" y="5080000"/>
            <a:ext cx="6985000" cy="1270000"/>
          </a:xfrm>
          <a:prstGeom prst="rect">
            <a:avLst/>
          </a:prstGeom>
          <a:noFill/>
          <a:ln/>
        </p:spPr>
        <p:txBody>
          <a:bodyPr wrap="square" lIns="0" tIns="0" rIns="0" bIns="0" rtlCol="0" anchor="b"/>
          <a:lstStyle/>
          <a:p>
            <a:pPr algn="l" indent="0" marL="0">
              <a:lnSpc>
                <a:spcPct val="112000"/>
              </a:lnSpc>
              <a:buNone/>
            </a:pPr>
            <a:r>
              <a:rPr lang="en-US" sz="8400" spc="-400" kern="0" dirty="0">
                <a:solidFill>
                  <a:srgbClr val="F0F0F3"/>
                </a:solidFill>
                <a:latin typeface="Segoe UI Semibold" pitchFamily="34" charset="0"/>
                <a:ea typeface="Segoe UI Semibold" pitchFamily="34" charset="-122"/>
                <a:cs typeface="Segoe UI Semibold" pitchFamily="34" charset="-120"/>
              </a:rPr>
              <a:t>Your turn.</a:t>
            </a:r>
            <a:endParaRPr lang="en-US" sz="8400" dirty="0"/>
          </a:p>
        </p:txBody>
      </p:sp>
      <p:sp>
        <p:nvSpPr>
          <p:cNvPr id="24" name="Text 22"/>
          <p:cNvSpPr txBox="1"/>
          <p:nvPr/>
        </p:nvSpPr>
        <p:spPr>
          <a:xfrm>
            <a:off x="9525000" y="5588000"/>
            <a:ext cx="1524000" cy="444500"/>
          </a:xfrm>
          <a:prstGeom prst="rect">
            <a:avLst/>
          </a:prstGeom>
          <a:noFill/>
          <a:ln/>
        </p:spPr>
        <p:txBody>
          <a:bodyPr wrap="square" lIns="0" tIns="0" rIns="0" bIns="0" rtlCol="0" anchor="b"/>
          <a:lstStyle/>
          <a:p>
            <a:pPr algn="r" indent="0" marL="0">
              <a:lnSpc>
                <a:spcPct val="112000"/>
              </a:lnSpc>
              <a:buNone/>
            </a:pPr>
            <a:r>
              <a:rPr lang="en-US" sz="2700" spc="-100" kern="0" dirty="0">
                <a:solidFill>
                  <a:srgbClr val="F0F0F3"/>
                </a:solidFill>
                <a:latin typeface="Segoe UI Semibold" pitchFamily="34" charset="0"/>
                <a:ea typeface="Segoe UI Semibold" pitchFamily="34" charset="-122"/>
                <a:cs typeface="Segoe UI Semibold" pitchFamily="34" charset="-120"/>
              </a:rPr>
              <a:t>arrivo</a:t>
            </a:r>
            <a:endParaRPr lang="en-US" sz="2700" dirty="0"/>
          </a:p>
        </p:txBody>
      </p:sp>
      <p:sp>
        <p:nvSpPr>
          <p:cNvPr id="25" name="Shape 23"/>
          <p:cNvSpPr/>
          <p:nvPr/>
        </p:nvSpPr>
        <p:spPr>
          <a:xfrm>
            <a:off x="11099800" y="5905500"/>
            <a:ext cx="88900" cy="88900"/>
          </a:xfrm>
          <a:prstGeom prst="ellipse">
            <a:avLst/>
          </a:prstGeom>
          <a:solidFill>
            <a:srgbClr val="FFD75A"/>
          </a:solidFill>
          <a:ln w="12700">
            <a:solidFill>
              <a:srgbClr val="FFD75A"/>
            </a:solidFill>
            <a:prstDash val="solid"/>
          </a:ln>
        </p:spPr>
      </p:sp>
      <p:sp>
        <p:nvSpPr>
          <p:cNvPr id="26" name="team-close"/>
          <p:cNvSpPr txBox="1"/>
          <p:nvPr/>
        </p:nvSpPr>
        <p:spPr>
          <a:xfrm>
            <a:off x="7620000" y="6108700"/>
            <a:ext cx="3810000" cy="190500"/>
          </a:xfrm>
          <a:prstGeom prst="rect">
            <a:avLst/>
          </a:prstGeom>
          <a:noFill/>
          <a:ln/>
        </p:spPr>
        <p:txBody>
          <a:bodyPr wrap="square" lIns="0" tIns="0" rIns="0" bIns="0" rtlCol="0" anchor="t"/>
          <a:lstStyle/>
          <a:p>
            <a:pPr algn="r" indent="0" marL="0">
              <a:lnSpc>
                <a:spcPct val="112000"/>
              </a:lnSpc>
              <a:buNone/>
            </a:pPr>
            <a:r>
              <a:rPr lang="en-US" sz="1000" dirty="0">
                <a:solidFill>
                  <a:srgbClr val="8A8A94"/>
                </a:solidFill>
                <a:latin typeface="Consolas" pitchFamily="34" charset="0"/>
                <a:ea typeface="Consolas" pitchFamily="34" charset="-122"/>
                <a:cs typeface="Consolas" pitchFamily="34" charset="-120"/>
              </a:rPr>
              <a:t>Team Arrivo · INNOTECH'26 · Category 6</a:t>
            </a:r>
            <a:endParaRPr lang="en-US" sz="1000" dirty="0"/>
          </a:p>
        </p:txBody>
      </p:sp>
    </p:spTree>
  </p:cSld>
  <p:clrMapOvr>
    <a:masterClrMapping/>
  </p:clrMapOvr>
  <p:transition xmlns:p14="http://schemas.microsoft.com/office/powerpoint/2010/main" spd="slow" p14:dur="1100">
    <p:fade thruBlk="1"/>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18</a:t>
            </a:r>
            <a:pPr algn="r" indent="0" marL="0">
              <a:buNone/>
            </a:pPr>
            <a:r>
              <a:rPr lang="en-US" sz="1000" dirty="0">
                <a:solidFill>
                  <a:srgbClr val="9A9AA1"/>
                </a:solidFill>
                <a:latin typeface="Consolas" pitchFamily="34" charset="0"/>
                <a:ea typeface="Consolas" pitchFamily="34" charset="-122"/>
                <a:cs typeface="Consolas" pitchFamily="34" charset="-120"/>
              </a:rPr>
              <a:t> / 18</a:t>
            </a:r>
            <a:endParaRPr lang="en-US" sz="1000" dirty="0"/>
          </a:p>
        </p:txBody>
      </p:sp>
      <p:sp>
        <p:nvSpPr>
          <p:cNvPr id="3" name="!!dot"/>
          <p:cNvSpPr/>
          <p:nvPr/>
        </p:nvSpPr>
        <p:spPr>
          <a:xfrm>
            <a:off x="11626850"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6972300" y="203200"/>
            <a:ext cx="36957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0866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200900" y="203200"/>
            <a:ext cx="34417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Query addressing</a:t>
            </a:r>
            <a:pPr indent="0" marL="0">
              <a:buNone/>
            </a:pPr>
            <a:r>
              <a:rPr lang="en-US" sz="900" dirty="0">
                <a:solidFill>
                  <a:srgbClr val="3C3C42"/>
                </a:solidFill>
                <a:latin typeface="Consolas" pitchFamily="34" charset="0"/>
                <a:ea typeface="Consolas" pitchFamily="34" charset="-122"/>
                <a:cs typeface="Consolas" pitchFamily="34" charset="-120"/>
              </a:rPr>
              <a:t>  ·  Answers to judges' questions</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A</a:t>
            </a:r>
            <a:pPr algn="l" indent="0" marL="0">
              <a:buNone/>
            </a:pPr>
            <a:r>
              <a:rPr lang="en-US" sz="1100" dirty="0">
                <a:solidFill>
                  <a:srgbClr val="62626A"/>
                </a:solidFill>
                <a:latin typeface="Consolas" pitchFamily="34" charset="0"/>
                <a:ea typeface="Consolas" pitchFamily="34" charset="-122"/>
                <a:cs typeface="Consolas" pitchFamily="34" charset="-120"/>
              </a:rPr>
              <a:t>  ——  Appendix</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Questions we expect.</a:t>
            </a:r>
            <a:endParaRPr lang="en-US" sz="4400" dirty="0"/>
          </a:p>
        </p:txBody>
      </p:sp>
      <p:sp>
        <p:nvSpPr>
          <p:cNvPr id="9" name="Shape 7"/>
          <p:cNvSpPr/>
          <p:nvPr/>
        </p:nvSpPr>
        <p:spPr>
          <a:xfrm>
            <a:off x="762000" y="2286000"/>
            <a:ext cx="5111750" cy="0"/>
          </a:xfrm>
          <a:prstGeom prst="line">
            <a:avLst/>
          </a:prstGeom>
          <a:noFill/>
          <a:ln w="12700">
            <a:solidFill>
              <a:srgbClr val="C9C9C4"/>
            </a:solidFill>
            <a:prstDash val="solid"/>
          </a:ln>
        </p:spPr>
      </p:sp>
      <p:sp>
        <p:nvSpPr>
          <p:cNvPr id="10" name="Text 8"/>
          <p:cNvSpPr txBox="1"/>
          <p:nvPr/>
        </p:nvSpPr>
        <p:spPr>
          <a:xfrm>
            <a:off x="762000" y="24257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Q1</a:t>
            </a:r>
            <a:endParaRPr lang="en-US" sz="1000" dirty="0"/>
          </a:p>
        </p:txBody>
      </p:sp>
      <p:sp>
        <p:nvSpPr>
          <p:cNvPr id="11" name="Text 9"/>
          <p:cNvSpPr txBox="1"/>
          <p:nvPr/>
        </p:nvSpPr>
        <p:spPr>
          <a:xfrm>
            <a:off x="1117600" y="23876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What if someone books and never comes?</a:t>
            </a:r>
            <a:endParaRPr lang="en-US" sz="1600" dirty="0"/>
          </a:p>
        </p:txBody>
      </p:sp>
      <p:sp>
        <p:nvSpPr>
          <p:cNvPr id="12" name="Text 10"/>
          <p:cNvSpPr txBox="1"/>
          <p:nvPr/>
        </p:nvSpPr>
        <p:spPr>
          <a:xfrm>
            <a:off x="1117600" y="26797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The bay waits 15 minutes past their arrival time, then opens up for anyone.</a:t>
            </a:r>
            <a:endParaRPr lang="en-US" sz="1300" dirty="0"/>
          </a:p>
        </p:txBody>
      </p:sp>
      <p:sp>
        <p:nvSpPr>
          <p:cNvPr id="13" name="Shape 11"/>
          <p:cNvSpPr/>
          <p:nvPr/>
        </p:nvSpPr>
        <p:spPr>
          <a:xfrm>
            <a:off x="762000" y="3314700"/>
            <a:ext cx="5111750" cy="0"/>
          </a:xfrm>
          <a:prstGeom prst="line">
            <a:avLst/>
          </a:prstGeom>
          <a:noFill/>
          <a:ln w="12700">
            <a:solidFill>
              <a:srgbClr val="C9C9C4"/>
            </a:solidFill>
            <a:prstDash val="solid"/>
          </a:ln>
        </p:spPr>
      </p:sp>
      <p:sp>
        <p:nvSpPr>
          <p:cNvPr id="14" name="Text 12"/>
          <p:cNvSpPr txBox="1"/>
          <p:nvPr/>
        </p:nvSpPr>
        <p:spPr>
          <a:xfrm>
            <a:off x="762000" y="34544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Q2</a:t>
            </a:r>
            <a:endParaRPr lang="en-US" sz="1000" dirty="0"/>
          </a:p>
        </p:txBody>
      </p:sp>
      <p:sp>
        <p:nvSpPr>
          <p:cNvPr id="15" name="Text 13"/>
          <p:cNvSpPr txBox="1"/>
          <p:nvPr/>
        </p:nvSpPr>
        <p:spPr>
          <a:xfrm>
            <a:off x="1117600" y="34163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How do you know a bay is really empty?</a:t>
            </a:r>
            <a:endParaRPr lang="en-US" sz="1600" dirty="0"/>
          </a:p>
        </p:txBody>
      </p:sp>
      <p:sp>
        <p:nvSpPr>
          <p:cNvPr id="16" name="Text 14"/>
          <p:cNvSpPr txBox="1"/>
          <p:nvPr/>
        </p:nvSpPr>
        <p:spPr>
          <a:xfrm>
            <a:off x="1117600" y="37084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Today, from bookings. Next, a QR check-in at the gate; later, cameras or sensors.</a:t>
            </a:r>
            <a:endParaRPr lang="en-US" sz="1300" dirty="0"/>
          </a:p>
        </p:txBody>
      </p:sp>
      <p:sp>
        <p:nvSpPr>
          <p:cNvPr id="17" name="Shape 15"/>
          <p:cNvSpPr/>
          <p:nvPr/>
        </p:nvSpPr>
        <p:spPr>
          <a:xfrm>
            <a:off x="762000" y="4343400"/>
            <a:ext cx="5111750" cy="0"/>
          </a:xfrm>
          <a:prstGeom prst="line">
            <a:avLst/>
          </a:prstGeom>
          <a:noFill/>
          <a:ln w="12700">
            <a:solidFill>
              <a:srgbClr val="C9C9C4"/>
            </a:solidFill>
            <a:prstDash val="solid"/>
          </a:ln>
        </p:spPr>
      </p:sp>
      <p:sp>
        <p:nvSpPr>
          <p:cNvPr id="18" name="Text 16"/>
          <p:cNvSpPr txBox="1"/>
          <p:nvPr/>
        </p:nvSpPr>
        <p:spPr>
          <a:xfrm>
            <a:off x="762000" y="44831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Q3</a:t>
            </a:r>
            <a:endParaRPr lang="en-US" sz="1000" dirty="0"/>
          </a:p>
        </p:txBody>
      </p:sp>
      <p:sp>
        <p:nvSpPr>
          <p:cNvPr id="19" name="Text 17"/>
          <p:cNvSpPr txBox="1"/>
          <p:nvPr/>
        </p:nvSpPr>
        <p:spPr>
          <a:xfrm>
            <a:off x="1117600" y="44450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Can two people book the same bay?</a:t>
            </a:r>
            <a:endParaRPr lang="en-US" sz="1600" dirty="0"/>
          </a:p>
        </p:txBody>
      </p:sp>
      <p:sp>
        <p:nvSpPr>
          <p:cNvPr id="20" name="Text 18"/>
          <p:cNvSpPr txBox="1"/>
          <p:nvPr/>
        </p:nvSpPr>
        <p:spPr>
          <a:xfrm>
            <a:off x="1117600" y="47371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No. The server checks inside a locked step, and the database has a rule that refuses overlaps.</a:t>
            </a:r>
            <a:endParaRPr lang="en-US" sz="1300" dirty="0"/>
          </a:p>
        </p:txBody>
      </p:sp>
      <p:sp>
        <p:nvSpPr>
          <p:cNvPr id="21" name="Shape 19"/>
          <p:cNvSpPr/>
          <p:nvPr/>
        </p:nvSpPr>
        <p:spPr>
          <a:xfrm>
            <a:off x="762000" y="5372100"/>
            <a:ext cx="5111750" cy="0"/>
          </a:xfrm>
          <a:prstGeom prst="line">
            <a:avLst/>
          </a:prstGeom>
          <a:noFill/>
          <a:ln w="12700">
            <a:solidFill>
              <a:srgbClr val="C9C9C4"/>
            </a:solidFill>
            <a:prstDash val="solid"/>
          </a:ln>
        </p:spPr>
      </p:sp>
      <p:sp>
        <p:nvSpPr>
          <p:cNvPr id="22" name="Text 20"/>
          <p:cNvSpPr txBox="1"/>
          <p:nvPr/>
        </p:nvSpPr>
        <p:spPr>
          <a:xfrm>
            <a:off x="762000" y="55118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Q4</a:t>
            </a:r>
            <a:endParaRPr lang="en-US" sz="1000" dirty="0"/>
          </a:p>
        </p:txBody>
      </p:sp>
      <p:sp>
        <p:nvSpPr>
          <p:cNvPr id="23" name="Text 21"/>
          <p:cNvSpPr txBox="1"/>
          <p:nvPr/>
        </p:nvSpPr>
        <p:spPr>
          <a:xfrm>
            <a:off x="1117600" y="54737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What about privacy?</a:t>
            </a:r>
            <a:endParaRPr lang="en-US" sz="1600" dirty="0"/>
          </a:p>
        </p:txBody>
      </p:sp>
      <p:sp>
        <p:nvSpPr>
          <p:cNvPr id="24" name="Text 22"/>
          <p:cNvSpPr txBox="1"/>
          <p:nvPr/>
        </p:nvSpPr>
        <p:spPr>
          <a:xfrm>
            <a:off x="1117600" y="57658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No sign-up. A random device ID, stored only as a hash, and other people's plates are masked.</a:t>
            </a:r>
            <a:endParaRPr lang="en-US" sz="1300" dirty="0"/>
          </a:p>
        </p:txBody>
      </p:sp>
      <p:sp>
        <p:nvSpPr>
          <p:cNvPr id="25" name="Shape 23"/>
          <p:cNvSpPr/>
          <p:nvPr/>
        </p:nvSpPr>
        <p:spPr>
          <a:xfrm>
            <a:off x="6318250" y="2286000"/>
            <a:ext cx="5111750" cy="0"/>
          </a:xfrm>
          <a:prstGeom prst="line">
            <a:avLst/>
          </a:prstGeom>
          <a:noFill/>
          <a:ln w="12700">
            <a:solidFill>
              <a:srgbClr val="C9C9C4"/>
            </a:solidFill>
            <a:prstDash val="solid"/>
          </a:ln>
        </p:spPr>
      </p:sp>
      <p:sp>
        <p:nvSpPr>
          <p:cNvPr id="26" name="Text 24"/>
          <p:cNvSpPr txBox="1"/>
          <p:nvPr/>
        </p:nvSpPr>
        <p:spPr>
          <a:xfrm>
            <a:off x="6318250" y="24257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Q5</a:t>
            </a:r>
            <a:endParaRPr lang="en-US" sz="1000" dirty="0"/>
          </a:p>
        </p:txBody>
      </p:sp>
      <p:sp>
        <p:nvSpPr>
          <p:cNvPr id="27" name="Text 25"/>
          <p:cNvSpPr txBox="1"/>
          <p:nvPr/>
        </p:nvSpPr>
        <p:spPr>
          <a:xfrm>
            <a:off x="6673850" y="23876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Why not just use Google Maps?</a:t>
            </a:r>
            <a:endParaRPr lang="en-US" sz="1600" dirty="0"/>
          </a:p>
        </p:txBody>
      </p:sp>
      <p:sp>
        <p:nvSpPr>
          <p:cNvPr id="28" name="Text 26"/>
          <p:cNvSpPr txBox="1"/>
          <p:nvPr/>
        </p:nvSpPr>
        <p:spPr>
          <a:xfrm>
            <a:off x="6673850" y="26797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Maps tells you a lot exists. Arrivo tells you which bay is free, and holds it for you.</a:t>
            </a:r>
            <a:endParaRPr lang="en-US" sz="1300" dirty="0"/>
          </a:p>
        </p:txBody>
      </p:sp>
      <p:sp>
        <p:nvSpPr>
          <p:cNvPr id="29" name="Shape 27"/>
          <p:cNvSpPr/>
          <p:nvPr/>
        </p:nvSpPr>
        <p:spPr>
          <a:xfrm>
            <a:off x="6318250" y="3314700"/>
            <a:ext cx="5111750" cy="0"/>
          </a:xfrm>
          <a:prstGeom prst="line">
            <a:avLst/>
          </a:prstGeom>
          <a:noFill/>
          <a:ln w="12700">
            <a:solidFill>
              <a:srgbClr val="C9C9C4"/>
            </a:solidFill>
            <a:prstDash val="solid"/>
          </a:ln>
        </p:spPr>
      </p:sp>
      <p:sp>
        <p:nvSpPr>
          <p:cNvPr id="30" name="Text 28"/>
          <p:cNvSpPr txBox="1"/>
          <p:nvPr/>
        </p:nvSpPr>
        <p:spPr>
          <a:xfrm>
            <a:off x="6318250" y="34544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Q6</a:t>
            </a:r>
            <a:endParaRPr lang="en-US" sz="1000" dirty="0"/>
          </a:p>
        </p:txBody>
      </p:sp>
      <p:sp>
        <p:nvSpPr>
          <p:cNvPr id="31" name="Text 29"/>
          <p:cNvSpPr txBox="1"/>
          <p:nvPr/>
        </p:nvSpPr>
        <p:spPr>
          <a:xfrm>
            <a:off x="6673850" y="34163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How does it make money?</a:t>
            </a:r>
            <a:endParaRPr lang="en-US" sz="1600" dirty="0"/>
          </a:p>
        </p:txBody>
      </p:sp>
      <p:sp>
        <p:nvSpPr>
          <p:cNvPr id="32" name="Text 30"/>
          <p:cNvSpPr txBox="1"/>
          <p:nvPr/>
        </p:nvSpPr>
        <p:spPr>
          <a:xfrm>
            <a:off x="6673850" y="37084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A small commission per booking, plus subscription plans for lot operators.</a:t>
            </a:r>
            <a:endParaRPr lang="en-US" sz="1300" dirty="0"/>
          </a:p>
        </p:txBody>
      </p:sp>
      <p:sp>
        <p:nvSpPr>
          <p:cNvPr id="33" name="Shape 31"/>
          <p:cNvSpPr/>
          <p:nvPr/>
        </p:nvSpPr>
        <p:spPr>
          <a:xfrm>
            <a:off x="6318250" y="4343400"/>
            <a:ext cx="5111750" cy="0"/>
          </a:xfrm>
          <a:prstGeom prst="line">
            <a:avLst/>
          </a:prstGeom>
          <a:noFill/>
          <a:ln w="12700">
            <a:solidFill>
              <a:srgbClr val="C9C9C4"/>
            </a:solidFill>
            <a:prstDash val="solid"/>
          </a:ln>
        </p:spPr>
      </p:sp>
      <p:sp>
        <p:nvSpPr>
          <p:cNvPr id="34" name="Text 32"/>
          <p:cNvSpPr txBox="1"/>
          <p:nvPr/>
        </p:nvSpPr>
        <p:spPr>
          <a:xfrm>
            <a:off x="6318250" y="44831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Q7</a:t>
            </a:r>
            <a:endParaRPr lang="en-US" sz="1000" dirty="0"/>
          </a:p>
        </p:txBody>
      </p:sp>
      <p:sp>
        <p:nvSpPr>
          <p:cNvPr id="35" name="Text 33"/>
          <p:cNvSpPr txBox="1"/>
          <p:nvPr/>
        </p:nvSpPr>
        <p:spPr>
          <a:xfrm>
            <a:off x="6673850" y="44450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Do I need to install an app?</a:t>
            </a:r>
            <a:endParaRPr lang="en-US" sz="1600" dirty="0"/>
          </a:p>
        </p:txBody>
      </p:sp>
      <p:sp>
        <p:nvSpPr>
          <p:cNvPr id="36" name="Text 34"/>
          <p:cNvSpPr txBox="1"/>
          <p:nvPr/>
        </p:nvSpPr>
        <p:spPr>
          <a:xfrm>
            <a:off x="6673850" y="47371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No. It's a website that works in any phone browser. The server is one Python file.</a:t>
            </a:r>
            <a:endParaRPr lang="en-US" sz="1300" dirty="0"/>
          </a:p>
        </p:txBody>
      </p:sp>
      <p:sp>
        <p:nvSpPr>
          <p:cNvPr id="37" name="Shape 35"/>
          <p:cNvSpPr/>
          <p:nvPr/>
        </p:nvSpPr>
        <p:spPr>
          <a:xfrm>
            <a:off x="6318250" y="5372100"/>
            <a:ext cx="5111750" cy="0"/>
          </a:xfrm>
          <a:prstGeom prst="line">
            <a:avLst/>
          </a:prstGeom>
          <a:noFill/>
          <a:ln w="12700">
            <a:solidFill>
              <a:srgbClr val="C9C9C4"/>
            </a:solidFill>
            <a:prstDash val="solid"/>
          </a:ln>
        </p:spPr>
      </p:sp>
      <p:sp>
        <p:nvSpPr>
          <p:cNvPr id="38" name="Text 36"/>
          <p:cNvSpPr txBox="1"/>
          <p:nvPr/>
        </p:nvSpPr>
        <p:spPr>
          <a:xfrm>
            <a:off x="6318250" y="5511800"/>
            <a:ext cx="317500" cy="190500"/>
          </a:xfrm>
          <a:prstGeom prst="rect">
            <a:avLst/>
          </a:prstGeom>
          <a:noFill/>
          <a:ln/>
        </p:spPr>
        <p:txBody>
          <a:bodyPr wrap="square" lIns="0" tIns="0" rIns="0" bIns="0" rtlCol="0" anchor="t"/>
          <a:lstStyle/>
          <a:p>
            <a:pPr algn="l" indent="0" marL="0">
              <a:lnSpc>
                <a:spcPct val="112000"/>
              </a:lnSpc>
              <a:buNone/>
            </a:pPr>
            <a:r>
              <a:rPr lang="en-US" sz="1000" dirty="0">
                <a:solidFill>
                  <a:srgbClr val="8A6400"/>
                </a:solidFill>
                <a:latin typeface="Consolas" pitchFamily="34" charset="0"/>
                <a:ea typeface="Consolas" pitchFamily="34" charset="-122"/>
                <a:cs typeface="Consolas" pitchFamily="34" charset="-120"/>
              </a:rPr>
              <a:t>Q8</a:t>
            </a:r>
            <a:endParaRPr lang="en-US" sz="1000" dirty="0"/>
          </a:p>
        </p:txBody>
      </p:sp>
      <p:sp>
        <p:nvSpPr>
          <p:cNvPr id="39" name="Text 37"/>
          <p:cNvSpPr txBox="1"/>
          <p:nvPr/>
        </p:nvSpPr>
        <p:spPr>
          <a:xfrm>
            <a:off x="6673850" y="5473700"/>
            <a:ext cx="4762500" cy="279400"/>
          </a:xfrm>
          <a:prstGeom prst="rect">
            <a:avLst/>
          </a:prstGeom>
          <a:noFill/>
          <a:ln/>
        </p:spPr>
        <p:txBody>
          <a:bodyPr wrap="square" lIns="0" tIns="0" rIns="0" bIns="0" rtlCol="0" anchor="t"/>
          <a:lstStyle/>
          <a:p>
            <a:pPr algn="l" indent="0" marL="0">
              <a:lnSpc>
                <a:spcPct val="112000"/>
              </a:lnSpc>
              <a:buNone/>
            </a:pPr>
            <a:r>
              <a:rPr lang="en-US" sz="1600" dirty="0">
                <a:solidFill>
                  <a:srgbClr val="121214"/>
                </a:solidFill>
                <a:latin typeface="Segoe UI Semibold" pitchFamily="34" charset="0"/>
                <a:ea typeface="Segoe UI Semibold" pitchFamily="34" charset="-122"/>
                <a:cs typeface="Segoe UI Semibold" pitchFamily="34" charset="-120"/>
              </a:rPr>
              <a:t>What did you find hardest?</a:t>
            </a:r>
            <a:endParaRPr lang="en-US" sz="1600" dirty="0"/>
          </a:p>
        </p:txBody>
      </p:sp>
      <p:sp>
        <p:nvSpPr>
          <p:cNvPr id="40" name="Text 38"/>
          <p:cNvSpPr txBox="1"/>
          <p:nvPr/>
        </p:nvSpPr>
        <p:spPr>
          <a:xfrm>
            <a:off x="6673850" y="5765800"/>
            <a:ext cx="4762500" cy="5080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Making the plan match the real lot, and keeping every screen in sync without refreshing.</a:t>
            </a:r>
            <a:endParaRPr lang="en-US" sz="1300" dirty="0"/>
          </a:p>
        </p:txBody>
      </p:sp>
    </p:spTree>
  </p:cSld>
  <p:clrMapOvr>
    <a:masterClrMapping/>
  </p:clrMapOvr>
  <p:transition xmlns:p14="http://schemas.microsoft.com/office/powerpoint/2010/main" spd="slow" p14:dur="800">
    <p:fade/>
  </p:transition>
</p:sld>
</file>

<file path=ppt/theme/theme1.xml><?xml version="1.0" encoding="utf-8"?>
<a:theme xmlns:a="http://schemas.openxmlformats.org/drawingml/2006/main" name="Arrivo">
  <a:themeElements>
    <a:clrScheme name="Arrivo">
      <a:dk1>
        <a:srgbClr val="121214"/>
      </a:dk1>
      <a:lt1>
        <a:srgbClr val="F4F4F1"/>
      </a:lt1>
      <a:dk2>
        <a:srgbClr val="3C3C42"/>
      </a:dk2>
      <a:lt2>
        <a:srgbClr val="EBEAE5"/>
      </a:lt2>
      <a:accent1>
        <a:srgbClr val="FFD75A"/>
      </a:accent1>
      <a:accent2>
        <a:srgbClr val="8A6400"/>
      </a:accent2>
      <a:accent3>
        <a:srgbClr val="62626A"/>
      </a:accent3>
      <a:accent4>
        <a:srgbClr val="9A9AA1"/>
      </a:accent4>
      <a:accent5>
        <a:srgbClr val="060608"/>
      </a:accent5>
      <a:accent6>
        <a:srgbClr val="D9A91A"/>
      </a:accent6>
      <a:hlink>
        <a:srgbClr val="8A6400"/>
      </a:hlink>
      <a:folHlink>
        <a:srgbClr val="62626A"/>
      </a:folHlink>
    </a:clrScheme>
    <a:fontScheme name="Arrivo">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Arrivo · INNOTECH26 pitch</dc:title>
  <dc:subject>Arrivo: book a parking bay like a seat</dc:subject>
  <dc:creator>Team Arrivo</dc:creator>
  <cp:lastModifiedBy>Team Arrivo</cp:lastModifiedBy>
  <cp:revision>1</cp:revision>
  <dcterms:created xsi:type="dcterms:W3CDTF">2026-10-21T17:06:14Z</dcterms:created>
  <dcterms:modified xsi:type="dcterms:W3CDTF">2026-10-21T17:06:14Z</dcterms:modified>
</cp:coreProperties>
</file>